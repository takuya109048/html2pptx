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デッキは、長文を書くうえで重要な構成、密度、読み手配慮を整理するものである。文章は情報を並べるだけの容器ではなく、読み手の理解の順序や負担を左右する設計物である。したがって、良い長文を作るには、何を書くかだけでなく、どの順番で伝え、どこを区切り、何を省くかを意識する必要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目次は、長文を単なる長い文章ではなく、理解を導く設計物として捉える流れで構成している。左カラムでは、文章構成が読後感を変えること、長文で中心を見失いやすいこと、自然な説明順序が理解負荷を下げることを扱う。右カラムでは、説明の厚み、密度、読者状況、書くことによる思考整理、最終的な読者配慮へ進む。したがって聴衆は、長文を書く技術を構成と運用の両面から理解でき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文章は内容そのものだけでなく、構成や語り口によって理解のされ方が変わるという点である。最初に結論を置けば、忙しい場面で要点を素早く把握しやすい。一方、背景から順に説明すれば、理由や経緯を丁寧に追いやすい。つまり文章は、情報を入れる容器ではなく、読み手の理解の経路を設計する道具であ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長文では何を伝えるかだけでなく、何をどの順番で配置し、何を省くかが重要になるという点である。短文なら一つの主張だけで成立しやすいが、長文では補足や関連情報が増えるため、本筋がぼやけやすい。中心、順序、省略という3つの観点を持つことで、書き手は読み手を迷わせずに情報を届けられる。 --- [nanobanana2 icon prompt] 3つのフラットアイコンを横一列に並べた1枚の画像を生成する。左から順に: アイコン1: 中心線を持つ文章マップ, アイコン2: 順番に並ぶ段落カード, アイコン3: 不要情報を削る編集ペン。各アイコンは正方形の枠内に収まるシンプルなフラットデザイン。白背景、色統一、ミニマルスタイル、文字なし。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説明文における自然な順序を4段階で示している。最初に全体像を提示すると、読み手はこれから何を読むのかを把握できる。次に背景や前提を置くことで、話題の必要性が分かる。その後に具体例を示せば、抽象的な説明が実感を伴う。最後に注意点をまとめることで、誤解や過剰な一般化を防げる。 --- [nanobanana2 icon prompt] 4つのフラットアイコンを横一列に並べた1枚の画像を生成する。左から順に: アイコン1: 全体地図, アイコン2: 背景を示す土台, アイコン3: 具体例カード, アイコン4: 注意点のチェックマーク。各アイコンは正方形の枠内に収まるシンプルなフラットデザイン。白背景、色統一、ミニマルスタイル、文字なし。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長文には短文では省略されやすい説明の厚みを持たせられるという点である。理由を書くことで主張の根拠が見える。条件や例外を書くことで、説明が過度に単純化されることを防げる。比較を書くことで、読み手は他の考え方との違いを理解できる。したがって長文の価値は、単なる情報量ではなく、多面的に考える材料を渡せる点にある。 --- [nanobanana2 icon prompt] 3つのフラットアイコンを横一列に並べた1枚の画像を生成する。左から順に: アイコン1: 根拠を支える柱, アイコン2: 条件分岐の標識, アイコン3: 比較する2枚のカード。各アイコンは正方形の枠内に収まるシンプルなフラットデザイン。白背景、色統一、ミニマルスタイル、文字なし。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長文に必要なのは量ではなく密度であることを説明している。長く書けば伝わるわけではなく、似た内容の繰り返しや不要な修飾語は読み手の意欲を削ぐ。重要なのは、一文ごとに役割があり、段落ごとに意味の違いがあり、全体が一つの目的へ進んでいることである。つまり、読み手は情報の海ではなく、道筋のある文章を求めている。 --- [nanobanana2 icon prompt] 3つのフラットアイコンを横一列に並べた1枚の画像を生成する。左から順に: アイコン1: 役割付きの文カード, アイコン2: 重複を消す消しゴム, アイコン3: 目的地へ続く文章の道。各アイコンは正方形の枠内に収まるシンプルなフラットデザイン。白背景、色統一、ミニマルスタイル、文字なし。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長文の受け取られ方は読者の状況によって変わることを示している。急いでいる読者は、結論や要点を素早く知りたい。一方で、じっくり学びたい読者は、背景や条件まで追いたい。書き手はどちらの読者にも配慮し、見出し、段落、要約しやすい構成を用意する必要がある。長文の目的は長さではなく、長くても理解しやすい状態を作ることであ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伝えたいことは、文章を書くことは表現であると同時に、思考を点検する作業でもあるという点である。頭の中では明確に見えていた主張も、実際に言葉へ落とし込むと前提の不足や論理の飛躍が見えることがある。必要な説明、重複している説明、飛躍している箇所を確認しながら書くことで、文章だけでなく考えそのものも整理され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では、良い長文の最終条件を整理している。長文は、短文では届かない深さまで説明できる一方で、読み手を置き去りにすると価値を失う。順序を整え、背景を補い、重要点を見落とさせない工夫を入れることで、長さは負担ではなく理解を深める手段になる。したがって良い長文とは、筋道、厚み、配慮が揃った文章であ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ackground.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457200" y="1243584"/>
            <a:ext cx="5029200" cy="1234440"/>
          </a:xfrm>
          <a:prstGeom prst="rect">
            <a:avLst/>
          </a:prstGeom>
          <a:noFill/>
          <a:effectLst/>
        </p:spPr>
        <p:txBody>
          <a:bodyPr wrap="none" lIns="0" rIns="0" tIns="0" bIns="0" anchor="b">
            <a:noAutofit/>
          </a:bodyPr>
          <a:lstStyle/>
          <a:p>
            <a:pPr>
              <a:lnSpc>
                <a:spcPts val="3919"/>
              </a:lnSpc>
            </a:pPr>
            <a:r>
              <a:rPr lang="ja-JP" sz="2800" b="1" i="0" dirty="0">
                <a:solidFill>
                  <a:srgbClr val="000000"/>
                </a:solidFill>
                <a:ea typeface="Meiryo"/>
              </a:rPr>
              <a:t>良い長文の設計論</a:t>
            </a:r>
          </a:p>
          <a:p>
            <a:pPr>
              <a:lnSpc>
                <a:spcPts val="3919"/>
              </a:lnSpc>
            </a:pPr>
            <a:r>
              <a:rPr lang="ja-JP" sz="2800" b="1" i="0" dirty="0">
                <a:solidFill>
                  <a:srgbClr val="000000"/>
                </a:solidFill>
                <a:ea typeface="Meiryo"/>
              </a:rPr>
              <a:t>情報量ではなく、読み手の理解を設計する</a:t>
            </a:r>
          </a:p>
        </p:txBody>
      </p:sp>
      <p:sp>
        <p:nvSpPr>
          <p:cNvPr id="4" name="Rectangle 3"/>
          <p:cNvSpPr/>
          <p:nvPr/>
        </p:nvSpPr>
        <p:spPr>
          <a:xfrm>
            <a:off x="457200" y="2569464"/>
            <a:ext cx="3657600"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5234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Writing Structure Design</a:t>
            </a:r>
          </a:p>
        </p:txBody>
      </p:sp>
      <p:sp>
        <p:nvSpPr>
          <p:cNvPr id="6" name="TextBox 5"/>
          <p:cNvSpPr txBox="1"/>
          <p:nvPr/>
        </p:nvSpPr>
        <p:spPr>
          <a:xfrm>
            <a:off x="457200" y="3072384"/>
            <a:ext cx="5029200" cy="320040"/>
          </a:xfrm>
          <a:prstGeom prst="rect">
            <a:avLst/>
          </a:prstGeom>
          <a:noFill/>
          <a:effectLst/>
        </p:spPr>
        <p:txBody>
          <a:bodyPr wrap="square" lIns="0" rIns="0" tIns="0" bIns="0" anchor="ctr">
            <a:noAutofit/>
          </a:bodyPr>
          <a:lstStyle/>
          <a:p>
            <a:r>
              <a:rPr lang="ja-JP" sz="1600" b="0" i="0" dirty="0">
                <a:solidFill>
                  <a:srgbClr val="333333"/>
                </a:solidFill>
                <a:ea typeface="Meiryo"/>
              </a:rPr>
              <a:t>山田</a:t>
            </a:r>
            <a:r>
              <a:rPr lang="en-US" sz="1600" b="0" i="0" dirty="0">
                <a:solidFill>
                  <a:srgbClr val="333333"/>
                </a:solidFill>
                <a:latin typeface="Segoe UI"/>
              </a:rPr>
              <a:t> </a:t>
            </a:r>
            <a:r>
              <a:rPr lang="ja-JP" sz="1600" b="0" i="0" dirty="0">
                <a:solidFill>
                  <a:srgbClr val="333333"/>
                </a:solidFill>
                <a:ea typeface="Meiryo"/>
              </a:rPr>
              <a:t>花子</a:t>
            </a:r>
          </a:p>
        </p:txBody>
      </p:sp>
      <p:sp>
        <p:nvSpPr>
          <p:cNvPr id="7" name="TextBox 6"/>
          <p:cNvSpPr txBox="1"/>
          <p:nvPr/>
        </p:nvSpPr>
        <p:spPr>
          <a:xfrm>
            <a:off x="457200" y="3392424"/>
            <a:ext cx="5029200" cy="320040"/>
          </a:xfrm>
          <a:prstGeom prst="rect">
            <a:avLst/>
          </a:prstGeom>
          <a:noFill/>
          <a:effectLst/>
        </p:spPr>
        <p:txBody>
          <a:bodyPr wrap="square" lIns="0" rIns="0" tIns="0" bIns="0" anchor="ctr">
            <a:noAutofit/>
          </a:bodyPr>
          <a:lstStyle/>
          <a:p>
            <a:r>
              <a:rPr lang="en-US" sz="1600" b="0" i="0" dirty="0">
                <a:solidFill>
                  <a:srgbClr val="333333"/>
                </a:solidFill>
                <a:latin typeface="Segoe UI"/>
              </a:rPr>
              <a:t>2026-04-28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目次</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長文の価値を、構成・密度・読者視点から整理する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導入</a:t>
            </a:r>
          </a:p>
          <a:p>
            <a:pPr marL="228600" indent="-228600">
              <a:spcBef>
                <a:spcPts val="0"/>
              </a:spcBef>
              <a:spcAft>
                <a:spcPts val="400"/>
              </a:spcAft>
              <a:buChar char="•"/>
              <a:lnSpc>
                <a:spcPts val="2160"/>
              </a:lnSpc>
            </a:pPr>
            <a:r>
              <a:rPr lang="ja-JP" sz="1200" b="0" i="0" dirty="0">
                <a:solidFill>
                  <a:srgbClr val="333333"/>
                </a:solidFill>
                <a:ea typeface="Meiryo"/>
              </a:rPr>
              <a:t>文章は理解のしかたを左右する設計物である</a:t>
            </a:r>
          </a:p>
          <a:p>
            <a:pPr marL="228600" indent="-228600">
              <a:spcBef>
                <a:spcPts val="0"/>
              </a:spcBef>
              <a:spcAft>
                <a:spcPts val="400"/>
              </a:spcAft>
              <a:buChar char="•"/>
              <a:lnSpc>
                <a:spcPts val="2160"/>
              </a:lnSpc>
            </a:pPr>
            <a:r>
              <a:rPr lang="ja-JP" sz="1200" b="0" i="0" dirty="0">
                <a:solidFill>
                  <a:srgbClr val="333333"/>
                </a:solidFill>
                <a:ea typeface="Meiryo"/>
              </a:rPr>
              <a:t>長文では中心、順序、省略の設計が重要である</a:t>
            </a:r>
          </a:p>
          <a:p>
            <a:pPr>
              <a:spcBef>
                <a:spcPts val="800"/>
              </a:spcBef>
              <a:spcAft>
                <a:spcPts val="300"/>
              </a:spcAft>
              <a:buNone/>
              <a:lnSpc>
                <a:spcPts val="1679"/>
              </a:lnSpc>
            </a:pPr>
            <a:r>
              <a:rPr lang="ja-JP" sz="1200" b="1" i="0" dirty="0">
                <a:solidFill>
                  <a:srgbClr val="333333"/>
                </a:solidFill>
                <a:ea typeface="Meiryo"/>
              </a:rPr>
              <a:t>構成</a:t>
            </a:r>
          </a:p>
          <a:p>
            <a:pPr marL="228600" indent="-228600">
              <a:spcBef>
                <a:spcPts val="0"/>
              </a:spcBef>
              <a:spcAft>
                <a:spcPts val="400"/>
              </a:spcAft>
              <a:buChar char="•"/>
              <a:lnSpc>
                <a:spcPts val="2160"/>
              </a:lnSpc>
            </a:pPr>
            <a:r>
              <a:rPr lang="ja-JP" sz="1200" b="0" i="0" dirty="0">
                <a:solidFill>
                  <a:srgbClr val="333333"/>
                </a:solidFill>
                <a:ea typeface="Meiryo"/>
              </a:rPr>
              <a:t>自然な説明順序が理解負荷を下げる</a:t>
            </a:r>
          </a:p>
          <a:p>
            <a:pPr marL="228600" indent="-228600">
              <a:spcBef>
                <a:spcPts val="0"/>
              </a:spcBef>
              <a:spcAft>
                <a:spcPts val="400"/>
              </a:spcAft>
              <a:buChar char="•"/>
              <a:lnSpc>
                <a:spcPts val="2160"/>
              </a:lnSpc>
            </a:pPr>
            <a:r>
              <a:rPr lang="ja-JP" sz="1200" b="0" i="0" dirty="0">
                <a:solidFill>
                  <a:srgbClr val="333333"/>
                </a:solidFill>
                <a:ea typeface="Meiryo"/>
              </a:rPr>
              <a:t>構成の乱れは同じ内容でも読みにくくする</a:t>
            </a:r>
          </a:p>
        </p:txBody>
      </p:sp>
      <p:sp>
        <p:nvSpPr>
          <p:cNvPr id="6" name="TextBox 5"/>
          <p:cNvSpPr txBox="1"/>
          <p:nvPr/>
        </p:nvSpPr>
        <p:spPr>
          <a:xfrm>
            <a:off x="4837176"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密度</a:t>
            </a:r>
          </a:p>
          <a:p>
            <a:pPr marL="228600" indent="-228600">
              <a:spcBef>
                <a:spcPts val="0"/>
              </a:spcBef>
              <a:spcAft>
                <a:spcPts val="400"/>
              </a:spcAft>
              <a:buChar char="•"/>
              <a:lnSpc>
                <a:spcPts val="2160"/>
              </a:lnSpc>
            </a:pPr>
            <a:r>
              <a:rPr lang="ja-JP" sz="1200" b="0" i="0" dirty="0">
                <a:solidFill>
                  <a:srgbClr val="333333"/>
                </a:solidFill>
                <a:ea typeface="Meiryo"/>
              </a:rPr>
              <a:t>長文の価値は説明の厚みにある</a:t>
            </a:r>
          </a:p>
          <a:p>
            <a:pPr marL="228600" indent="-228600">
              <a:spcBef>
                <a:spcPts val="0"/>
              </a:spcBef>
              <a:spcAft>
                <a:spcPts val="400"/>
              </a:spcAft>
              <a:buChar char="•"/>
              <a:lnSpc>
                <a:spcPts val="2160"/>
              </a:lnSpc>
            </a:pPr>
            <a:r>
              <a:rPr lang="ja-JP" sz="1200" b="0" i="0" dirty="0">
                <a:solidFill>
                  <a:srgbClr val="333333"/>
                </a:solidFill>
                <a:ea typeface="Meiryo"/>
              </a:rPr>
              <a:t>量ではなく役割ある一文が読みやすさを作る</a:t>
            </a:r>
          </a:p>
          <a:p>
            <a:pPr>
              <a:spcBef>
                <a:spcPts val="800"/>
              </a:spcBef>
              <a:spcAft>
                <a:spcPts val="300"/>
              </a:spcAft>
              <a:buNone/>
              <a:lnSpc>
                <a:spcPts val="1679"/>
              </a:lnSpc>
            </a:pPr>
            <a:r>
              <a:rPr lang="ja-JP" sz="1200" b="1" i="0" dirty="0">
                <a:solidFill>
                  <a:srgbClr val="333333"/>
                </a:solidFill>
                <a:ea typeface="Meiryo"/>
              </a:rPr>
              <a:t>読者視点</a:t>
            </a:r>
          </a:p>
          <a:p>
            <a:pPr marL="228600" indent="-228600">
              <a:spcBef>
                <a:spcPts val="0"/>
              </a:spcBef>
              <a:spcAft>
                <a:spcPts val="400"/>
              </a:spcAft>
              <a:buChar char="•"/>
              <a:lnSpc>
                <a:spcPts val="2160"/>
              </a:lnSpc>
            </a:pPr>
            <a:r>
              <a:rPr lang="ja-JP" sz="1200" b="0" i="0" dirty="0">
                <a:solidFill>
                  <a:srgbClr val="333333"/>
                </a:solidFill>
                <a:ea typeface="Meiryo"/>
              </a:rPr>
              <a:t>読者の状況に合わせて要点と背景を調整する</a:t>
            </a:r>
          </a:p>
          <a:p>
            <a:pPr marL="228600" indent="-228600">
              <a:spcBef>
                <a:spcPts val="0"/>
              </a:spcBef>
              <a:spcAft>
                <a:spcPts val="400"/>
              </a:spcAft>
              <a:buChar char="•"/>
              <a:lnSpc>
                <a:spcPts val="2160"/>
              </a:lnSpc>
            </a:pPr>
            <a:r>
              <a:rPr lang="ja-JP" sz="1200" b="0" i="0" dirty="0">
                <a:solidFill>
                  <a:srgbClr val="333333"/>
                </a:solidFill>
                <a:ea typeface="Meiryo"/>
              </a:rPr>
              <a:t>良い長文は読み手を置き去りにしない</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C7C8C711-DF94-460B-947C-47DA420FDE09}" type="slidenum">
              <a:rPr lang="ja-JP" smtClean="0" sz="1000">
                <a:solidFill>
                  <a:srgbClr val="888888"/>
                </a:solidFill>
              </a:rPr>
              <a:t>&lt;#&gt;</a:t>
            </a:fld>
            <a:r>
              <a:rPr lang="ja-JP" smtClean="0" sz="1000">
                <a:solidFill>
                  <a:srgbClr val="888888"/>
                </a:solidFill>
              </a:rPr>
              <a:t>/</a:t>
            </a:r>
            <a:fld id="{242F1EDD-688A-4E67-B37A-2C99201FFA32}" type="slidecount">
              <a:rPr lang="ja-JP" smtClean="0" sz="1000">
                <a:solidFill>
                  <a:srgbClr val="888888"/>
                </a:solidFill>
              </a:rPr>
              <a:t>10</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文章は理解のしかたを左右する設計物である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同じ事実でも、順序と語り口で読後感は変わる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構成が読後感を決める</a:t>
            </a:r>
          </a:p>
          <a:p>
            <a:pPr>
              <a:spcBef>
                <a:spcPts val="0"/>
              </a:spcBef>
              <a:spcAft>
                <a:spcPts val="400"/>
              </a:spcAft>
              <a:buNone/>
              <a:lnSpc>
                <a:spcPts val="2160"/>
              </a:lnSpc>
            </a:pPr>
            <a:r>
              <a:rPr lang="ja-JP" sz="1200" b="0" i="0" dirty="0">
                <a:solidFill>
                  <a:srgbClr val="333333"/>
                </a:solidFill>
                <a:ea typeface="Meiryo"/>
              </a:rPr>
              <a:t>同じ事実でも、提示順序によって読み手の受け取り方は大きく変わる。</a:t>
            </a:r>
          </a:p>
          <a:p>
            <a:pPr marL="228600" indent="-228600">
              <a:spcBef>
                <a:spcPts val="0"/>
              </a:spcBef>
              <a:spcAft>
                <a:spcPts val="400"/>
              </a:spcAft>
              <a:buNone/>
              <a:lnSpc>
                <a:spcPts val="2160"/>
              </a:lnSpc>
            </a:pPr>
            <a:r>
              <a:rPr lang="en-US" sz="1200" b="0" i="0" dirty="0">
                <a:solidFill>
                  <a:srgbClr val="333333"/>
                </a:solidFill>
                <a:latin typeface="Segoe UI"/>
              </a:rPr>
              <a:t>1. </a:t>
            </a:r>
            <a:r>
              <a:rPr lang="ja-JP" sz="1200" b="1" i="0" dirty="0">
                <a:solidFill>
                  <a:srgbClr val="333333"/>
                </a:solidFill>
                <a:ea typeface="Meiryo"/>
              </a:rPr>
              <a:t>結論先行</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忙しい場面で要点を素早く掴める</a:t>
            </a:r>
          </a:p>
          <a:p>
            <a:pPr marL="228600" indent="-228600">
              <a:spcBef>
                <a:spcPts val="0"/>
              </a:spcBef>
              <a:spcAft>
                <a:spcPts val="400"/>
              </a:spcAft>
              <a:buNone/>
              <a:lnSpc>
                <a:spcPts val="2160"/>
              </a:lnSpc>
            </a:pPr>
            <a:r>
              <a:rPr lang="en-US" sz="1200" b="0" i="0" dirty="0">
                <a:solidFill>
                  <a:srgbClr val="333333"/>
                </a:solidFill>
                <a:latin typeface="Segoe UI"/>
              </a:rPr>
              <a:t>2. </a:t>
            </a:r>
            <a:r>
              <a:rPr lang="ja-JP" sz="1200" b="1" i="0" dirty="0">
                <a:solidFill>
                  <a:srgbClr val="333333"/>
                </a:solidFill>
                <a:ea typeface="Meiryo"/>
              </a:rPr>
              <a:t>背景先行</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理由や経緯を納得しながら追える</a:t>
            </a:r>
          </a:p>
          <a:p>
            <a:pPr marL="228600" indent="-228600">
              <a:spcBef>
                <a:spcPts val="0"/>
              </a:spcBef>
              <a:spcAft>
                <a:spcPts val="400"/>
              </a:spcAft>
              <a:buNone/>
              <a:lnSpc>
                <a:spcPts val="2160"/>
              </a:lnSpc>
            </a:pPr>
            <a:r>
              <a:rPr lang="en-US" sz="1200" b="0" i="0" dirty="0">
                <a:solidFill>
                  <a:srgbClr val="333333"/>
                </a:solidFill>
                <a:latin typeface="Segoe UI"/>
              </a:rPr>
              <a:t>3. </a:t>
            </a:r>
            <a:r>
              <a:rPr lang="ja-JP" sz="1200" b="1" i="0" dirty="0">
                <a:solidFill>
                  <a:srgbClr val="333333"/>
                </a:solidFill>
                <a:ea typeface="Meiryo"/>
              </a:rPr>
              <a:t>語り口</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事実だけでなく、温度感や信頼感も伝える</a:t>
            </a:r>
          </a:p>
          <a:p>
            <a:pPr>
              <a:spcBef>
                <a:spcPts val="800"/>
              </a:spcBef>
              <a:spcAft>
                <a:spcPts val="300"/>
              </a:spcAft>
              <a:buNone/>
              <a:lnSpc>
                <a:spcPts val="1679"/>
              </a:lnSpc>
            </a:pPr>
            <a:r>
              <a:rPr lang="ja-JP" sz="1200" b="1" i="0" dirty="0">
                <a:solidFill>
                  <a:srgbClr val="333333"/>
                </a:solidFill>
                <a:ea typeface="Meiryo"/>
              </a:rPr>
              <a:t>設計物としての文章</a:t>
            </a:r>
          </a:p>
          <a:p>
            <a:pPr>
              <a:spcBef>
                <a:spcPts val="0"/>
              </a:spcBef>
              <a:spcAft>
                <a:spcPts val="400"/>
              </a:spcAft>
              <a:buNone/>
              <a:lnSpc>
                <a:spcPts val="2160"/>
              </a:lnSpc>
            </a:pPr>
            <a:r>
              <a:rPr lang="ja-JP" sz="1200" b="0" i="0" dirty="0">
                <a:solidFill>
                  <a:srgbClr val="333333"/>
                </a:solidFill>
                <a:ea typeface="Meiryo"/>
              </a:rPr>
              <a:t>文章は情報の容器ではなく、理解の順路を作る構造である。</a:t>
            </a:r>
          </a:p>
        </p:txBody>
      </p:sp>
      <p:sp>
        <p:nvSpPr>
          <p:cNvPr id="6" name="TextBox 5"/>
          <p:cNvSpPr txBox="1"/>
          <p:nvPr/>
        </p:nvSpPr>
        <p:spPr>
          <a:xfrm>
            <a:off x="4608576" y="941832"/>
            <a:ext cx="4370832" cy="3671315"/>
          </a:xfrm>
          <a:prstGeom prst="rect">
            <a:avLst/>
          </a:prstGeom>
          <a:noFill/>
          <a:effectLst/>
        </p:spPr>
        <p:txBody>
          <a:bodyPr wrap="square" lIns="0" rIns="0" tIns="0" bIns="0" anchor="ctr">
            <a:noAutofit/>
          </a:bodyPr>
          <a:lstStyle/>
          <a:p>
            <a:pPr algn="ctr"/>
            <a:r>
              <a:rPr lang="ja-JP" sz="1200" b="0" i="0" dirty="0">
                <a:solidFill>
                  <a:srgbClr val="888888"/>
                </a:solidFill>
                <a:ea typeface="Meiryo"/>
              </a:rPr>
              <a:t>文章構成が読み手の理解の流れを形作る様子を表すシンプルなイラスト。フラットデザイン、ミニマルアイコン風、ビジネス向け、白背景。</a:t>
            </a:r>
            <a:r>
              <a:rPr lang="en-US" sz="1200" b="0" i="0" dirty="0">
                <a:solidFill>
                  <a:srgbClr val="888888"/>
                </a:solidFill>
                <a:latin typeface="Segoe UI"/>
              </a:rPr>
              <a:t>6:5</a:t>
            </a:r>
            <a:r>
              <a:rPr lang="ja-JP" sz="1200" b="0" i="0" dirty="0">
                <a:solidFill>
                  <a:srgbClr val="888888"/>
                </a:solidFill>
                <a:ea typeface="Meiryo"/>
              </a:rPr>
              <a:t>の比率で、分岐する文章の道筋、読者の視線、結論カード、背景カードを</a:t>
            </a:r>
            <a:r>
              <a:rPr lang="en-US" sz="1200" b="0" i="0" dirty="0">
                <a:solidFill>
                  <a:srgbClr val="888888"/>
                </a:solidFill>
                <a:latin typeface="Segoe UI"/>
              </a:rPr>
              <a:t>1</a:t>
            </a:r>
            <a:r>
              <a:rPr lang="ja-JP" sz="1200" b="0" i="0" dirty="0">
                <a:solidFill>
                  <a:srgbClr val="888888"/>
                </a:solidFill>
                <a:ea typeface="Meiryo"/>
              </a:rPr>
              <a:t>枚のビジュアルで表現する。文字なし。</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ACBCE4AA-DB2C-4CA4-90BF-BC6593716A61}" type="slidenum">
              <a:rPr lang="ja-JP" smtClean="0" sz="1000">
                <a:solidFill>
                  <a:srgbClr val="888888"/>
                </a:solidFill>
              </a:rPr>
              <a:t>&lt;#&gt;</a:t>
            </a:fld>
            <a:r>
              <a:rPr lang="ja-JP" smtClean="0" sz="1000">
                <a:solidFill>
                  <a:srgbClr val="888888"/>
                </a:solidFill>
              </a:rPr>
              <a:t>/</a:t>
            </a:r>
            <a:fld id="{9EB5B739-7A0F-4CB7-AED0-45F43DF43DE5}" type="slidecount">
              <a:rPr lang="ja-JP" smtClean="0" sz="1000">
                <a:solidFill>
                  <a:srgbClr val="888888"/>
                </a:solidFill>
              </a:rPr>
              <a:t>10</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長文では中心、順序、省略の設計が重要である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長くなるほど話題の中心は見失われやすい</a:t>
            </a:r>
          </a:p>
        </p:txBody>
      </p:sp>
      <p:sp>
        <p:nvSpPr>
          <p:cNvPr id="5" name="Rectangle 4"/>
          <p:cNvSpPr/>
          <p:nvPr/>
        </p:nvSpPr>
        <p:spPr>
          <a:xfrm>
            <a:off x="164592" y="941832"/>
            <a:ext cx="8814816" cy="844677"/>
          </a:xfrm>
          <a:prstGeom prst="rect">
            <a:avLst/>
          </a:prstGeom>
          <a:solidFill>
            <a:srgbClr val="E8EDF2"/>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8540496"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333333"/>
                </a:solidFill>
                <a:ea typeface="Meiryo"/>
              </a:rPr>
              <a:t>長文の難しさは、情報を増やすほど本筋が見えにくくなる点にある。</a:t>
            </a:r>
          </a:p>
        </p:txBody>
      </p:sp>
      <p:sp>
        <p:nvSpPr>
          <p:cNvPr id="7" name="Rectangle 6"/>
          <p:cNvSpPr/>
          <p:nvPr/>
        </p:nvSpPr>
        <p:spPr>
          <a:xfrm>
            <a:off x="164592"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中心</a:t>
            </a:r>
          </a:p>
        </p:txBody>
      </p:sp>
      <p:sp>
        <p:nvSpPr>
          <p:cNvPr id="9" name="Rectangle 8"/>
          <p:cNvSpPr/>
          <p:nvPr/>
        </p:nvSpPr>
        <p:spPr>
          <a:xfrm>
            <a:off x="301751"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1"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主張の軸を最後まで保つ。</a:t>
            </a:r>
          </a:p>
          <a:p>
            <a:pPr marL="228600" indent="-228600">
              <a:spcBef>
                <a:spcPts val="0"/>
              </a:spcBef>
              <a:spcAft>
                <a:spcPts val="400"/>
              </a:spcAft>
              <a:buChar char="•"/>
              <a:lnSpc>
                <a:spcPts val="1980"/>
              </a:lnSpc>
            </a:pPr>
            <a:r>
              <a:rPr lang="ja-JP" sz="1100" b="0" i="0" dirty="0">
                <a:solidFill>
                  <a:srgbClr val="333333"/>
                </a:solidFill>
                <a:ea typeface="Meiryo"/>
              </a:rPr>
              <a:t>何を伝えたい文章かを</a:t>
            </a:r>
            <a:r>
              <a:rPr lang="en-US" sz="1100" b="0" i="0" dirty="0">
                <a:solidFill>
                  <a:srgbClr val="333333"/>
                </a:solidFill>
                <a:latin typeface="Segoe UI"/>
              </a:rPr>
              <a:t>1</a:t>
            </a:r>
            <a:r>
              <a:rPr lang="ja-JP" sz="1100" b="0" i="0" dirty="0">
                <a:solidFill>
                  <a:srgbClr val="333333"/>
                </a:solidFill>
                <a:ea typeface="Meiryo"/>
              </a:rPr>
              <a:t>文で言える状態にする</a:t>
            </a:r>
          </a:p>
          <a:p>
            <a:pPr marL="228600" indent="-228600">
              <a:spcBef>
                <a:spcPts val="0"/>
              </a:spcBef>
              <a:spcAft>
                <a:spcPts val="400"/>
              </a:spcAft>
              <a:buChar char="•"/>
              <a:lnSpc>
                <a:spcPts val="1980"/>
              </a:lnSpc>
            </a:pPr>
            <a:r>
              <a:rPr lang="ja-JP" sz="1100" b="0" i="0" dirty="0">
                <a:solidFill>
                  <a:srgbClr val="333333"/>
                </a:solidFill>
                <a:ea typeface="Meiryo"/>
              </a:rPr>
              <a:t>補足が主題を上書きしないようにする</a:t>
            </a:r>
          </a:p>
          <a:p>
            <a:pPr marL="228600" indent="-228600">
              <a:spcBef>
                <a:spcPts val="0"/>
              </a:spcBef>
              <a:spcAft>
                <a:spcPts val="400"/>
              </a:spcAft>
              <a:buChar char="•"/>
              <a:lnSpc>
                <a:spcPts val="1980"/>
              </a:lnSpc>
            </a:pPr>
            <a:r>
              <a:rPr lang="ja-JP" sz="1100" b="0" i="0" dirty="0">
                <a:solidFill>
                  <a:srgbClr val="333333"/>
                </a:solidFill>
                <a:ea typeface="Meiryo"/>
              </a:rPr>
              <a:t>段落ごとの役割を中心軸へ戻す</a:t>
            </a:r>
          </a:p>
        </p:txBody>
      </p:sp>
      <p:sp>
        <p:nvSpPr>
          <p:cNvPr id="11" name="Rectangle 10"/>
          <p:cNvSpPr/>
          <p:nvPr/>
        </p:nvSpPr>
        <p:spPr>
          <a:xfrm>
            <a:off x="3127248"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順序</a:t>
            </a:r>
          </a:p>
        </p:txBody>
      </p:sp>
      <p:sp>
        <p:nvSpPr>
          <p:cNvPr id="13" name="Rectangle 12"/>
          <p:cNvSpPr/>
          <p:nvPr/>
        </p:nvSpPr>
        <p:spPr>
          <a:xfrm>
            <a:off x="3264408"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4408"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読み手が追える流れを作る。</a:t>
            </a:r>
          </a:p>
          <a:p>
            <a:pPr marL="228600" indent="-228600">
              <a:spcBef>
                <a:spcPts val="0"/>
              </a:spcBef>
              <a:spcAft>
                <a:spcPts val="400"/>
              </a:spcAft>
              <a:buChar char="•"/>
              <a:lnSpc>
                <a:spcPts val="1980"/>
              </a:lnSpc>
            </a:pPr>
            <a:r>
              <a:rPr lang="ja-JP" sz="1100" b="0" i="0" dirty="0">
                <a:solidFill>
                  <a:srgbClr val="333333"/>
                </a:solidFill>
                <a:ea typeface="Meiryo"/>
              </a:rPr>
              <a:t>全体像、背景、具体例、注意点の順に置く</a:t>
            </a:r>
          </a:p>
          <a:p>
            <a:pPr marL="228600" indent="-228600">
              <a:spcBef>
                <a:spcPts val="0"/>
              </a:spcBef>
              <a:spcAft>
                <a:spcPts val="400"/>
              </a:spcAft>
              <a:buChar char="•"/>
              <a:lnSpc>
                <a:spcPts val="1980"/>
              </a:lnSpc>
            </a:pPr>
            <a:r>
              <a:rPr lang="ja-JP" sz="1100" b="0" i="0" dirty="0">
                <a:solidFill>
                  <a:srgbClr val="333333"/>
                </a:solidFill>
                <a:ea typeface="Meiryo"/>
              </a:rPr>
              <a:t>結論と例を混ぜすぎない</a:t>
            </a:r>
          </a:p>
          <a:p>
            <a:pPr marL="228600" indent="-228600">
              <a:spcBef>
                <a:spcPts val="0"/>
              </a:spcBef>
              <a:spcAft>
                <a:spcPts val="400"/>
              </a:spcAft>
              <a:buChar char="•"/>
              <a:lnSpc>
                <a:spcPts val="1980"/>
              </a:lnSpc>
            </a:pPr>
            <a:r>
              <a:rPr lang="ja-JP" sz="1100" b="0" i="0" dirty="0">
                <a:solidFill>
                  <a:srgbClr val="333333"/>
                </a:solidFill>
                <a:ea typeface="Meiryo"/>
              </a:rPr>
              <a:t>前段落が次段落の準備になるよう配置する</a:t>
            </a:r>
          </a:p>
        </p:txBody>
      </p:sp>
      <p:sp>
        <p:nvSpPr>
          <p:cNvPr id="15" name="Rectangle 14"/>
          <p:cNvSpPr/>
          <p:nvPr/>
        </p:nvSpPr>
        <p:spPr>
          <a:xfrm>
            <a:off x="6089904" y="1859661"/>
            <a:ext cx="2889504" cy="2753486"/>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969389"/>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省略</a:t>
            </a:r>
          </a:p>
        </p:txBody>
      </p:sp>
      <p:sp>
        <p:nvSpPr>
          <p:cNvPr id="17" name="Rectangle 16"/>
          <p:cNvSpPr/>
          <p:nvPr/>
        </p:nvSpPr>
        <p:spPr>
          <a:xfrm>
            <a:off x="6227064" y="2225421"/>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27064" y="2298573"/>
            <a:ext cx="2615184" cy="2204847"/>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書ける情報をすべて入れない。</a:t>
            </a:r>
          </a:p>
          <a:p>
            <a:pPr marL="228600" indent="-228600">
              <a:spcBef>
                <a:spcPts val="0"/>
              </a:spcBef>
              <a:spcAft>
                <a:spcPts val="400"/>
              </a:spcAft>
              <a:buChar char="•"/>
              <a:lnSpc>
                <a:spcPts val="1980"/>
              </a:lnSpc>
            </a:pPr>
            <a:r>
              <a:rPr lang="ja-JP" sz="1100" b="0" i="0" dirty="0">
                <a:solidFill>
                  <a:srgbClr val="333333"/>
                </a:solidFill>
                <a:ea typeface="Meiryo"/>
              </a:rPr>
              <a:t>関連していても目的に弱い情報は削る</a:t>
            </a:r>
          </a:p>
          <a:p>
            <a:pPr marL="228600" indent="-228600">
              <a:spcBef>
                <a:spcPts val="0"/>
              </a:spcBef>
              <a:spcAft>
                <a:spcPts val="400"/>
              </a:spcAft>
              <a:buChar char="•"/>
              <a:lnSpc>
                <a:spcPts val="1980"/>
              </a:lnSpc>
            </a:pPr>
            <a:r>
              <a:rPr lang="ja-JP" sz="1100" b="0" i="0" dirty="0">
                <a:solidFill>
                  <a:srgbClr val="333333"/>
                </a:solidFill>
                <a:ea typeface="Meiryo"/>
              </a:rPr>
              <a:t>重複した言い換えを減らす</a:t>
            </a:r>
          </a:p>
          <a:p>
            <a:pPr marL="228600" indent="-228600">
              <a:spcBef>
                <a:spcPts val="0"/>
              </a:spcBef>
              <a:spcAft>
                <a:spcPts val="400"/>
              </a:spcAft>
              <a:buChar char="•"/>
              <a:lnSpc>
                <a:spcPts val="1980"/>
              </a:lnSpc>
            </a:pPr>
            <a:r>
              <a:rPr lang="ja-JP" sz="1100" b="0" i="0" dirty="0">
                <a:solidFill>
                  <a:srgbClr val="333333"/>
                </a:solidFill>
                <a:ea typeface="Meiryo"/>
              </a:rPr>
              <a:t>読み手が注目すべき点を絞る</a:t>
            </a:r>
          </a:p>
        </p:txBody>
      </p:sp>
      <p:sp>
        <p:nvSpPr>
          <p:cNvPr id="19" name="Rectangle 1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823459"/>
            <a:ext cx="1828800" cy="274320"/>
          </a:xfrm>
          <a:prstGeom prst="rect">
            <a:avLst/>
          </a:prstGeom>
          <a:noFill/>
        </p:spPr>
        <p:txBody>
          <a:bodyPr wrap="none" anchor="ctr" lIns="0" rIns="0" tIns="0" bIns="0">
            <a:spAutoFit/>
          </a:bodyPr>
          <a:lstStyle/>
          <a:p>
            <a:fld id="{8BD249B1-8C22-4B5E-95D4-964C3EB768AE}" type="slidenum">
              <a:rPr lang="ja-JP" smtClean="0" sz="1000">
                <a:solidFill>
                  <a:srgbClr val="888888"/>
                </a:solidFill>
              </a:rPr>
              <a:t>&lt;#&gt;</a:t>
            </a:fld>
            <a:r>
              <a:rPr lang="ja-JP" smtClean="0" sz="1000">
                <a:solidFill>
                  <a:srgbClr val="888888"/>
                </a:solidFill>
              </a:rPr>
              <a:t>/</a:t>
            </a:r>
            <a:fld id="{1FA05FBE-89C1-462A-833B-0F5F63ECD8B8}" type="slidecount">
              <a:rPr lang="ja-JP" smtClean="0" sz="1000">
                <a:solidFill>
                  <a:srgbClr val="888888"/>
                </a:solidFill>
              </a:rPr>
              <a:t>10</a:t>
            </a:fld>
          </a:p>
        </p:txBody>
      </p:sp>
      <p:pic>
        <p:nvPicPr>
          <p:cNvPr id="21" name="Picture 2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自然な説明順序が理解負荷を下げる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全体像、背景、具体例、注意点の流れを作る</a:t>
            </a:r>
          </a:p>
        </p:txBody>
      </p:sp>
      <p:sp>
        <p:nvSpPr>
          <p:cNvPr id="5" name="Step5"/>
          <p:cNvSpPr/>
          <p:nvPr/>
        </p:nvSpPr>
        <p:spPr>
          <a:xfrm>
            <a:off x="164592" y="941832"/>
            <a:ext cx="2148840"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6" name="TextBox 5"/>
          <p:cNvSpPr txBox="1"/>
          <p:nvPr/>
        </p:nvSpPr>
        <p:spPr>
          <a:xfrm>
            <a:off x="301751" y="941832"/>
            <a:ext cx="1826514" cy="959205"/>
          </a:xfrm>
          <a:prstGeom prst="rect">
            <a:avLst/>
          </a:prstGeom>
          <a:noFill/>
          <a:effectLst/>
        </p:spPr>
        <p:txBody>
          <a:bodyPr wrap="square" lIns="0" rIns="0" tIns="0" bIns="0" anchor="ctr">
            <a:noAutofit/>
          </a:bodyPr>
          <a:lstStyle/>
          <a:p>
            <a:r>
              <a:rPr lang="en-US" sz="1400" b="1" i="0" dirty="0">
                <a:solidFill>
                  <a:srgbClr val="333333"/>
                </a:solidFill>
                <a:latin typeface="Segoe UI"/>
              </a:rPr>
              <a:t>1. </a:t>
            </a:r>
            <a:r>
              <a:rPr lang="ja-JP" sz="1400" b="1" i="0" dirty="0">
                <a:solidFill>
                  <a:srgbClr val="333333"/>
                </a:solidFill>
                <a:ea typeface="Meiryo"/>
              </a:rPr>
              <a:t>全体像</a:t>
            </a:r>
          </a:p>
        </p:txBody>
      </p:sp>
      <p:sp>
        <p:nvSpPr>
          <p:cNvPr id="7" name="Step7"/>
          <p:cNvSpPr/>
          <p:nvPr/>
        </p:nvSpPr>
        <p:spPr>
          <a:xfrm>
            <a:off x="2386584" y="941832"/>
            <a:ext cx="2148840"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8" name="TextBox 7"/>
          <p:cNvSpPr txBox="1"/>
          <p:nvPr/>
        </p:nvSpPr>
        <p:spPr>
          <a:xfrm>
            <a:off x="2523744" y="941832"/>
            <a:ext cx="1826514" cy="959205"/>
          </a:xfrm>
          <a:prstGeom prst="rect">
            <a:avLst/>
          </a:prstGeom>
          <a:noFill/>
          <a:effectLst/>
        </p:spPr>
        <p:txBody>
          <a:bodyPr wrap="square" lIns="0" rIns="0" tIns="0" bIns="0" anchor="ctr">
            <a:noAutofit/>
          </a:bodyPr>
          <a:lstStyle/>
          <a:p>
            <a:r>
              <a:rPr lang="en-US" sz="1400" b="1" i="0" dirty="0">
                <a:solidFill>
                  <a:srgbClr val="333333"/>
                </a:solidFill>
                <a:latin typeface="Segoe UI"/>
              </a:rPr>
              <a:t>2. </a:t>
            </a:r>
            <a:r>
              <a:rPr lang="ja-JP" sz="1400" b="1" i="0" dirty="0">
                <a:solidFill>
                  <a:srgbClr val="333333"/>
                </a:solidFill>
                <a:ea typeface="Meiryo"/>
              </a:rPr>
              <a:t>背景</a:t>
            </a:r>
          </a:p>
        </p:txBody>
      </p:sp>
      <p:sp>
        <p:nvSpPr>
          <p:cNvPr id="9" name="Step9"/>
          <p:cNvSpPr/>
          <p:nvPr/>
        </p:nvSpPr>
        <p:spPr>
          <a:xfrm>
            <a:off x="4608576" y="941832"/>
            <a:ext cx="2148840"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0" name="TextBox 9"/>
          <p:cNvSpPr txBox="1"/>
          <p:nvPr/>
        </p:nvSpPr>
        <p:spPr>
          <a:xfrm>
            <a:off x="4745736" y="941832"/>
            <a:ext cx="1826514" cy="959205"/>
          </a:xfrm>
          <a:prstGeom prst="rect">
            <a:avLst/>
          </a:prstGeom>
          <a:noFill/>
          <a:effectLst/>
        </p:spPr>
        <p:txBody>
          <a:bodyPr wrap="square" lIns="0" rIns="0" tIns="0" bIns="0" anchor="ctr">
            <a:noAutofit/>
          </a:bodyPr>
          <a:lstStyle/>
          <a:p>
            <a:r>
              <a:rPr lang="en-US" sz="1400" b="1" i="0" dirty="0">
                <a:solidFill>
                  <a:srgbClr val="333333"/>
                </a:solidFill>
                <a:latin typeface="Segoe UI"/>
              </a:rPr>
              <a:t>3. </a:t>
            </a:r>
            <a:r>
              <a:rPr lang="ja-JP" sz="1400" b="1" i="0" dirty="0">
                <a:solidFill>
                  <a:srgbClr val="333333"/>
                </a:solidFill>
                <a:ea typeface="Meiryo"/>
              </a:rPr>
              <a:t>具体例</a:t>
            </a:r>
          </a:p>
        </p:txBody>
      </p:sp>
      <p:sp>
        <p:nvSpPr>
          <p:cNvPr id="11" name="Step11"/>
          <p:cNvSpPr/>
          <p:nvPr/>
        </p:nvSpPr>
        <p:spPr>
          <a:xfrm>
            <a:off x="6830568" y="941832"/>
            <a:ext cx="2148840" cy="959205"/>
          </a:xfrm>
          <a:custGeom>
            <a:avLst/>
            <a:gdLst/>
            <a:ahLst/>
            <a:cxnLst/>
            <a:rect l="0" t="0" r="r" b="b"/>
            <a:pathLst>
              <a:path w="100000" h="100000">
                <a:moveTo>
                  <a:pt x="0" y="0"/>
                </a:moveTo>
                <a:lnTo>
                  <a:pt x="88000" y="0"/>
                </a:lnTo>
                <a:lnTo>
                  <a:pt x="100000" y="50000"/>
                </a:lnTo>
                <a:lnTo>
                  <a:pt x="88000" y="100000"/>
                </a:lnTo>
                <a:lnTo>
                  <a:pt x="0" y="100000"/>
                </a:lnTo>
                <a:close/>
              </a:path>
            </a:pathLst>
          </a:custGeom>
          <a:solidFill>
            <a:srgbClr val="D0D0D0"/>
          </a:solidFill>
          <a:ln w="9525">
            <a:solidFill>
              <a:srgbClr val="CCCCCC"/>
            </a:solidFill>
          </a:ln>
          <a:effectLst/>
        </p:spPr>
        <p:txBody>
          <a:bodyPr/>
          <a:lstStyle/>
          <a:p/>
        </p:txBody>
      </p:sp>
      <p:sp>
        <p:nvSpPr>
          <p:cNvPr id="12" name="TextBox 11"/>
          <p:cNvSpPr txBox="1"/>
          <p:nvPr/>
        </p:nvSpPr>
        <p:spPr>
          <a:xfrm>
            <a:off x="6967728" y="941832"/>
            <a:ext cx="1826514" cy="959205"/>
          </a:xfrm>
          <a:prstGeom prst="rect">
            <a:avLst/>
          </a:prstGeom>
          <a:noFill/>
          <a:effectLst/>
        </p:spPr>
        <p:txBody>
          <a:bodyPr wrap="square" lIns="0" rIns="0" tIns="0" bIns="0" anchor="ctr">
            <a:noAutofit/>
          </a:bodyPr>
          <a:lstStyle/>
          <a:p>
            <a:r>
              <a:rPr lang="en-US" sz="1400" b="1" i="0" dirty="0">
                <a:solidFill>
                  <a:srgbClr val="333333"/>
                </a:solidFill>
                <a:latin typeface="Segoe UI"/>
              </a:rPr>
              <a:t>4. </a:t>
            </a:r>
            <a:r>
              <a:rPr lang="ja-JP" sz="1400" b="1" i="0" dirty="0">
                <a:solidFill>
                  <a:srgbClr val="333333"/>
                </a:solidFill>
                <a:ea typeface="Meiryo"/>
              </a:rPr>
              <a:t>注意点</a:t>
            </a:r>
          </a:p>
        </p:txBody>
      </p:sp>
      <p:sp>
        <p:nvSpPr>
          <p:cNvPr id="13" name="Rectangle 12"/>
          <p:cNvSpPr/>
          <p:nvPr/>
        </p:nvSpPr>
        <p:spPr>
          <a:xfrm>
            <a:off x="164592" y="1974189"/>
            <a:ext cx="2148840"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1751" y="2083917"/>
            <a:ext cx="1874520"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最初に話題の輪郭を示す。</a:t>
            </a:r>
          </a:p>
          <a:p>
            <a:pPr marL="228600" indent="-228600">
              <a:spcBef>
                <a:spcPts val="0"/>
              </a:spcBef>
              <a:spcAft>
                <a:spcPts val="400"/>
              </a:spcAft>
              <a:buChar char="•"/>
              <a:lnSpc>
                <a:spcPts val="1980"/>
              </a:lnSpc>
            </a:pPr>
            <a:r>
              <a:rPr lang="ja-JP" sz="1100" b="0" i="0" dirty="0">
                <a:solidFill>
                  <a:srgbClr val="333333"/>
                </a:solidFill>
                <a:ea typeface="Meiryo"/>
              </a:rPr>
              <a:t>読み手が目的地を把握する</a:t>
            </a:r>
          </a:p>
          <a:p>
            <a:pPr marL="228600" indent="-228600">
              <a:spcBef>
                <a:spcPts val="0"/>
              </a:spcBef>
              <a:spcAft>
                <a:spcPts val="400"/>
              </a:spcAft>
              <a:buChar char="•"/>
              <a:lnSpc>
                <a:spcPts val="1980"/>
              </a:lnSpc>
            </a:pPr>
            <a:r>
              <a:rPr lang="ja-JP" sz="1100" b="0" i="0" dirty="0">
                <a:solidFill>
                  <a:srgbClr val="333333"/>
                </a:solidFill>
                <a:ea typeface="Meiryo"/>
              </a:rPr>
              <a:t>文章全体の期待値を作る</a:t>
            </a:r>
          </a:p>
        </p:txBody>
      </p:sp>
      <p:sp>
        <p:nvSpPr>
          <p:cNvPr id="15" name="Rectangle 14"/>
          <p:cNvSpPr/>
          <p:nvPr/>
        </p:nvSpPr>
        <p:spPr>
          <a:xfrm>
            <a:off x="2386584" y="1974189"/>
            <a:ext cx="2148840"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23744" y="2083917"/>
            <a:ext cx="1874520"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前提や理由を補う。</a:t>
            </a:r>
          </a:p>
          <a:p>
            <a:pPr marL="228600" indent="-228600">
              <a:spcBef>
                <a:spcPts val="0"/>
              </a:spcBef>
              <a:spcAft>
                <a:spcPts val="400"/>
              </a:spcAft>
              <a:buChar char="•"/>
              <a:lnSpc>
                <a:spcPts val="1980"/>
              </a:lnSpc>
            </a:pPr>
            <a:r>
              <a:rPr lang="ja-JP" sz="1100" b="0" i="0" dirty="0">
                <a:solidFill>
                  <a:srgbClr val="333333"/>
                </a:solidFill>
                <a:ea typeface="Meiryo"/>
              </a:rPr>
              <a:t>なぜその話題が必要かを示す</a:t>
            </a:r>
          </a:p>
          <a:p>
            <a:pPr marL="228600" indent="-228600">
              <a:spcBef>
                <a:spcPts val="0"/>
              </a:spcBef>
              <a:spcAft>
                <a:spcPts val="400"/>
              </a:spcAft>
              <a:buChar char="•"/>
              <a:lnSpc>
                <a:spcPts val="1980"/>
              </a:lnSpc>
            </a:pPr>
            <a:r>
              <a:rPr lang="ja-JP" sz="1100" b="0" i="0" dirty="0">
                <a:solidFill>
                  <a:srgbClr val="333333"/>
                </a:solidFill>
                <a:ea typeface="Meiryo"/>
              </a:rPr>
              <a:t>読み手の理解の土台を揃える</a:t>
            </a:r>
          </a:p>
        </p:txBody>
      </p:sp>
      <p:sp>
        <p:nvSpPr>
          <p:cNvPr id="17" name="Rectangle 16"/>
          <p:cNvSpPr/>
          <p:nvPr/>
        </p:nvSpPr>
        <p:spPr>
          <a:xfrm>
            <a:off x="4608576" y="1974189"/>
            <a:ext cx="2148840"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5736" y="2083917"/>
            <a:ext cx="1874520"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抽象論を手触りある説明へ変える。</a:t>
            </a:r>
          </a:p>
          <a:p>
            <a:pPr marL="228600" indent="-228600">
              <a:spcBef>
                <a:spcPts val="0"/>
              </a:spcBef>
              <a:spcAft>
                <a:spcPts val="400"/>
              </a:spcAft>
              <a:buChar char="•"/>
              <a:lnSpc>
                <a:spcPts val="1980"/>
              </a:lnSpc>
            </a:pPr>
            <a:r>
              <a:rPr lang="ja-JP" sz="1100" b="0" i="0" dirty="0">
                <a:solidFill>
                  <a:srgbClr val="333333"/>
                </a:solidFill>
                <a:ea typeface="Meiryo"/>
              </a:rPr>
              <a:t>状況や比較で理解を助ける</a:t>
            </a:r>
          </a:p>
          <a:p>
            <a:pPr marL="228600" indent="-228600">
              <a:spcBef>
                <a:spcPts val="0"/>
              </a:spcBef>
              <a:spcAft>
                <a:spcPts val="400"/>
              </a:spcAft>
              <a:buChar char="•"/>
              <a:lnSpc>
                <a:spcPts val="1980"/>
              </a:lnSpc>
            </a:pPr>
            <a:r>
              <a:rPr lang="ja-JP" sz="1100" b="0" i="0" dirty="0">
                <a:solidFill>
                  <a:srgbClr val="333333"/>
                </a:solidFill>
                <a:ea typeface="Meiryo"/>
              </a:rPr>
              <a:t>主張の説得力を高める</a:t>
            </a:r>
          </a:p>
        </p:txBody>
      </p:sp>
      <p:sp>
        <p:nvSpPr>
          <p:cNvPr id="19" name="Rectangle 18"/>
          <p:cNvSpPr/>
          <p:nvPr/>
        </p:nvSpPr>
        <p:spPr>
          <a:xfrm>
            <a:off x="6830568" y="1974189"/>
            <a:ext cx="2148840" cy="2638958"/>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2083917"/>
            <a:ext cx="1874520" cy="2419502"/>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誤解を防ぐ補助線を置く。</a:t>
            </a:r>
          </a:p>
          <a:p>
            <a:pPr marL="228600" indent="-228600">
              <a:spcBef>
                <a:spcPts val="0"/>
              </a:spcBef>
              <a:spcAft>
                <a:spcPts val="400"/>
              </a:spcAft>
              <a:buChar char="•"/>
              <a:lnSpc>
                <a:spcPts val="1980"/>
              </a:lnSpc>
            </a:pPr>
            <a:r>
              <a:rPr lang="ja-JP" sz="1100" b="0" i="0" dirty="0">
                <a:solidFill>
                  <a:srgbClr val="333333"/>
                </a:solidFill>
                <a:ea typeface="Meiryo"/>
              </a:rPr>
              <a:t>条件や例外を示す</a:t>
            </a:r>
          </a:p>
          <a:p>
            <a:pPr marL="228600" indent="-228600">
              <a:spcBef>
                <a:spcPts val="0"/>
              </a:spcBef>
              <a:spcAft>
                <a:spcPts val="400"/>
              </a:spcAft>
              <a:buChar char="•"/>
              <a:lnSpc>
                <a:spcPts val="1980"/>
              </a:lnSpc>
            </a:pPr>
            <a:r>
              <a:rPr lang="ja-JP" sz="1100" b="0" i="0" dirty="0">
                <a:solidFill>
                  <a:srgbClr val="333333"/>
                </a:solidFill>
                <a:ea typeface="Meiryo"/>
              </a:rPr>
              <a:t>結論の範囲を明確にする</a:t>
            </a:r>
          </a:p>
        </p:txBody>
      </p:sp>
      <p:sp>
        <p:nvSpPr>
          <p:cNvPr id="21" name="Rectangle 20"/>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4823459"/>
            <a:ext cx="1828800" cy="274320"/>
          </a:xfrm>
          <a:prstGeom prst="rect">
            <a:avLst/>
          </a:prstGeom>
          <a:noFill/>
        </p:spPr>
        <p:txBody>
          <a:bodyPr wrap="none" anchor="ctr" lIns="0" rIns="0" tIns="0" bIns="0">
            <a:spAutoFit/>
          </a:bodyPr>
          <a:lstStyle/>
          <a:p>
            <a:fld id="{0B2D7745-3712-4368-B014-AF4E78D0F839}" type="slidenum">
              <a:rPr lang="ja-JP" smtClean="0" sz="1000">
                <a:solidFill>
                  <a:srgbClr val="888888"/>
                </a:solidFill>
              </a:rPr>
              <a:t>&lt;#&gt;</a:t>
            </a:fld>
            <a:r>
              <a:rPr lang="ja-JP" smtClean="0" sz="1000">
                <a:solidFill>
                  <a:srgbClr val="888888"/>
                </a:solidFill>
              </a:rPr>
              <a:t>/</a:t>
            </a:r>
            <a:fld id="{3259B9E1-F873-443B-983A-B58FC59491F9}" type="slidecount">
              <a:rPr lang="ja-JP" smtClean="0" sz="1000">
                <a:solidFill>
                  <a:srgbClr val="888888"/>
                </a:solidFill>
              </a:rPr>
              <a:t>10</a:t>
            </a:fld>
          </a:p>
        </p:txBody>
      </p:sp>
      <p:pic>
        <p:nvPicPr>
          <p:cNvPr id="23" name="Picture 22"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長文の価値は説明の厚みにある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理由、条件、例外、比較が一面的でない理解を作る</a:t>
            </a:r>
          </a:p>
        </p:txBody>
      </p:sp>
      <p:sp>
        <p:nvSpPr>
          <p:cNvPr id="5" name="Rectangle 4"/>
          <p:cNvSpPr/>
          <p:nvPr/>
        </p:nvSpPr>
        <p:spPr>
          <a:xfrm>
            <a:off x="164592"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理由</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主張がなぜ成立するかを示す。</a:t>
            </a:r>
          </a:p>
          <a:p>
            <a:pPr marL="228600" indent="-228600">
              <a:spcBef>
                <a:spcPts val="0"/>
              </a:spcBef>
              <a:spcAft>
                <a:spcPts val="400"/>
              </a:spcAft>
              <a:buChar char="•"/>
              <a:lnSpc>
                <a:spcPts val="1980"/>
              </a:lnSpc>
            </a:pPr>
            <a:r>
              <a:rPr lang="ja-JP" sz="1100" b="0" i="0" dirty="0">
                <a:solidFill>
                  <a:srgbClr val="333333"/>
                </a:solidFill>
                <a:ea typeface="Meiryo"/>
              </a:rPr>
              <a:t>読み手が結論だけを丸呑みしなくなる</a:t>
            </a:r>
          </a:p>
          <a:p>
            <a:pPr marL="228600" indent="-228600">
              <a:spcBef>
                <a:spcPts val="0"/>
              </a:spcBef>
              <a:spcAft>
                <a:spcPts val="400"/>
              </a:spcAft>
              <a:buChar char="•"/>
              <a:lnSpc>
                <a:spcPts val="1980"/>
              </a:lnSpc>
            </a:pPr>
            <a:r>
              <a:rPr lang="ja-JP" sz="1100" b="0" i="0" dirty="0">
                <a:solidFill>
                  <a:srgbClr val="333333"/>
                </a:solidFill>
                <a:ea typeface="Meiryo"/>
              </a:rPr>
              <a:t>背景目的や導入経緯を理解できる</a:t>
            </a:r>
          </a:p>
          <a:p>
            <a:pPr marL="228600" indent="-228600">
              <a:spcBef>
                <a:spcPts val="0"/>
              </a:spcBef>
              <a:spcAft>
                <a:spcPts val="400"/>
              </a:spcAft>
              <a:buChar char="•"/>
              <a:lnSpc>
                <a:spcPts val="1980"/>
              </a:lnSpc>
            </a:pPr>
            <a:r>
              <a:rPr lang="ja-JP" sz="1100" b="0" i="0" dirty="0">
                <a:solidFill>
                  <a:srgbClr val="333333"/>
                </a:solidFill>
                <a:ea typeface="Meiryo"/>
              </a:rPr>
              <a:t>書き手の判断基準が見える</a:t>
            </a:r>
          </a:p>
        </p:txBody>
      </p:sp>
      <p:sp>
        <p:nvSpPr>
          <p:cNvPr id="9" name="Rectangle 8"/>
          <p:cNvSpPr/>
          <p:nvPr/>
        </p:nvSpPr>
        <p:spPr>
          <a:xfrm>
            <a:off x="3127248"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条件と例外</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説明の適用範囲を明確にする。</a:t>
            </a:r>
          </a:p>
          <a:p>
            <a:pPr marL="228600" indent="-228600">
              <a:spcBef>
                <a:spcPts val="0"/>
              </a:spcBef>
              <a:spcAft>
                <a:spcPts val="400"/>
              </a:spcAft>
              <a:buChar char="•"/>
              <a:lnSpc>
                <a:spcPts val="1980"/>
              </a:lnSpc>
            </a:pPr>
            <a:r>
              <a:rPr lang="ja-JP" sz="1100" b="0" i="0" dirty="0">
                <a:solidFill>
                  <a:srgbClr val="333333"/>
                </a:solidFill>
                <a:ea typeface="Meiryo"/>
              </a:rPr>
              <a:t>どの場面で成り立つかを示す</a:t>
            </a:r>
          </a:p>
          <a:p>
            <a:pPr marL="228600" indent="-228600">
              <a:spcBef>
                <a:spcPts val="0"/>
              </a:spcBef>
              <a:spcAft>
                <a:spcPts val="400"/>
              </a:spcAft>
              <a:buChar char="•"/>
              <a:lnSpc>
                <a:spcPts val="1980"/>
              </a:lnSpc>
            </a:pPr>
            <a:r>
              <a:rPr lang="ja-JP" sz="1100" b="0" i="0" dirty="0">
                <a:solidFill>
                  <a:srgbClr val="333333"/>
                </a:solidFill>
                <a:ea typeface="Meiryo"/>
              </a:rPr>
              <a:t>過度な一般化を避ける</a:t>
            </a:r>
          </a:p>
          <a:p>
            <a:pPr marL="228600" indent="-228600">
              <a:spcBef>
                <a:spcPts val="0"/>
              </a:spcBef>
              <a:spcAft>
                <a:spcPts val="400"/>
              </a:spcAft>
              <a:buChar char="•"/>
              <a:lnSpc>
                <a:spcPts val="1980"/>
              </a:lnSpc>
            </a:pPr>
            <a:r>
              <a:rPr lang="ja-JP" sz="1100" b="0" i="0" dirty="0">
                <a:solidFill>
                  <a:srgbClr val="333333"/>
                </a:solidFill>
                <a:ea typeface="Meiryo"/>
              </a:rPr>
              <a:t>誤解や反論の余地を小さくする</a:t>
            </a:r>
          </a:p>
        </p:txBody>
      </p:sp>
      <p:sp>
        <p:nvSpPr>
          <p:cNvPr id="13" name="Rectangle 12"/>
          <p:cNvSpPr/>
          <p:nvPr/>
        </p:nvSpPr>
        <p:spPr>
          <a:xfrm>
            <a:off x="6089904" y="941832"/>
            <a:ext cx="2889504" cy="367131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比較</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312267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他の考え方との差分を見せる。</a:t>
            </a:r>
          </a:p>
          <a:p>
            <a:pPr marL="228600" indent="-228600">
              <a:spcBef>
                <a:spcPts val="0"/>
              </a:spcBef>
              <a:spcAft>
                <a:spcPts val="400"/>
              </a:spcAft>
              <a:buChar char="•"/>
              <a:lnSpc>
                <a:spcPts val="1980"/>
              </a:lnSpc>
            </a:pPr>
            <a:r>
              <a:rPr lang="ja-JP" sz="1100" b="0" i="0" dirty="0">
                <a:solidFill>
                  <a:srgbClr val="333333"/>
                </a:solidFill>
                <a:ea typeface="Meiryo"/>
              </a:rPr>
              <a:t>選択肢の違いが分かる</a:t>
            </a:r>
          </a:p>
          <a:p>
            <a:pPr marL="228600" indent="-228600">
              <a:spcBef>
                <a:spcPts val="0"/>
              </a:spcBef>
              <a:spcAft>
                <a:spcPts val="400"/>
              </a:spcAft>
              <a:buChar char="•"/>
              <a:lnSpc>
                <a:spcPts val="1980"/>
              </a:lnSpc>
            </a:pPr>
            <a:r>
              <a:rPr lang="ja-JP" sz="1100" b="0" i="0" dirty="0">
                <a:solidFill>
                  <a:srgbClr val="333333"/>
                </a:solidFill>
                <a:ea typeface="Meiryo"/>
              </a:rPr>
              <a:t>一面的でない理解に近づく</a:t>
            </a:r>
          </a:p>
          <a:p>
            <a:pPr marL="228600" indent="-228600">
              <a:spcBef>
                <a:spcPts val="0"/>
              </a:spcBef>
              <a:spcAft>
                <a:spcPts val="400"/>
              </a:spcAft>
              <a:buChar char="•"/>
              <a:lnSpc>
                <a:spcPts val="1980"/>
              </a:lnSpc>
            </a:pPr>
            <a:r>
              <a:rPr lang="ja-JP" sz="1100" b="0" i="0" dirty="0">
                <a:solidFill>
                  <a:srgbClr val="333333"/>
                </a:solidFill>
                <a:ea typeface="Meiryo"/>
              </a:rPr>
              <a:t>読み手に考える材料を渡せる</a:t>
            </a:r>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6710DED7-12B2-46DE-8A94-7055C7AB8D54}" type="slidenum">
              <a:rPr lang="ja-JP" smtClean="0" sz="1000">
                <a:solidFill>
                  <a:srgbClr val="888888"/>
                </a:solidFill>
              </a:rPr>
              <a:t>&lt;#&gt;</a:t>
            </a:fld>
            <a:r>
              <a:rPr lang="ja-JP" smtClean="0" sz="1000">
                <a:solidFill>
                  <a:srgbClr val="888888"/>
                </a:solidFill>
              </a:rPr>
              <a:t>/</a:t>
            </a:r>
            <a:fld id="{9FFFD58D-E62C-477B-81E7-576928072ED2}"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長文に必要なのは量ではなく密度である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一文一文が役割を持つと、長くても読み進められる</a:t>
            </a:r>
          </a:p>
        </p:txBody>
      </p:sp>
      <p:sp>
        <p:nvSpPr>
          <p:cNvPr id="5" name="Rectangle 4"/>
          <p:cNvSpPr/>
          <p:nvPr/>
        </p:nvSpPr>
        <p:spPr>
          <a:xfrm>
            <a:off x="164592"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1"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役割</a:t>
            </a:r>
          </a:p>
        </p:txBody>
      </p:sp>
      <p:sp>
        <p:nvSpPr>
          <p:cNvPr id="7" name="Rectangle 6"/>
          <p:cNvSpPr/>
          <p:nvPr/>
        </p:nvSpPr>
        <p:spPr>
          <a:xfrm>
            <a:off x="301751"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1"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一文ごとに機能を持たせる。</a:t>
            </a:r>
          </a:p>
          <a:p>
            <a:pPr marL="228600" indent="-228600">
              <a:spcBef>
                <a:spcPts val="0"/>
              </a:spcBef>
              <a:spcAft>
                <a:spcPts val="400"/>
              </a:spcAft>
              <a:buChar char="•"/>
              <a:lnSpc>
                <a:spcPts val="1980"/>
              </a:lnSpc>
            </a:pPr>
            <a:r>
              <a:rPr lang="ja-JP" sz="1100" b="0" i="0" dirty="0">
                <a:solidFill>
                  <a:srgbClr val="333333"/>
                </a:solidFill>
                <a:ea typeface="Meiryo"/>
              </a:rPr>
              <a:t>主張、理由、例、補足を区別する</a:t>
            </a:r>
          </a:p>
          <a:p>
            <a:pPr marL="228600" indent="-228600">
              <a:spcBef>
                <a:spcPts val="0"/>
              </a:spcBef>
              <a:spcAft>
                <a:spcPts val="400"/>
              </a:spcAft>
              <a:buChar char="•"/>
              <a:lnSpc>
                <a:spcPts val="1980"/>
              </a:lnSpc>
            </a:pPr>
            <a:r>
              <a:rPr lang="ja-JP" sz="1100" b="0" i="0" dirty="0">
                <a:solidFill>
                  <a:srgbClr val="333333"/>
                </a:solidFill>
                <a:ea typeface="Meiryo"/>
              </a:rPr>
              <a:t>何のための文か曖昧にしない</a:t>
            </a:r>
          </a:p>
        </p:txBody>
      </p:sp>
      <p:sp>
        <p:nvSpPr>
          <p:cNvPr id="9" name="Rectangle 8"/>
          <p:cNvSpPr/>
          <p:nvPr/>
        </p:nvSpPr>
        <p:spPr>
          <a:xfrm>
            <a:off x="3127248"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4408"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差分</a:t>
            </a:r>
          </a:p>
        </p:txBody>
      </p:sp>
      <p:sp>
        <p:nvSpPr>
          <p:cNvPr id="11" name="Rectangle 10"/>
          <p:cNvSpPr/>
          <p:nvPr/>
        </p:nvSpPr>
        <p:spPr>
          <a:xfrm>
            <a:off x="3264408"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段落ごとに意味の違いを作る。</a:t>
            </a:r>
          </a:p>
          <a:p>
            <a:pPr marL="228600" indent="-228600">
              <a:spcBef>
                <a:spcPts val="0"/>
              </a:spcBef>
              <a:spcAft>
                <a:spcPts val="400"/>
              </a:spcAft>
              <a:buChar char="•"/>
              <a:lnSpc>
                <a:spcPts val="1980"/>
              </a:lnSpc>
            </a:pPr>
            <a:r>
              <a:rPr lang="ja-JP" sz="1100" b="0" i="0" dirty="0">
                <a:solidFill>
                  <a:srgbClr val="333333"/>
                </a:solidFill>
                <a:ea typeface="Meiryo"/>
              </a:rPr>
              <a:t>同じ内容の言い換えを避ける</a:t>
            </a:r>
          </a:p>
          <a:p>
            <a:pPr marL="228600" indent="-228600">
              <a:spcBef>
                <a:spcPts val="0"/>
              </a:spcBef>
              <a:spcAft>
                <a:spcPts val="400"/>
              </a:spcAft>
              <a:buChar char="•"/>
              <a:lnSpc>
                <a:spcPts val="1980"/>
              </a:lnSpc>
            </a:pPr>
            <a:r>
              <a:rPr lang="ja-JP" sz="1100" b="0" i="0" dirty="0">
                <a:solidFill>
                  <a:srgbClr val="333333"/>
                </a:solidFill>
                <a:ea typeface="Meiryo"/>
              </a:rPr>
              <a:t>新しい観点や判断材料を加える</a:t>
            </a:r>
          </a:p>
        </p:txBody>
      </p:sp>
      <p:sp>
        <p:nvSpPr>
          <p:cNvPr id="13" name="Rectangle 12"/>
          <p:cNvSpPr/>
          <p:nvPr/>
        </p:nvSpPr>
        <p:spPr>
          <a:xfrm>
            <a:off x="6089904" y="941832"/>
            <a:ext cx="2889504" cy="2371725"/>
          </a:xfrm>
          <a:prstGeom prst="rect">
            <a:avLst/>
          </a:prstGeom>
          <a:solidFill>
            <a:srgbClr val="F5F5F5"/>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051560"/>
            <a:ext cx="2615184" cy="320040"/>
          </a:xfrm>
          <a:prstGeom prst="rect">
            <a:avLst/>
          </a:prstGeom>
          <a:noFill/>
          <a:effectLst/>
        </p:spPr>
        <p:txBody>
          <a:bodyPr wrap="square" lIns="0" rIns="0" tIns="0" bIns="0" anchor="t">
            <a:noAutofit/>
          </a:bodyPr>
          <a:lstStyle/>
          <a:p>
            <a:r>
              <a:rPr lang="ja-JP" sz="1400" b="1" i="0" dirty="0">
                <a:solidFill>
                  <a:srgbClr val="333333"/>
                </a:solidFill>
                <a:ea typeface="Meiryo"/>
              </a:rPr>
              <a:t>目的</a:t>
            </a:r>
          </a:p>
        </p:txBody>
      </p:sp>
      <p:sp>
        <p:nvSpPr>
          <p:cNvPr id="15" name="Rectangle 14"/>
          <p:cNvSpPr/>
          <p:nvPr/>
        </p:nvSpPr>
        <p:spPr>
          <a:xfrm>
            <a:off x="6227064" y="1307592"/>
            <a:ext cx="2615184" cy="12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27064" y="1380744"/>
            <a:ext cx="2615184" cy="1823085"/>
          </a:xfrm>
          <a:prstGeom prst="rect">
            <a:avLst/>
          </a:prstGeom>
          <a:noFill/>
          <a:effectLst/>
        </p:spPr>
        <p:txBody>
          <a:bodyPr wrap="square" lIns="0" rIns="0" tIns="0" bIns="0">
            <a:noAutofit/>
          </a:bodyPr>
          <a:lstStyle/>
          <a:p>
            <a:pPr>
              <a:spcBef>
                <a:spcPts val="0"/>
              </a:spcBef>
              <a:spcAft>
                <a:spcPts val="400"/>
              </a:spcAft>
              <a:buNone/>
              <a:lnSpc>
                <a:spcPts val="1980"/>
              </a:lnSpc>
            </a:pPr>
            <a:r>
              <a:rPr lang="ja-JP" sz="1100" b="0" i="0" dirty="0">
                <a:solidFill>
                  <a:srgbClr val="333333"/>
                </a:solidFill>
                <a:ea typeface="Meiryo"/>
              </a:rPr>
              <a:t>全体を一つの方向へ進める。</a:t>
            </a:r>
          </a:p>
          <a:p>
            <a:pPr marL="228600" indent="-228600">
              <a:spcBef>
                <a:spcPts val="0"/>
              </a:spcBef>
              <a:spcAft>
                <a:spcPts val="400"/>
              </a:spcAft>
              <a:buChar char="•"/>
              <a:lnSpc>
                <a:spcPts val="1980"/>
              </a:lnSpc>
            </a:pPr>
            <a:r>
              <a:rPr lang="ja-JP" sz="1100" b="0" i="0" dirty="0">
                <a:solidFill>
                  <a:srgbClr val="333333"/>
                </a:solidFill>
                <a:ea typeface="Meiryo"/>
              </a:rPr>
              <a:t>本筋から外れた装飾を削る</a:t>
            </a:r>
          </a:p>
          <a:p>
            <a:pPr marL="228600" indent="-228600">
              <a:spcBef>
                <a:spcPts val="0"/>
              </a:spcBef>
              <a:spcAft>
                <a:spcPts val="400"/>
              </a:spcAft>
              <a:buChar char="•"/>
              <a:lnSpc>
                <a:spcPts val="1980"/>
              </a:lnSpc>
            </a:pPr>
            <a:r>
              <a:rPr lang="ja-JP" sz="1100" b="0" i="0" dirty="0">
                <a:solidFill>
                  <a:srgbClr val="333333"/>
                </a:solidFill>
                <a:ea typeface="Meiryo"/>
              </a:rPr>
              <a:t>最後の理解へ向かって配置する</a:t>
            </a:r>
          </a:p>
        </p:txBody>
      </p:sp>
      <p:sp>
        <p:nvSpPr>
          <p:cNvPr id="17" name="Arrow17"/>
          <p:cNvSpPr/>
          <p:nvPr/>
        </p:nvSpPr>
        <p:spPr>
          <a:xfrm>
            <a:off x="2147925" y="3415741"/>
            <a:ext cx="4848148" cy="174193"/>
          </a:xfrm>
          <a:custGeom>
            <a:avLst/>
            <a:gdLst/>
            <a:ahLst/>
            <a:cxnLst/>
            <a:rect l="0" t="0" r="r" b="b"/>
            <a:pathLst>
              <a:path w="100000" h="100000">
                <a:moveTo>
                  <a:pt x="0" y="0"/>
                </a:moveTo>
                <a:lnTo>
                  <a:pt x="100000" y="0"/>
                </a:lnTo>
                <a:lnTo>
                  <a:pt x="50000" y="100000"/>
                </a:lnTo>
                <a:close/>
              </a:path>
            </a:pathLst>
          </a:custGeom>
          <a:solidFill>
            <a:srgbClr val="6B7A99"/>
          </a:solidFill>
          <a:ln>
            <a:noFill/>
          </a:ln>
          <a:effectLst/>
        </p:spPr>
        <p:txBody>
          <a:bodyPr/>
          <a:lstStyle/>
          <a:p/>
        </p:txBody>
      </p:sp>
      <p:sp>
        <p:nvSpPr>
          <p:cNvPr id="18" name="Rectangle 17"/>
          <p:cNvSpPr/>
          <p:nvPr/>
        </p:nvSpPr>
        <p:spPr>
          <a:xfrm>
            <a:off x="164592" y="3692118"/>
            <a:ext cx="8814816" cy="921029"/>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4592" y="3692118"/>
            <a:ext cx="64008" cy="921029"/>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801846"/>
            <a:ext cx="8476488" cy="701573"/>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1A2A5A"/>
                </a:solidFill>
                <a:ea typeface="Meiryo"/>
              </a:rPr>
              <a:t>良い長文は長い情報の集積ではなく、役割ある文が目的へ向かって並ぶ構造である。</a:t>
            </a:r>
          </a:p>
        </p:txBody>
      </p:sp>
      <p:sp>
        <p:nvSpPr>
          <p:cNvPr id="21" name="Rectangle 20"/>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4823459"/>
            <a:ext cx="1828800" cy="274320"/>
          </a:xfrm>
          <a:prstGeom prst="rect">
            <a:avLst/>
          </a:prstGeom>
          <a:noFill/>
        </p:spPr>
        <p:txBody>
          <a:bodyPr wrap="none" anchor="ctr" lIns="0" rIns="0" tIns="0" bIns="0">
            <a:spAutoFit/>
          </a:bodyPr>
          <a:lstStyle/>
          <a:p>
            <a:fld id="{71E38EB4-7784-4B63-8477-B69E3A5E97EC}" type="slidenum">
              <a:rPr lang="ja-JP" smtClean="0" sz="1000">
                <a:solidFill>
                  <a:srgbClr val="888888"/>
                </a:solidFill>
              </a:rPr>
              <a:t>&lt;#&gt;</a:t>
            </a:fld>
            <a:r>
              <a:rPr lang="ja-JP" smtClean="0" sz="1000">
                <a:solidFill>
                  <a:srgbClr val="888888"/>
                </a:solidFill>
              </a:rPr>
              <a:t>/</a:t>
            </a:r>
            <a:fld id="{A1EB2653-22E5-4A56-AE53-8E9566BFFCEB}" type="slidecount">
              <a:rPr lang="ja-JP" smtClean="0" sz="1000">
                <a:solidFill>
                  <a:srgbClr val="888888"/>
                </a:solidFill>
              </a:rPr>
              <a:t>10</a:t>
            </a:fld>
          </a:p>
        </p:txBody>
      </p:sp>
      <p:pic>
        <p:nvPicPr>
          <p:cNvPr id="23" name="Picture 22"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読者の状況に合わせて要点と背景を調整する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急ぐ読者と学びたい読者では必要な設計が違う</a:t>
            </a:r>
          </a:p>
        </p:txBody>
      </p:sp>
      <p:sp>
        <p:nvSpPr>
          <p:cNvPr id="5" name="Rectangle 4"/>
          <p:cNvSpPr/>
          <p:nvPr/>
        </p:nvSpPr>
        <p:spPr>
          <a:xfrm>
            <a:off x="3027970"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FFFFFF"/>
                </a:solidFill>
                <a:ea typeface="Meiryo"/>
              </a:rPr>
              <a:t>急いでいる読者</a:t>
            </a:r>
          </a:p>
        </p:txBody>
      </p:sp>
      <p:sp>
        <p:nvSpPr>
          <p:cNvPr id="6" name="Rectangle 5"/>
          <p:cNvSpPr/>
          <p:nvPr/>
        </p:nvSpPr>
        <p:spPr>
          <a:xfrm>
            <a:off x="6170893" y="941832"/>
            <a:ext cx="2808514" cy="876680"/>
          </a:xfrm>
          <a:prstGeom prst="rect">
            <a:avLst/>
          </a:prstGeom>
          <a:solidFill>
            <a:srgbClr val="6B7A99"/>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FFFFFF"/>
                </a:solidFill>
                <a:ea typeface="Meiryo"/>
              </a:rPr>
              <a:t>じっくり学ぶ読者</a:t>
            </a:r>
          </a:p>
        </p:txBody>
      </p:sp>
      <p:sp>
        <p:nvSpPr>
          <p:cNvPr id="7" name="Rectangle 6"/>
          <p:cNvSpPr/>
          <p:nvPr/>
        </p:nvSpPr>
        <p:spPr>
          <a:xfrm>
            <a:off x="164592" y="1873377"/>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欲しい情報</a:t>
            </a:r>
          </a:p>
        </p:txBody>
      </p:sp>
      <p:sp>
        <p:nvSpPr>
          <p:cNvPr id="8" name="Rectangle 7"/>
          <p:cNvSpPr/>
          <p:nvPr/>
        </p:nvSpPr>
        <p:spPr>
          <a:xfrm>
            <a:off x="3027970"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結論、要点、判断材料</a:t>
            </a:r>
          </a:p>
        </p:txBody>
      </p:sp>
      <p:sp>
        <p:nvSpPr>
          <p:cNvPr id="9" name="Rectangle 8"/>
          <p:cNvSpPr/>
          <p:nvPr/>
        </p:nvSpPr>
        <p:spPr>
          <a:xfrm>
            <a:off x="6170893" y="1873377"/>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背景、経緯、条件</a:t>
            </a:r>
          </a:p>
        </p:txBody>
      </p:sp>
      <p:sp>
        <p:nvSpPr>
          <p:cNvPr id="10" name="Rectangle 9"/>
          <p:cNvSpPr/>
          <p:nvPr/>
        </p:nvSpPr>
        <p:spPr>
          <a:xfrm>
            <a:off x="164592" y="2804922"/>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有効な構成</a:t>
            </a:r>
          </a:p>
        </p:txBody>
      </p:sp>
      <p:sp>
        <p:nvSpPr>
          <p:cNvPr id="11" name="Rectangle 10"/>
          <p:cNvSpPr/>
          <p:nvPr/>
        </p:nvSpPr>
        <p:spPr>
          <a:xfrm>
            <a:off x="3027970"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見出しで要点を拾える構成</a:t>
            </a:r>
          </a:p>
        </p:txBody>
      </p:sp>
      <p:sp>
        <p:nvSpPr>
          <p:cNvPr id="12" name="Rectangle 11"/>
          <p:cNvSpPr/>
          <p:nvPr/>
        </p:nvSpPr>
        <p:spPr>
          <a:xfrm>
            <a:off x="6170893" y="2804922"/>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段階的に理由を追える構成</a:t>
            </a:r>
          </a:p>
        </p:txBody>
      </p:sp>
      <p:sp>
        <p:nvSpPr>
          <p:cNvPr id="13" name="Rectangle 12"/>
          <p:cNvSpPr/>
          <p:nvPr/>
        </p:nvSpPr>
        <p:spPr>
          <a:xfrm>
            <a:off x="164592" y="3736466"/>
            <a:ext cx="2808514" cy="876680"/>
          </a:xfrm>
          <a:prstGeom prst="rect">
            <a:avLst/>
          </a:prstGeom>
          <a:solidFill>
            <a:srgbClr val="E8ED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1" i="0" dirty="0">
                <a:solidFill>
                  <a:srgbClr val="333333"/>
                </a:solidFill>
                <a:ea typeface="Meiryo"/>
              </a:rPr>
              <a:t>注意点</a:t>
            </a:r>
          </a:p>
        </p:txBody>
      </p:sp>
      <p:sp>
        <p:nvSpPr>
          <p:cNvPr id="14" name="Rectangle 13"/>
          <p:cNvSpPr/>
          <p:nvPr/>
        </p:nvSpPr>
        <p:spPr>
          <a:xfrm>
            <a:off x="3027970"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長い段落は負担になる</a:t>
            </a:r>
          </a:p>
        </p:txBody>
      </p:sp>
      <p:sp>
        <p:nvSpPr>
          <p:cNvPr id="15" name="Rectangle 14"/>
          <p:cNvSpPr/>
          <p:nvPr/>
        </p:nvSpPr>
        <p:spPr>
          <a:xfrm>
            <a:off x="6170893" y="3736466"/>
            <a:ext cx="2808514" cy="876680"/>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lnSpc>
                <a:spcPts val="1560"/>
              </a:lnSpc>
            </a:pPr>
            <a:r>
              <a:rPr lang="ja-JP" sz="1200" b="0" i="0" dirty="0">
                <a:solidFill>
                  <a:srgbClr val="333333"/>
                </a:solidFill>
                <a:ea typeface="Meiryo"/>
              </a:rPr>
              <a:t>省略しすぎると納得しにくい</a:t>
            </a:r>
          </a:p>
        </p:txBody>
      </p:sp>
      <p:sp>
        <p:nvSpPr>
          <p:cNvPr id="16" name="CmpArrow16"/>
          <p:cNvSpPr/>
          <p:nvPr/>
        </p:nvSpPr>
        <p:spPr>
          <a:xfrm>
            <a:off x="5891348" y="1873377"/>
            <a:ext cx="224681" cy="2739771"/>
          </a:xfrm>
          <a:custGeom>
            <a:avLst/>
            <a:gdLst/>
            <a:ahLst/>
            <a:cxnLst/>
            <a:rect l="0" t="0" r="r" b="b"/>
            <a:pathLst>
              <a:path w="100000" h="100000">
                <a:moveTo>
                  <a:pt x="0" y="50000"/>
                </a:moveTo>
                <a:lnTo>
                  <a:pt x="35000" y="20000"/>
                </a:lnTo>
                <a:lnTo>
                  <a:pt x="35000" y="40000"/>
                </a:lnTo>
                <a:lnTo>
                  <a:pt x="65000" y="40000"/>
                </a:lnTo>
                <a:lnTo>
                  <a:pt x="65000" y="20000"/>
                </a:lnTo>
                <a:lnTo>
                  <a:pt x="100000" y="50000"/>
                </a:lnTo>
                <a:lnTo>
                  <a:pt x="65000" y="80000"/>
                </a:lnTo>
                <a:lnTo>
                  <a:pt x="65000" y="60000"/>
                </a:lnTo>
                <a:lnTo>
                  <a:pt x="35000" y="60000"/>
                </a:lnTo>
                <a:lnTo>
                  <a:pt x="35000" y="80000"/>
                </a:lnTo>
                <a:close/>
              </a:path>
            </a:pathLst>
          </a:custGeom>
          <a:solidFill>
            <a:srgbClr val="CCCCCC"/>
          </a:solidFill>
          <a:ln w="9525">
            <a:solidFill>
              <a:srgbClr val="CCCCCC"/>
            </a:solidFill>
          </a:ln>
          <a:effectLst/>
        </p:spPr>
        <p:txBody>
          <a:bodyPr/>
          <a:lstStyle/>
          <a:p/>
        </p:txBody>
      </p:sp>
      <p:sp>
        <p:nvSpPr>
          <p:cNvPr id="17" name="Rectangle 1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 y="4823459"/>
            <a:ext cx="1828800" cy="274320"/>
          </a:xfrm>
          <a:prstGeom prst="rect">
            <a:avLst/>
          </a:prstGeom>
          <a:noFill/>
        </p:spPr>
        <p:txBody>
          <a:bodyPr wrap="none" anchor="ctr" lIns="0" rIns="0" tIns="0" bIns="0">
            <a:spAutoFit/>
          </a:bodyPr>
          <a:lstStyle/>
          <a:p>
            <a:fld id="{D527ACF6-0333-4F6F-89FD-912216515654}" type="slidenum">
              <a:rPr lang="ja-JP" smtClean="0" sz="1000">
                <a:solidFill>
                  <a:srgbClr val="888888"/>
                </a:solidFill>
              </a:rPr>
              <a:t>&lt;#&gt;</a:t>
            </a:fld>
            <a:r>
              <a:rPr lang="ja-JP" smtClean="0" sz="1000">
                <a:solidFill>
                  <a:srgbClr val="888888"/>
                </a:solidFill>
              </a:rPr>
              <a:t>/</a:t>
            </a:r>
            <a:fld id="{EB181BC4-F745-48F2-B8FF-8863E0E82C49}" type="slidecount">
              <a:rPr lang="ja-JP" smtClean="0" sz="1000">
                <a:solidFill>
                  <a:srgbClr val="888888"/>
                </a:solidFill>
              </a:rPr>
              <a:t>10</a:t>
            </a:fld>
          </a:p>
        </p:txBody>
      </p:sp>
      <p:pic>
        <p:nvPicPr>
          <p:cNvPr id="19" name="Picture 1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書くことは思考を外に出して点検する作業である</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言葉にする過程で前提不足や論理の飛躍が見える</a:t>
            </a:r>
          </a:p>
        </p:txBody>
      </p:sp>
      <p:sp>
        <p:nvSpPr>
          <p:cNvPr id="5" name="TextBox 4"/>
          <p:cNvSpPr txBox="1"/>
          <p:nvPr/>
        </p:nvSpPr>
        <p:spPr>
          <a:xfrm>
            <a:off x="393192" y="1033272"/>
            <a:ext cx="3913632" cy="3488435"/>
          </a:xfrm>
          <a:prstGeom prst="rect">
            <a:avLst/>
          </a:prstGeom>
          <a:noFill/>
          <a:effectLst/>
        </p:spPr>
        <p:txBody>
          <a:bodyPr wrap="square" lIns="0" rIns="0" tIns="0" bIns="0">
            <a:noAutofit/>
          </a:bodyPr>
          <a:lstStyle/>
          <a:p>
            <a:pPr>
              <a:spcBef>
                <a:spcPts val="0"/>
              </a:spcBef>
              <a:spcAft>
                <a:spcPts val="300"/>
              </a:spcAft>
              <a:buNone/>
              <a:lnSpc>
                <a:spcPts val="1679"/>
              </a:lnSpc>
            </a:pPr>
            <a:r>
              <a:rPr lang="ja-JP" sz="1200" b="1" i="0" dirty="0">
                <a:solidFill>
                  <a:srgbClr val="333333"/>
                </a:solidFill>
                <a:ea typeface="Meiryo"/>
              </a:rPr>
              <a:t>思考の点検</a:t>
            </a:r>
          </a:p>
          <a:p>
            <a:pPr>
              <a:spcBef>
                <a:spcPts val="0"/>
              </a:spcBef>
              <a:spcAft>
                <a:spcPts val="400"/>
              </a:spcAft>
              <a:buNone/>
              <a:lnSpc>
                <a:spcPts val="2160"/>
              </a:lnSpc>
            </a:pPr>
            <a:r>
              <a:rPr lang="ja-JP" sz="1200" b="0" i="0" dirty="0">
                <a:solidFill>
                  <a:srgbClr val="333333"/>
                </a:solidFill>
                <a:ea typeface="Meiryo"/>
              </a:rPr>
              <a:t>書くことで、曖昧だった考えが外から見える対象になる。</a:t>
            </a:r>
          </a:p>
          <a:p>
            <a:pPr marL="228600" indent="-228600">
              <a:spcBef>
                <a:spcPts val="0"/>
              </a:spcBef>
              <a:spcAft>
                <a:spcPts val="400"/>
              </a:spcAft>
              <a:buNone/>
              <a:lnSpc>
                <a:spcPts val="2160"/>
              </a:lnSpc>
            </a:pPr>
            <a:r>
              <a:rPr lang="en-US" sz="1200" b="0" i="0" dirty="0">
                <a:solidFill>
                  <a:srgbClr val="333333"/>
                </a:solidFill>
                <a:latin typeface="Segoe UI"/>
              </a:rPr>
              <a:t>1. </a:t>
            </a:r>
            <a:r>
              <a:rPr lang="ja-JP" sz="1200" b="1" i="0" dirty="0">
                <a:solidFill>
                  <a:srgbClr val="333333"/>
                </a:solidFill>
                <a:ea typeface="Meiryo"/>
              </a:rPr>
              <a:t>前提不足</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読み手が知らない条件に気づける</a:t>
            </a:r>
          </a:p>
          <a:p>
            <a:pPr marL="228600" indent="-228600">
              <a:spcBef>
                <a:spcPts val="0"/>
              </a:spcBef>
              <a:spcAft>
                <a:spcPts val="400"/>
              </a:spcAft>
              <a:buNone/>
              <a:lnSpc>
                <a:spcPts val="2160"/>
              </a:lnSpc>
            </a:pPr>
            <a:r>
              <a:rPr lang="en-US" sz="1200" b="0" i="0" dirty="0">
                <a:solidFill>
                  <a:srgbClr val="333333"/>
                </a:solidFill>
                <a:latin typeface="Segoe UI"/>
              </a:rPr>
              <a:t>2. </a:t>
            </a:r>
            <a:r>
              <a:rPr lang="ja-JP" sz="1200" b="1" i="0" dirty="0">
                <a:solidFill>
                  <a:srgbClr val="333333"/>
                </a:solidFill>
                <a:ea typeface="Meiryo"/>
              </a:rPr>
              <a:t>重複</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同じ説明を繰り返している箇所を削れる</a:t>
            </a:r>
          </a:p>
          <a:p>
            <a:pPr marL="228600" indent="-228600">
              <a:spcBef>
                <a:spcPts val="0"/>
              </a:spcBef>
              <a:spcAft>
                <a:spcPts val="400"/>
              </a:spcAft>
              <a:buNone/>
              <a:lnSpc>
                <a:spcPts val="2160"/>
              </a:lnSpc>
            </a:pPr>
            <a:r>
              <a:rPr lang="en-US" sz="1200" b="0" i="0" dirty="0">
                <a:solidFill>
                  <a:srgbClr val="333333"/>
                </a:solidFill>
                <a:latin typeface="Segoe UI"/>
              </a:rPr>
              <a:t>3. </a:t>
            </a:r>
            <a:r>
              <a:rPr lang="ja-JP" sz="1200" b="1" i="0" dirty="0">
                <a:solidFill>
                  <a:srgbClr val="333333"/>
                </a:solidFill>
                <a:ea typeface="Meiryo"/>
              </a:rPr>
              <a:t>飛躍</a:t>
            </a:r>
            <a:r>
              <a:rPr lang="en-US" sz="1200" b="1" i="0" dirty="0">
                <a:solidFill>
                  <a:srgbClr val="333333"/>
                </a:solidFill>
                <a:latin typeface="Segoe UI"/>
              </a:rPr>
              <a:t>:</a:t>
            </a:r>
            <a:r>
              <a:rPr lang="en-US" sz="1200" b="0" i="0" dirty="0">
                <a:solidFill>
                  <a:srgbClr val="333333"/>
                </a:solidFill>
                <a:latin typeface="Segoe UI"/>
              </a:rPr>
              <a:t> </a:t>
            </a:r>
            <a:r>
              <a:rPr lang="ja-JP" sz="1200" b="0" i="0" dirty="0">
                <a:solidFill>
                  <a:srgbClr val="333333"/>
                </a:solidFill>
                <a:ea typeface="Meiryo"/>
              </a:rPr>
              <a:t>主張と根拠の間にある空白を補える</a:t>
            </a:r>
          </a:p>
          <a:p>
            <a:pPr>
              <a:spcBef>
                <a:spcPts val="800"/>
              </a:spcBef>
              <a:spcAft>
                <a:spcPts val="300"/>
              </a:spcAft>
              <a:buNone/>
              <a:lnSpc>
                <a:spcPts val="1679"/>
              </a:lnSpc>
            </a:pPr>
            <a:r>
              <a:rPr lang="ja-JP" sz="1200" b="1" i="0" dirty="0">
                <a:solidFill>
                  <a:srgbClr val="333333"/>
                </a:solidFill>
                <a:ea typeface="Meiryo"/>
              </a:rPr>
              <a:t>整った文章の効果</a:t>
            </a:r>
          </a:p>
          <a:p>
            <a:pPr>
              <a:spcBef>
                <a:spcPts val="0"/>
              </a:spcBef>
              <a:spcAft>
                <a:spcPts val="400"/>
              </a:spcAft>
              <a:buNone/>
              <a:lnSpc>
                <a:spcPts val="2160"/>
              </a:lnSpc>
            </a:pPr>
            <a:r>
              <a:rPr lang="ja-JP" sz="1200" b="0" i="0" dirty="0">
                <a:solidFill>
                  <a:srgbClr val="333333"/>
                </a:solidFill>
                <a:ea typeface="Meiryo"/>
              </a:rPr>
              <a:t>文章が整うと、考えそのものも整理されて見える。</a:t>
            </a:r>
          </a:p>
        </p:txBody>
      </p:sp>
      <p:sp>
        <p:nvSpPr>
          <p:cNvPr id="6" name="TextBox 5"/>
          <p:cNvSpPr txBox="1"/>
          <p:nvPr/>
        </p:nvSpPr>
        <p:spPr>
          <a:xfrm>
            <a:off x="4608576" y="941832"/>
            <a:ext cx="4370832" cy="3671315"/>
          </a:xfrm>
          <a:prstGeom prst="rect">
            <a:avLst/>
          </a:prstGeom>
          <a:noFill/>
          <a:effectLst/>
        </p:spPr>
        <p:txBody>
          <a:bodyPr wrap="square" lIns="0" rIns="0" tIns="0" bIns="0" anchor="ctr">
            <a:noAutofit/>
          </a:bodyPr>
          <a:lstStyle/>
          <a:p>
            <a:pPr algn="ctr"/>
            <a:r>
              <a:rPr lang="ja-JP" sz="1200" b="0" i="0" dirty="0">
                <a:solidFill>
                  <a:srgbClr val="888888"/>
                </a:solidFill>
                <a:ea typeface="Meiryo"/>
              </a:rPr>
              <a:t>文章を書くことで頭の中の考えが整理される様子を表すシンプルなイラスト。フラットデザイン、ミニマルアイコン風、ビジネス向け、白背景。</a:t>
            </a:r>
            <a:r>
              <a:rPr lang="en-US" sz="1200" b="0" i="0" dirty="0">
                <a:solidFill>
                  <a:srgbClr val="888888"/>
                </a:solidFill>
                <a:latin typeface="Segoe UI"/>
              </a:rPr>
              <a:t>6:5</a:t>
            </a:r>
            <a:r>
              <a:rPr lang="ja-JP" sz="1200" b="0" i="0" dirty="0">
                <a:solidFill>
                  <a:srgbClr val="888888"/>
                </a:solidFill>
                <a:ea typeface="Meiryo"/>
              </a:rPr>
              <a:t>の比率で、頭の中の曖昧な思考、外へ出た文章カード、チェックリスト、整理された線を</a:t>
            </a:r>
            <a:r>
              <a:rPr lang="en-US" sz="1200" b="0" i="0" dirty="0">
                <a:solidFill>
                  <a:srgbClr val="888888"/>
                </a:solidFill>
                <a:latin typeface="Segoe UI"/>
              </a:rPr>
              <a:t>1</a:t>
            </a:r>
            <a:r>
              <a:rPr lang="ja-JP" sz="1200" b="0" i="0" dirty="0">
                <a:solidFill>
                  <a:srgbClr val="888888"/>
                </a:solidFill>
                <a:ea typeface="Meiryo"/>
              </a:rPr>
              <a:t>枚のビジュアルで表現する。文字なし。</a:t>
            </a:r>
          </a:p>
        </p:txBody>
      </p:sp>
      <p:sp>
        <p:nvSpPr>
          <p:cNvPr id="7" name="Rectangle 6"/>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 y="4823459"/>
            <a:ext cx="1828800" cy="274320"/>
          </a:xfrm>
          <a:prstGeom prst="rect">
            <a:avLst/>
          </a:prstGeom>
          <a:noFill/>
        </p:spPr>
        <p:txBody>
          <a:bodyPr wrap="none" anchor="ctr" lIns="0" rIns="0" tIns="0" bIns="0">
            <a:spAutoFit/>
          </a:bodyPr>
          <a:lstStyle/>
          <a:p>
            <a:fld id="{BD7EEF78-7928-4D10-90FD-A5FFE5CA1588}" type="slidenum">
              <a:rPr lang="ja-JP" smtClean="0" sz="1000">
                <a:solidFill>
                  <a:srgbClr val="888888"/>
                </a:solidFill>
              </a:rPr>
              <a:t>&lt;#&gt;</a:t>
            </a:fld>
            <a:r>
              <a:rPr lang="ja-JP" smtClean="0" sz="1000">
                <a:solidFill>
                  <a:srgbClr val="888888"/>
                </a:solidFill>
              </a:rPr>
              <a:t>/</a:t>
            </a:r>
            <a:fld id="{37223D39-5003-42A6-8823-AA62FB48B354}" type="slidecount">
              <a:rPr lang="ja-JP" smtClean="0" sz="1000">
                <a:solidFill>
                  <a:srgbClr val="888888"/>
                </a:solidFill>
              </a:rPr>
              <a:t>10</a:t>
            </a:fld>
          </a:p>
        </p:txBody>
      </p:sp>
      <p:pic>
        <p:nvPicPr>
          <p:cNvPr id="9" name="Picture 8"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77240"/>
          </a:xfrm>
          <a:prstGeom prst="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85039"/>
            <a:ext cx="8686800" cy="411480"/>
          </a:xfrm>
          <a:prstGeom prst="rect">
            <a:avLst/>
          </a:prstGeom>
          <a:noFill/>
          <a:effectLst/>
        </p:spPr>
        <p:txBody>
          <a:bodyPr wrap="square" lIns="0" rIns="0" tIns="0" bIns="0" anchor="ctr">
            <a:noAutofit/>
          </a:bodyPr>
          <a:lstStyle/>
          <a:p>
            <a:r>
              <a:rPr lang="ja-JP" sz="2400" b="1" i="0" dirty="0">
                <a:solidFill>
                  <a:srgbClr val="FFFFFF"/>
                </a:solidFill>
                <a:ea typeface="Meiryo"/>
              </a:rPr>
              <a:t>良い長文は読み手を置き去りにしない</a:t>
            </a:r>
          </a:p>
        </p:txBody>
      </p:sp>
      <p:sp>
        <p:nvSpPr>
          <p:cNvPr id="4" name="TextBox 3"/>
          <p:cNvSpPr txBox="1"/>
          <p:nvPr/>
        </p:nvSpPr>
        <p:spPr>
          <a:xfrm>
            <a:off x="228600" y="523036"/>
            <a:ext cx="8686800" cy="274320"/>
          </a:xfrm>
          <a:prstGeom prst="rect">
            <a:avLst/>
          </a:prstGeom>
          <a:noFill/>
          <a:effectLst/>
        </p:spPr>
        <p:txBody>
          <a:bodyPr wrap="square" lIns="0" rIns="0" tIns="0" bIns="0" anchor="ctr">
            <a:noAutofit/>
          </a:bodyPr>
          <a:lstStyle/>
          <a:p>
            <a:r>
              <a:rPr lang="ja-JP" sz="1200" b="0" i="0" dirty="0">
                <a:solidFill>
                  <a:srgbClr val="FFFFFF"/>
                </a:solidFill>
                <a:ea typeface="Meiryo"/>
              </a:rPr>
              <a:t>長さは目的ではなく、深く伝えるための手段である</a:t>
            </a:r>
          </a:p>
        </p:txBody>
      </p:sp>
      <p:graphicFrame>
        <p:nvGraphicFramePr>
          <p:cNvPr id="5" name="Table 4"/>
          <p:cNvGraphicFramePr>
            <a:graphicFrameLocks noGrp="1"/>
          </p:cNvGraphicFramePr>
          <p:nvPr/>
        </p:nvGraphicFramePr>
        <p:xfrm>
          <a:off x="164592" y="941832"/>
          <a:ext cx="8814816" cy="2753484"/>
        </p:xfrm>
        <a:graphic>
          <a:graphicData uri="http://schemas.openxmlformats.org/drawingml/2006/table">
            <a:tbl>
              <a:tblPr>
                <a:tableStyleId>{5C22544A-7EE6-4342-B048-85BDC9FD1C3A}</a:tableStyleId>
              </a:tblPr>
              <a:tblGrid>
                <a:gridCol w="2938272"/>
                <a:gridCol w="2938272"/>
                <a:gridCol w="2938272"/>
              </a:tblGrid>
              <a:tr h="688371">
                <a:tc>
                  <a:txBody>
                    <a:bodyPr lIns="88900" rIns="88900" tIns="38100" bIns="38100" wrap="square" anchor="ctr"/>
                    <a:lstStyle/>
                    <a:p>
                      <a:r>
                        <a:rPr lang="ja-JP" sz="1200" b="1" i="0" dirty="0">
                          <a:solidFill>
                            <a:srgbClr val="FFFFFF"/>
                          </a:solidFill>
                          <a:ea typeface="Meiryo"/>
                        </a:rPr>
                        <a:t>条件</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内容</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1" i="0" dirty="0">
                          <a:solidFill>
                            <a:srgbClr val="FFFFFF"/>
                          </a:solidFill>
                          <a:ea typeface="Meiryo"/>
                        </a:rPr>
                        <a:t>読み手への効果</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688371">
                <a:tc>
                  <a:txBody>
                    <a:bodyPr lIns="88900" rIns="88900" tIns="38100" bIns="38100" wrap="square" anchor="ctr"/>
                    <a:lstStyle/>
                    <a:p>
                      <a:r>
                        <a:rPr lang="ja-JP" sz="1200" b="1" i="0" dirty="0">
                          <a:solidFill>
                            <a:srgbClr val="FFFFFF"/>
                          </a:solidFill>
                          <a:ea typeface="Meiryo"/>
                        </a:rPr>
                        <a:t>筋道</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導入、本論、整理の流れを作る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迷わず読み進められる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688371">
                <a:tc>
                  <a:txBody>
                    <a:bodyPr lIns="88900" rIns="88900" tIns="38100" bIns="38100" wrap="square" anchor="ctr"/>
                    <a:lstStyle/>
                    <a:p>
                      <a:r>
                        <a:rPr lang="ja-JP" sz="1200" b="1" i="0" dirty="0">
                          <a:solidFill>
                            <a:srgbClr val="FFFFFF"/>
                          </a:solidFill>
                          <a:ea typeface="Meiryo"/>
                        </a:rPr>
                        <a:t>厚み</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理由、条件、例外、比較を補う</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一面的でない理解に届く</a:t>
                      </a:r>
                    </a:p>
                  </a:txBody>
                  <a:tcPr anchor="ctr">
                    <a:solidFill>
                      <a:srgbClr val="F5F5F5"/>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r h="688371">
                <a:tc>
                  <a:txBody>
                    <a:bodyPr lIns="88900" rIns="88900" tIns="38100" bIns="38100" wrap="square" anchor="ctr"/>
                    <a:lstStyle/>
                    <a:p>
                      <a:r>
                        <a:rPr lang="ja-JP" sz="1200" b="1" i="0" dirty="0">
                          <a:solidFill>
                            <a:srgbClr val="FFFFFF"/>
                          </a:solidFill>
                          <a:ea typeface="Meiryo"/>
                        </a:rPr>
                        <a:t>配慮</a:t>
                      </a:r>
                    </a:p>
                  </a:txBody>
                  <a:tcPr anchor="ctr">
                    <a:solidFill>
                      <a:srgbClr val="6B7A99"/>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見出し、段落、要約しやすさを整える</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c>
                  <a:txBody>
                    <a:bodyPr lIns="88900" rIns="88900" tIns="38100" bIns="38100" wrap="square" anchor="ctr"/>
                    <a:lstStyle/>
                    <a:p>
                      <a:r>
                        <a:rPr lang="ja-JP" sz="1200" b="0" i="0" dirty="0">
                          <a:solidFill>
                            <a:srgbClr val="333333"/>
                          </a:solidFill>
                          <a:ea typeface="Meiryo"/>
                        </a:rPr>
                        <a:t>長くても負担が小さい</a:t>
                      </a:r>
                    </a:p>
                  </a:txBody>
                  <a:tcPr anchor="ctr">
                    <a:solidFill>
                      <a:srgbClr val="FFFFFF"/>
                    </a:solidFill>
                    <a:lnL w="9525" cap="flat" cmpd="sng" algn="ctr">
                      <a:solidFill>
                        <a:srgbClr val="D0D0D0"/>
                      </a:solidFill>
                      <a:prstDash val="solid"/>
                    </a:lnL>
                    <a:lnR w="9525" cap="flat" cmpd="sng" algn="ctr">
                      <a:solidFill>
                        <a:srgbClr val="D0D0D0"/>
                      </a:solidFill>
                      <a:prstDash val="solid"/>
                    </a:lnR>
                    <a:lnT w="9525" cap="flat" cmpd="sng" algn="ctr">
                      <a:solidFill>
                        <a:srgbClr val="D0D0D0"/>
                      </a:solidFill>
                      <a:prstDash val="solid"/>
                    </a:lnT>
                    <a:lnB w="9525" cap="flat" cmpd="sng" algn="ctr">
                      <a:solidFill>
                        <a:srgbClr val="D0D0D0"/>
                      </a:solidFill>
                      <a:prstDash val="solid"/>
                    </a:lnB>
                  </a:tcPr>
                </a:tc>
              </a:tr>
            </a:tbl>
          </a:graphicData>
        </a:graphic>
      </p:graphicFrame>
      <p:sp>
        <p:nvSpPr>
          <p:cNvPr id="6" name="Rectangle 5"/>
          <p:cNvSpPr/>
          <p:nvPr/>
        </p:nvSpPr>
        <p:spPr>
          <a:xfrm>
            <a:off x="164592" y="3768471"/>
            <a:ext cx="8814816" cy="844677"/>
          </a:xfrm>
          <a:prstGeom prst="rect">
            <a:avLst/>
          </a:prstGeom>
          <a:solidFill>
            <a:srgbClr val="EEF2FF"/>
          </a:solidFill>
          <a:ln w="19050">
            <a:solidFill>
              <a:srgbClr val="6B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3768471"/>
            <a:ext cx="64008" cy="844677"/>
          </a:xfrm>
          <a:prstGeom prst="rect">
            <a:avLst/>
          </a:prstGeom>
          <a:solidFill>
            <a:srgbClr val="6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878199"/>
            <a:ext cx="8476488" cy="625221"/>
          </a:xfrm>
          <a:prstGeom prst="rect">
            <a:avLst/>
          </a:prstGeom>
          <a:noFill/>
          <a:effectLst/>
        </p:spPr>
        <p:txBody>
          <a:bodyPr wrap="square" lIns="0" rIns="0" tIns="0" bIns="0">
            <a:noAutofit/>
          </a:bodyPr>
          <a:lstStyle/>
          <a:p>
            <a:pPr>
              <a:spcBef>
                <a:spcPts val="0"/>
              </a:spcBef>
              <a:spcAft>
                <a:spcPts val="400"/>
              </a:spcAft>
              <a:buNone/>
              <a:lnSpc>
                <a:spcPts val="2160"/>
              </a:lnSpc>
            </a:pPr>
            <a:r>
              <a:rPr lang="ja-JP" sz="1200" b="0" i="0" dirty="0">
                <a:solidFill>
                  <a:srgbClr val="1A2A5A"/>
                </a:solidFill>
                <a:ea typeface="Meiryo"/>
              </a:rPr>
              <a:t>文章の長さは目的ではなく手段である。読み手が理解できる形に整えられて初めて、長文は深く伝える力を持つ。</a:t>
            </a:r>
          </a:p>
        </p:txBody>
      </p:sp>
      <p:sp>
        <p:nvSpPr>
          <p:cNvPr id="9" name="Rectangle 8"/>
          <p:cNvSpPr/>
          <p:nvPr/>
        </p:nvSpPr>
        <p:spPr>
          <a:xfrm>
            <a:off x="0" y="4777740"/>
            <a:ext cx="9144000" cy="952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4823459"/>
            <a:ext cx="1828800" cy="274320"/>
          </a:xfrm>
          <a:prstGeom prst="rect">
            <a:avLst/>
          </a:prstGeom>
          <a:noFill/>
        </p:spPr>
        <p:txBody>
          <a:bodyPr wrap="none" anchor="ctr" lIns="0" rIns="0" tIns="0" bIns="0">
            <a:spAutoFit/>
          </a:bodyPr>
          <a:lstStyle/>
          <a:p>
            <a:fld id="{975847EC-8ED7-44E2-A460-ACD4AFF82011}" type="slidenum">
              <a:rPr lang="ja-JP" smtClean="0" sz="1000">
                <a:solidFill>
                  <a:srgbClr val="888888"/>
                </a:solidFill>
              </a:rPr>
              <a:t>&lt;#&gt;</a:t>
            </a:fld>
            <a:r>
              <a:rPr lang="ja-JP" smtClean="0" sz="1000">
                <a:solidFill>
                  <a:srgbClr val="888888"/>
                </a:solidFill>
              </a:rPr>
              <a:t>/</a:t>
            </a:r>
            <a:fld id="{CF6D8442-8748-4914-AB51-4A4F606111C8}" type="slidecount">
              <a:rPr lang="ja-JP" smtClean="0" sz="1000">
                <a:solidFill>
                  <a:srgbClr val="888888"/>
                </a:solidFill>
              </a:rPr>
              <a:t>10</a:t>
            </a:fld>
          </a:p>
        </p:txBody>
      </p:sp>
      <p:pic>
        <p:nvPicPr>
          <p:cNvPr id="11" name="Picture 10" descr="logo.png"/>
          <p:cNvPicPr>
            <a:picLocks noChangeAspect="1"/>
          </p:cNvPicPr>
          <p:nvPr/>
        </p:nvPicPr>
        <p:blipFill>
          <a:blip r:embed="rId2"/>
          <a:stretch>
            <a:fillRect/>
          </a:stretch>
        </p:blipFill>
        <p:spPr>
          <a:xfrm>
            <a:off x="8001000" y="4846320"/>
            <a:ext cx="762000" cy="2286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