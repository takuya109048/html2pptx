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このデッキは、CLAUDE.mdを単なる設定ファイルではなく、Claude Codeの判断をプロジェクト基準へ揃えるルールブックとして設計するための資料である。MEMORY.mdとの役割分担、適切な情報密度、章立て、スコープ分離、運用サイクルまでを整理し、実務で使えるCLAUDE.mdの作り方を理解することが目的で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スライドで伝えたいことは、CLAUDE.mdとMEMORY.mdはどちらも文脈を扱うが、担う役割が根本的に違うという点である。CLAUDE.mdはユーザーが意図的に書く固定ルールであり、AIの行動を明確に制御する。一方、MEMORY.mdはAIが作業から学んだ傾向や好みを保持する補助記憶である。したがって、守らせたいルールはCLAUDE.mdへ置き、弱い好みや最近の作業傾向はMEMORY.mdへ任せる設計が必要で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スライドでは、CLAUDE.mdを設計する時の三つのゴールを確認する。第一に、常に守るべき重要ルールだけを厳選することである。第二に、60から300行程度の適切な密度に保ち、重要なルールが埋もれないようにすることである。第三に、プロジェクトやディレクトリごとにスコープを分け、AIが読むべき文脈を絞ることである。この三点により、AIの挙動は場当たり的な推測から、再現性のある判断へ近づく。 --- [nanobanana2 icon prompt] 3つのフラットアイコンを横一列に並べた1枚の画像を生成する。左から順に、アイコン1は不要な紙を選別するフィルター、アイコン2は適度な行数を示す文書メーター、アイコン3は階層化されたフォルダを表す。各アイコンは正方形の枠内に収まるシンプルなフラットデザイン。白背景、色統一、ミニマルスタイル、文字な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スライドでは、CLAUDE.mdに書く文の粒度を説明する。良いルールは、短く、断定調で、実行可能である。不適切な例のように「しっかり行う」と書くと、AIは何をもって完了とするかを推測する必要がある。適切な例のように具体的なコマンドと失敗時の対応まで書けば、作業計画へそのまま組み込める。つまり、CLAUDE.mdでは励ましではなく、行動可能な基準を書くべきで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スライドでは、CLAUDE.mdに入れると効果が高い七つの章立てを俯瞰する。プロジェクト概要は何を作っているかを固定し、技術スタックと禁止事項は提案の範囲を狭める。ディレクトリ構成、コマンド、規約、ワークフロー、落とし穴を続けて書くと、AIは作業前に必要な判断材料を得られる。章立ての目的は文章を整えることではなく、推測しがちな判断を事前に潰すことで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スライドで伝えたいことは、ルールの強さを置き場所で調整することである。グローバル層には個人の共通方針を置き、プロジェクト層には対象技術や危険操作の禁止を置く。ディレクトリ層にはフロントエンドやインフラのような局所ルールを置く。この分離により、AIは現在触っている作業に関係するルールだけを優先し、不要な文脈を背負わずに済む。結果として、読み込み量と判断負荷が同時に下がる。 --- [nanobanana2 icon prompt] 3つのフラットアイコンを横一列に並べた1枚の画像を生成する。左から順に、アイコン1は地球儀と共通ルール、アイコン2はリポジトリ箱と設定ファイル、アイコン3は小さなディレクトリ階層と局所ルールを表す。各アイコンは正方形の枠内に収まるシンプルなフラットデザイン。白背景、色統一、ミニマルスタイル、文字な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スライドでは、CLAUDE.mdの中身を用途別に変える重要性を説明する。WebアプリではUIライブラリやAPI呼び出しの配置が問題になりやすい。データ分析では再現性とデータ保存場所が品質を左右する。自動化スクリプトではOS、シェル、安全策、ログ出力が重要である。対象作業ごとに失敗しやすい観点を先に書くことで、AIの提案は現場の制約に合いやすくなり、手戻りも減る。 --- [nanobanana2 icon prompt] 3つのフラットアイコンを横一列に並べた1枚の画像を生成する。左から順に、アイコン1はWeb画面とAPI接続、アイコン2はデータ表と再現性のチェック印、アイコン3は自動化スクリプトと安全確認の盾を表す。各アイコンは正方形の枠内に収まるシンプルなフラットデザイン。白背景、色統一、ミニマルスタイル、文字な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スライドでは、CLAUDE.mdを一度書いて終わりにしない運用を説明する。最初のステップは、会話で同じ注意を二回繰り返したらルールへ昇格させることである。次に、古くなった技術スタックや形骸化した規約を定期的に削る。最後に、小さなタスクで変更後の振る舞いを確認する。CLAUDE.mdは増やす文書ではなく、現場の失敗と学習を反映して軽く保つ運用物である。これにより、ルールは現場の実態に追従し、形骸化を避けられる。 --- [nanobanana2 icon prompt] 3つのフラットアイコンを横一列に並べた1枚の画像を生成する。左から順に、アイコン1は指摘をルールへ昇格する上向き矢印、アイコン2は古い項目を削る整理済み文書、アイコン3は小さなテスト実行と確認マークを表す。各アイコンは正方形の枠内に収まるシンプルなフラットデザイン。白背景、色統一、ミニマルスタイル、文字な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、このデッキ全体の結論を確認する。CLAUDE.mdの目的は、AIへ大量の情報を渡すことではなく、迷いやすい判断を先に固定することである。重要ルールを厳選し、スコープを分離し、運用しながら更新することで、AIの提案と作業手順はプロジェクトの基準へ近づく。したがって、良いCLAUDE.mdは文字数の多さではなく、必要な判断をどれだけ軽くできるかで評価すべきである。 --- [nanobanana2 icon prompt] 3つのフラットアイコンを横一列に並べた1枚の画像を生成する。左から順に、アイコン1は絞り込まれた重要ルール、アイコン2は分岐したスコープ階層、アイコン3は更新循環を示す円形矢印と文書を表す。各アイコンは正方形の枠内に収まるシンプルなフラットデザイン。白背景、色統一、ミニマルスタイル、文字な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243584"/>
            <a:ext cx="5029200" cy="1234440"/>
          </a:xfrm>
          <a:prstGeom prst="rect">
            <a:avLst/>
          </a:prstGeom>
          <a:noFill/>
          <a:effectLst/>
        </p:spPr>
        <p:txBody>
          <a:bodyPr wrap="none" lIns="0" rIns="0" tIns="0" bIns="0" anchor="b">
            <a:noAutofit/>
          </a:bodyPr>
          <a:lstStyle/>
          <a:p>
            <a:pPr>
              <a:lnSpc>
                <a:spcPts val="3919"/>
              </a:lnSpc>
            </a:pPr>
            <a:r>
              <a:rPr lang="en-US" sz="2800" b="1" i="0" dirty="0">
                <a:solidFill>
                  <a:srgbClr val="000000"/>
                </a:solidFill>
                <a:latin typeface="Segoe UI"/>
              </a:rPr>
              <a:t>CLAUDE.md</a:t>
            </a:r>
            <a:r>
              <a:rPr lang="ja-JP" sz="2800" b="1" i="0" dirty="0">
                <a:solidFill>
                  <a:srgbClr val="000000"/>
                </a:solidFill>
                <a:ea typeface="Meiryo"/>
              </a:rPr>
              <a:t>設計ガイド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569464"/>
            <a:ext cx="365760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52344"/>
            <a:ext cx="502920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en-US" sz="1600" b="0" i="0" dirty="0">
                <a:solidFill>
                  <a:srgbClr val="333333"/>
                </a:solidFill>
                <a:latin typeface="Segoe UI"/>
              </a:rPr>
              <a:t>project2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72384"/>
            <a:ext cx="502920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1600" b="0" i="0" dirty="0">
                <a:solidFill>
                  <a:srgbClr val="333333"/>
                </a:solidFill>
                <a:ea typeface="Meiryo"/>
              </a:rPr>
              <a:t>山田</a:t>
            </a:r>
            <a:r>
              <a:rPr lang="en-US" sz="1600" b="0" i="0" dirty="0">
                <a:solidFill>
                  <a:srgbClr val="333333"/>
                </a:solidFill>
                <a:latin typeface="Segoe UI"/>
              </a:rPr>
              <a:t> </a:t>
            </a:r>
            <a:r>
              <a:rPr lang="ja-JP" sz="1600" b="0" i="0" dirty="0">
                <a:solidFill>
                  <a:srgbClr val="333333"/>
                </a:solidFill>
                <a:ea typeface="Meiryo"/>
              </a:rPr>
              <a:t>花子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92424"/>
            <a:ext cx="502920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en-US" sz="1600" b="0" i="0" dirty="0">
                <a:solidFill>
                  <a:srgbClr val="333333"/>
                </a:solidFill>
                <a:latin typeface="Segoe UI"/>
              </a:rPr>
              <a:t>2026-04-28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85039"/>
            <a:ext cx="868680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en-US" sz="2400" b="1" i="0" dirty="0">
                <a:solidFill>
                  <a:srgbClr val="FFFFFF"/>
                </a:solidFill>
                <a:latin typeface="Segoe UI"/>
              </a:rPr>
              <a:t>CLAUDE.md</a:t>
            </a:r>
            <a:r>
              <a:rPr lang="ja-JP" sz="2400" b="1" i="0" dirty="0">
                <a:solidFill>
                  <a:srgbClr val="FFFFFF"/>
                </a:solidFill>
                <a:ea typeface="Meiryo"/>
              </a:rPr>
              <a:t>は固定ルール、</a:t>
            </a:r>
            <a:r>
              <a:rPr lang="en-US" sz="2400" b="1" i="0" dirty="0">
                <a:solidFill>
                  <a:srgbClr val="FFFFFF"/>
                </a:solidFill>
                <a:latin typeface="Segoe UI"/>
              </a:rPr>
              <a:t>MEMORY.md</a:t>
            </a:r>
            <a:r>
              <a:rPr lang="ja-JP" sz="2400" b="1" i="0" dirty="0">
                <a:solidFill>
                  <a:srgbClr val="FFFFFF"/>
                </a:solidFill>
                <a:ea typeface="Meiryo"/>
              </a:rPr>
              <a:t>は学習記録である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23036"/>
            <a:ext cx="86868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1200" b="0" i="0" dirty="0">
                <a:solidFill>
                  <a:srgbClr val="FFFFFF"/>
                </a:solidFill>
                <a:ea typeface="Meiryo"/>
              </a:rPr>
              <a:t>強制したい前提と、弱い好みを混ぜないことが重要である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" y="1033272"/>
            <a:ext cx="3913632" cy="3488435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buNone/>
              <a:lnSpc>
                <a:spcPts val="1679"/>
              </a:lnSpc>
            </a:pPr>
            <a:r>
              <a:rPr lang="en-US" sz="1200" b="1" i="0" dirty="0">
                <a:solidFill>
                  <a:srgbClr val="333333"/>
                </a:solidFill>
                <a:latin typeface="Segoe UI"/>
              </a:rPr>
              <a:t>CLAUDE.md</a:t>
            </a:r>
          </a:p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2160"/>
              </a:lnSpc>
            </a:pPr>
            <a:r>
              <a:rPr lang="ja-JP" sz="1200" b="0" i="0" dirty="0">
                <a:solidFill>
                  <a:srgbClr val="333333"/>
                </a:solidFill>
                <a:ea typeface="Meiryo"/>
              </a:rPr>
              <a:t>セッション開始時に読み込まれる固定の行動基準である。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2160"/>
              </a:lnSpc>
            </a:pPr>
            <a:r>
              <a:rPr lang="ja-JP" sz="1200" b="0" i="0" dirty="0">
                <a:solidFill>
                  <a:srgbClr val="333333"/>
                </a:solidFill>
                <a:ea typeface="Meiryo"/>
              </a:rPr>
              <a:t>プロジェクトで必ず守る前提を明文化し、判断のぶれを減らす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2160"/>
              </a:lnSpc>
            </a:pPr>
            <a:r>
              <a:rPr lang="ja-JP" sz="1200" b="0" i="0" dirty="0">
                <a:solidFill>
                  <a:srgbClr val="333333"/>
                </a:solidFill>
                <a:ea typeface="Meiryo"/>
              </a:rPr>
              <a:t>コーディング規約や禁止操作など、逸脱すると危険な内容を置く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2160"/>
              </a:lnSpc>
            </a:pPr>
            <a:r>
              <a:rPr lang="ja-JP" sz="1200" b="0" i="0" dirty="0">
                <a:solidFill>
                  <a:srgbClr val="333333"/>
                </a:solidFill>
                <a:ea typeface="Meiryo"/>
              </a:rPr>
              <a:t>会話で済む単発希望は入れず、繰り返す指示だけを継続ルールへ昇格させる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37176" y="1033272"/>
            <a:ext cx="3913632" cy="3488435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buNone/>
              <a:lnSpc>
                <a:spcPts val="1679"/>
              </a:lnSpc>
            </a:pPr>
            <a:r>
              <a:rPr lang="en-US" sz="1200" b="1" i="0" dirty="0">
                <a:solidFill>
                  <a:srgbClr val="333333"/>
                </a:solidFill>
                <a:latin typeface="Segoe UI"/>
              </a:rPr>
              <a:t>MEMORY.md / Auto memory</a:t>
            </a:r>
          </a:p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2160"/>
              </a:lnSpc>
            </a:pPr>
            <a:r>
              <a:rPr lang="en-US" sz="1200" b="0" i="0" dirty="0">
                <a:solidFill>
                  <a:srgbClr val="333333"/>
                </a:solidFill>
                <a:latin typeface="Segoe UI"/>
              </a:rPr>
              <a:t>AI</a:t>
            </a:r>
            <a:r>
              <a:rPr lang="ja-JP" sz="1200" b="0" i="0" dirty="0">
                <a:solidFill>
                  <a:srgbClr val="333333"/>
                </a:solidFill>
                <a:ea typeface="Meiryo"/>
              </a:rPr>
              <a:t>が作業から学んだ傾向を補助的に保持する記録領域である。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2160"/>
              </a:lnSpc>
            </a:pPr>
            <a:r>
              <a:rPr lang="ja-JP" sz="1200" b="0" i="0" dirty="0">
                <a:solidFill>
                  <a:srgbClr val="333333"/>
                </a:solidFill>
                <a:ea typeface="Meiryo"/>
              </a:rPr>
              <a:t>よく使う進め方や命名の傾向など、弱い好みを蓄積する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2160"/>
              </a:lnSpc>
            </a:pPr>
            <a:r>
              <a:rPr lang="ja-JP" sz="1200" b="0" i="0" dirty="0">
                <a:solidFill>
                  <a:srgbClr val="333333"/>
                </a:solidFill>
                <a:ea typeface="Meiryo"/>
              </a:rPr>
              <a:t>最近の失敗や対処ログを残し、次回の探索と確認のコストを下げる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2160"/>
              </a:lnSpc>
            </a:pPr>
            <a:r>
              <a:rPr lang="ja-JP" sz="1200" b="0" i="0" dirty="0">
                <a:solidFill>
                  <a:srgbClr val="333333"/>
                </a:solidFill>
                <a:ea typeface="Meiryo"/>
              </a:rPr>
              <a:t>強制力は持たせず、判断を助ける参考情報として慎重に扱う領域である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77740"/>
            <a:ext cx="9144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4823459"/>
            <a:ext cx="18288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fld id="{B42C579C-2DB6-4B07-B6E0-4A2C88428FE3}" type="slidenum">
              <a:rPr lang="ja-JP" smtClean="0" sz="1000">
                <a:solidFill>
                  <a:srgbClr val="888888"/>
                </a:solidFill>
              </a:rPr>
              <a:t>&lt;#&gt;</a:t>
            </a:fld>
            <a:r>
              <a:rPr lang="ja-JP" smtClean="0" sz="1000">
                <a:solidFill>
                  <a:srgbClr val="888888"/>
                </a:solidFill>
              </a:rPr>
              <a:t>/</a:t>
            </a:r>
            <a:fld id="{9D490F3B-078A-44E6-9562-ADD0C5ACADB2}" type="slidecount">
              <a:rPr lang="ja-JP" smtClean="0" sz="1000">
                <a:solidFill>
                  <a:srgbClr val="888888"/>
                </a:solidFill>
              </a:rPr>
              <a:t>9</a:t>
            </a:fld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846320"/>
            <a:ext cx="762000" cy="22860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85039"/>
            <a:ext cx="868680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2400" b="1" i="0" dirty="0">
                <a:solidFill>
                  <a:srgbClr val="FFFFFF"/>
                </a:solidFill>
                <a:ea typeface="Meiryo"/>
              </a:rPr>
              <a:t>設計ゴールは厳選・密度・分離の</a:t>
            </a:r>
            <a:r>
              <a:rPr lang="en-US" sz="2400" b="1" i="0" dirty="0">
                <a:solidFill>
                  <a:srgbClr val="FFFFFF"/>
                </a:solidFill>
                <a:latin typeface="Segoe UI"/>
              </a:rPr>
              <a:t>3</a:t>
            </a:r>
            <a:r>
              <a:rPr lang="ja-JP" sz="2400" b="1" i="0" dirty="0">
                <a:solidFill>
                  <a:srgbClr val="FFFFFF"/>
                </a:solidFill>
                <a:ea typeface="Meiryo"/>
              </a:rPr>
              <a:t>つである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23036"/>
            <a:ext cx="86868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1200" b="0" i="0" dirty="0">
                <a:solidFill>
                  <a:srgbClr val="FFFFFF"/>
                </a:solidFill>
                <a:ea typeface="Meiryo"/>
              </a:rPr>
              <a:t>ルールを増やすほど良くなるわけではない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941832"/>
            <a:ext cx="2889504" cy="3671315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1" y="1051560"/>
            <a:ext cx="2615184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r>
              <a:rPr lang="ja-JP" sz="1400" b="1" i="0" dirty="0">
                <a:solidFill>
                  <a:srgbClr val="333333"/>
                </a:solidFill>
                <a:ea typeface="Meiryo"/>
              </a:rPr>
              <a:t>厳選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1" y="1307592"/>
            <a:ext cx="2615184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1" y="1380744"/>
            <a:ext cx="2615184" cy="3122675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常に守るルールだけを残し、判断負荷を下げる設計である。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重要でない注意は会話で扱い、固定ルールへ入れず軽さを保つ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2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回繰り返した指摘だけ、継続ルールとして昇格させる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ルール過多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 → 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読み飛ばしと優先順位の混乱を招く</a:t>
            </a:r>
          </a:p>
        </p:txBody>
      </p:sp>
      <p:sp>
        <p:nvSpPr>
          <p:cNvPr id="9" name="Rectangle 8"/>
          <p:cNvSpPr/>
          <p:nvPr/>
        </p:nvSpPr>
        <p:spPr>
          <a:xfrm>
            <a:off x="3127248" y="941832"/>
            <a:ext cx="2889504" cy="3671315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4408" y="1051560"/>
            <a:ext cx="2615184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r>
              <a:rPr lang="ja-JP" sz="1400" b="1" i="0" dirty="0">
                <a:solidFill>
                  <a:srgbClr val="333333"/>
                </a:solidFill>
                <a:ea typeface="Meiryo"/>
              </a:rPr>
              <a:t>密度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307592"/>
            <a:ext cx="2615184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4408" y="1380744"/>
            <a:ext cx="2615184" cy="3122675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短く具体的な文で、読み返しやすく保つ。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60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〜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300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行を目安にし、長文説明より判断条件を優先する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抽象的な理想ではなく、実行できるコマンドや判断条件を具体化する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何を変え、何を禁止するかを一文単位で明確に示す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9904" y="941832"/>
            <a:ext cx="2889504" cy="3671315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7064" y="1051560"/>
            <a:ext cx="2615184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r>
              <a:rPr lang="ja-JP" sz="1400" b="1" i="0" dirty="0">
                <a:solidFill>
                  <a:srgbClr val="333333"/>
                </a:solidFill>
                <a:ea typeface="Meiryo"/>
              </a:rPr>
              <a:t>分離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7064" y="1307592"/>
            <a:ext cx="2615184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380744"/>
            <a:ext cx="2615184" cy="3122675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必要な場所にだけ効くルールへ分ける。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全体方針と局所ルールを混ぜず、読み込み範囲を小さくする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frontend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や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infra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など、作業領域ごとに判断基準を置く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関係ない文脈を読ませないことで、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AI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へのノイズを減らす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777740"/>
            <a:ext cx="9144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4823459"/>
            <a:ext cx="18288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fld id="{F1FDB997-4E0A-4BC1-8344-3E8132476FCD}" type="slidenum">
              <a:rPr lang="ja-JP" smtClean="0" sz="1000">
                <a:solidFill>
                  <a:srgbClr val="888888"/>
                </a:solidFill>
              </a:rPr>
              <a:t>&lt;#&gt;</a:t>
            </a:fld>
            <a:r>
              <a:rPr lang="ja-JP" smtClean="0" sz="1000">
                <a:solidFill>
                  <a:srgbClr val="888888"/>
                </a:solidFill>
              </a:rPr>
              <a:t>/</a:t>
            </a:r>
            <a:fld id="{E72A7138-FC6F-490B-A13F-CA5046CAFEBF}" type="slidecount">
              <a:rPr lang="ja-JP" smtClean="0" sz="1000">
                <a:solidFill>
                  <a:srgbClr val="888888"/>
                </a:solidFill>
              </a:rPr>
              <a:t>9</a:t>
            </a:fld>
          </a:p>
        </p:txBody>
      </p:sp>
      <p:pic>
        <p:nvPicPr>
          <p:cNvPr id="19" name="Picture 1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846320"/>
            <a:ext cx="762000" cy="22860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85039"/>
            <a:ext cx="868680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2400" b="1" i="0" dirty="0">
                <a:solidFill>
                  <a:srgbClr val="FFFFFF"/>
                </a:solidFill>
                <a:ea typeface="Meiryo"/>
              </a:rPr>
              <a:t>良いルールは実行可能な</a:t>
            </a:r>
            <a:r>
              <a:rPr lang="en-US" sz="2400" b="1" i="0" dirty="0">
                <a:solidFill>
                  <a:srgbClr val="FFFFFF"/>
                </a:solidFill>
                <a:latin typeface="Segoe UI"/>
              </a:rPr>
              <a:t>1</a:t>
            </a:r>
            <a:r>
              <a:rPr lang="ja-JP" sz="2400" b="1" i="0" dirty="0">
                <a:solidFill>
                  <a:srgbClr val="FFFFFF"/>
                </a:solidFill>
                <a:ea typeface="Meiryo"/>
              </a:rPr>
              <a:t>文である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23036"/>
            <a:ext cx="86868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1200" b="0" i="0" dirty="0">
                <a:solidFill>
                  <a:srgbClr val="FFFFFF"/>
                </a:solidFill>
                <a:ea typeface="Meiryo"/>
              </a:rPr>
              <a:t>抽象的な注意を、行動と完了条件へ変換する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4592" y="941832"/>
          <a:ext cx="8814816" cy="27534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3704"/>
                <a:gridCol w="2203704"/>
                <a:gridCol w="2203704"/>
                <a:gridCol w="2203704"/>
              </a:tblGrid>
              <a:tr h="550697"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1" i="0" dirty="0">
                          <a:solidFill>
                            <a:srgbClr val="FFFFFF"/>
                          </a:solidFill>
                          <a:ea typeface="Meiryo"/>
                        </a:rPr>
                        <a:t>観点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1" i="0" dirty="0">
                          <a:solidFill>
                            <a:srgbClr val="FFFFFF"/>
                          </a:solidFill>
                          <a:ea typeface="Meiryo"/>
                        </a:rPr>
                        <a:t>不適切な書き方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1" i="0" dirty="0">
                          <a:solidFill>
                            <a:srgbClr val="FFFFFF"/>
                          </a:solidFill>
                          <a:ea typeface="Meiryo"/>
                        </a:rPr>
                        <a:t>適切な書き方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1" i="0" dirty="0">
                          <a:solidFill>
                            <a:srgbClr val="FFFFFF"/>
                          </a:solidFill>
                          <a:ea typeface="Meiryo"/>
                        </a:rPr>
                        <a:t>変わる効果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550697"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1" i="0" dirty="0">
                          <a:solidFill>
                            <a:srgbClr val="FFFFFF"/>
                          </a:solidFill>
                          <a:ea typeface="Meiryo"/>
                        </a:rPr>
                        <a:t>テスト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テストはしっかり行う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変更後は</a:t>
                      </a:r>
                      <a:r>
                        <a:rPr lang="en-US" sz="1200" b="0" i="0" dirty="0">
                          <a:solidFill>
                            <a:srgbClr val="333333"/>
                          </a:solidFill>
                          <a:latin typeface="Consolas"/>
                        </a:rPr>
                        <a:t>pnpm test</a:t>
                      </a:r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を実行し、失敗を全件修正する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完了条件が明確になる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550697"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1" i="0" dirty="0">
                          <a:solidFill>
                            <a:srgbClr val="FFFFFF"/>
                          </a:solidFill>
                          <a:ea typeface="Meiryo"/>
                        </a:rPr>
                        <a:t>安全性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危険な操作に注意する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破壊的操作は</a:t>
                      </a:r>
                      <a:r>
                        <a:rPr lang="en-US" sz="1200" b="0" i="0" dirty="0">
                          <a:solidFill>
                            <a:srgbClr val="333333"/>
                          </a:solidFill>
                          <a:latin typeface="Segoe UI"/>
                        </a:rPr>
                        <a:t>dry-run</a:t>
                      </a:r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を用意し、本番前に確認する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実行前の停止点ができる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550697"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1" i="0" dirty="0">
                          <a:solidFill>
                            <a:srgbClr val="FFFFFF"/>
                          </a:solidFill>
                          <a:ea typeface="Meiryo"/>
                        </a:rPr>
                        <a:t>文体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分かりやすく書く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en-US" sz="1200" b="0" i="0" dirty="0">
                          <a:solidFill>
                            <a:srgbClr val="333333"/>
                          </a:solidFill>
                          <a:latin typeface="Segoe UI"/>
                        </a:rPr>
                        <a:t>1</a:t>
                      </a:r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ルール</a:t>
                      </a:r>
                      <a:r>
                        <a:rPr lang="en-US" sz="1200" b="0" i="0" dirty="0">
                          <a:solidFill>
                            <a:srgbClr val="333333"/>
                          </a:solidFill>
                          <a:latin typeface="Segoe UI"/>
                        </a:rPr>
                        <a:t>1</a:t>
                      </a:r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文で、断定調の実行指示にする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読み飛ばしを防ぐ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550697"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1" i="0" dirty="0">
                          <a:solidFill>
                            <a:srgbClr val="FFFFFF"/>
                          </a:solidFill>
                          <a:ea typeface="Meiryo"/>
                        </a:rPr>
                        <a:t>スコープ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必要な時だけ読む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en-US" sz="1200" b="0" i="0" dirty="0">
                          <a:solidFill>
                            <a:srgbClr val="333333"/>
                          </a:solidFill>
                          <a:latin typeface="Segoe UI"/>
                        </a:rPr>
                        <a:t>frontend</a:t>
                      </a:r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配下では</a:t>
                      </a:r>
                      <a:r>
                        <a:rPr lang="en-US" sz="1200" b="0" i="0" dirty="0">
                          <a:solidFill>
                            <a:srgbClr val="333333"/>
                          </a:solidFill>
                          <a:latin typeface="Consolas"/>
                        </a:rPr>
                        <a:t>.claude/rules/frontend.md</a:t>
                      </a:r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を優先する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ノイズが減る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64592" y="3768471"/>
            <a:ext cx="8814816" cy="844677"/>
          </a:xfrm>
          <a:prstGeom prst="rect">
            <a:avLst/>
          </a:prstGeom>
          <a:solidFill>
            <a:srgbClr val="EEF2FF"/>
          </a:solidFill>
          <a:ln w="19050">
            <a:solidFill>
              <a:srgbClr val="6B7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3768471"/>
            <a:ext cx="64008" cy="844677"/>
          </a:xfrm>
          <a:prstGeom prst="rect">
            <a:avLst/>
          </a:prstGeom>
          <a:solidFill>
            <a:srgbClr val="6B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878199"/>
            <a:ext cx="8476488" cy="625221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2160"/>
              </a:lnSpc>
            </a:pPr>
            <a:r>
              <a:rPr lang="en-US" sz="1200" b="0" i="0" dirty="0">
                <a:solidFill>
                  <a:srgbClr val="1A2A5A"/>
                </a:solidFill>
                <a:latin typeface="Segoe UI"/>
              </a:rPr>
              <a:t>CLAUDE.md</a:t>
            </a:r>
            <a:r>
              <a:rPr lang="ja-JP" sz="1200" b="0" i="0" dirty="0">
                <a:solidFill>
                  <a:srgbClr val="1A2A5A"/>
                </a:solidFill>
                <a:ea typeface="Meiryo"/>
              </a:rPr>
              <a:t>の文は、</a:t>
            </a:r>
            <a:r>
              <a:rPr lang="en-US" sz="1200" b="0" i="0" dirty="0">
                <a:solidFill>
                  <a:srgbClr val="1A2A5A"/>
                </a:solidFill>
                <a:latin typeface="Segoe UI"/>
              </a:rPr>
              <a:t>AI</a:t>
            </a:r>
            <a:r>
              <a:rPr lang="ja-JP" sz="1200" b="0" i="0" dirty="0">
                <a:solidFill>
                  <a:srgbClr val="1A2A5A"/>
                </a:solidFill>
                <a:ea typeface="Meiryo"/>
              </a:rPr>
              <a:t>がそのまま作業計画へ入れられる粒度で書くべきである。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777740"/>
            <a:ext cx="9144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4823459"/>
            <a:ext cx="18288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fld id="{48C8594B-4E0E-498C-835A-0A4050735DFB}" type="slidenum">
              <a:rPr lang="ja-JP" smtClean="0" sz="1000">
                <a:solidFill>
                  <a:srgbClr val="888888"/>
                </a:solidFill>
              </a:rPr>
              <a:t>&lt;#&gt;</a:t>
            </a:fld>
            <a:r>
              <a:rPr lang="ja-JP" smtClean="0" sz="1000">
                <a:solidFill>
                  <a:srgbClr val="888888"/>
                </a:solidFill>
              </a:rPr>
              <a:t>/</a:t>
            </a:r>
            <a:fld id="{9728A10C-79C2-4DC9-8A02-73A7A16E3030}" type="slidecount">
              <a:rPr lang="ja-JP" smtClean="0" sz="1000">
                <a:solidFill>
                  <a:srgbClr val="888888"/>
                </a:solidFill>
              </a:rPr>
              <a:t>9</a:t>
            </a:fld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846320"/>
            <a:ext cx="762000" cy="22860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85039"/>
            <a:ext cx="868680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2400" b="1" i="0" dirty="0">
                <a:solidFill>
                  <a:srgbClr val="FFFFFF"/>
                </a:solidFill>
                <a:ea typeface="Meiryo"/>
              </a:rPr>
              <a:t>推奨章立ては</a:t>
            </a:r>
            <a:r>
              <a:rPr lang="en-US" sz="2400" b="1" i="0" dirty="0">
                <a:solidFill>
                  <a:srgbClr val="FFFFFF"/>
                </a:solidFill>
                <a:latin typeface="Segoe UI"/>
              </a:rPr>
              <a:t>7</a:t>
            </a:r>
            <a:r>
              <a:rPr lang="ja-JP" sz="2400" b="1" i="0" dirty="0">
                <a:solidFill>
                  <a:srgbClr val="FFFFFF"/>
                </a:solidFill>
                <a:ea typeface="Meiryo"/>
              </a:rPr>
              <a:t>領域で構成する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23036"/>
            <a:ext cx="86868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en-US" sz="1200" b="0" i="0" dirty="0">
                <a:solidFill>
                  <a:srgbClr val="FFFFFF"/>
                </a:solidFill>
                <a:latin typeface="Segoe UI"/>
              </a:rPr>
              <a:t>AI</a:t>
            </a:r>
            <a:r>
              <a:rPr lang="ja-JP" sz="1200" b="0" i="0" dirty="0">
                <a:solidFill>
                  <a:srgbClr val="FFFFFF"/>
                </a:solidFill>
                <a:ea typeface="Meiryo"/>
              </a:rPr>
              <a:t>が迷いやすい判断を先回りして埋める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4592" y="941832"/>
          <a:ext cx="8814816" cy="27534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3704"/>
                <a:gridCol w="2203704"/>
                <a:gridCol w="2203704"/>
                <a:gridCol w="2203704"/>
              </a:tblGrid>
              <a:tr h="550697"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1" i="0" dirty="0">
                          <a:solidFill>
                            <a:srgbClr val="FFFFFF"/>
                          </a:solidFill>
                          <a:ea typeface="Meiryo"/>
                        </a:rPr>
                        <a:t>領域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1" i="0" dirty="0">
                          <a:solidFill>
                            <a:srgbClr val="FFFFFF"/>
                          </a:solidFill>
                          <a:ea typeface="Meiryo"/>
                        </a:rPr>
                        <a:t>書く内容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Segoe UI"/>
                        </a:rPr>
                        <a:t>AI</a:t>
                      </a:r>
                      <a:r>
                        <a:rPr lang="ja-JP" sz="1200" b="1" i="0" dirty="0">
                          <a:solidFill>
                            <a:srgbClr val="FFFFFF"/>
                          </a:solidFill>
                          <a:ea typeface="Meiryo"/>
                        </a:rPr>
                        <a:t>が迷う点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1" i="0" dirty="0">
                          <a:solidFill>
                            <a:srgbClr val="FFFFFF"/>
                          </a:solidFill>
                          <a:ea typeface="Meiryo"/>
                        </a:rPr>
                        <a:t>期待効果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550697"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1" i="0" dirty="0">
                          <a:solidFill>
                            <a:srgbClr val="FFFFFF"/>
                          </a:solidFill>
                          <a:ea typeface="Meiryo"/>
                        </a:rPr>
                        <a:t>概要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目的・ユーザー・非機能要件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何を優先するか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提案の軸が揃う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550697"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1" i="0" dirty="0">
                          <a:solidFill>
                            <a:srgbClr val="FFFFFF"/>
                          </a:solidFill>
                          <a:ea typeface="Meiryo"/>
                        </a:rPr>
                        <a:t>技術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言語・</a:t>
                      </a:r>
                      <a:r>
                        <a:rPr lang="en-US" sz="1200" b="0" i="0" dirty="0">
                          <a:solidFill>
                            <a:srgbClr val="333333"/>
                          </a:solidFill>
                          <a:latin typeface="Segoe UI"/>
                        </a:rPr>
                        <a:t>FW</a:t>
                      </a:r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・禁止ライブラリ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何を追加してよいか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勝手な採用を防ぐ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550697"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1" i="0" dirty="0">
                          <a:solidFill>
                            <a:srgbClr val="FFFFFF"/>
                          </a:solidFill>
                          <a:ea typeface="Meiryo"/>
                        </a:rPr>
                        <a:t>構成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主要ディレクトリと責務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どこを編集するか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探索時間が減る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550697"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1" i="0" dirty="0">
                          <a:solidFill>
                            <a:srgbClr val="FFFFFF"/>
                          </a:solidFill>
                          <a:ea typeface="Meiryo"/>
                        </a:rPr>
                        <a:t>運用</a:t>
                      </a:r>
                    </a:p>
                  </a:txBody>
                  <a:tcPr anchor="ctr">
                    <a:solidFill>
                      <a:srgbClr val="6B7A99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テスト・</a:t>
                      </a:r>
                      <a:r>
                        <a:rPr lang="en-US" sz="1200" b="0" i="0" dirty="0">
                          <a:solidFill>
                            <a:srgbClr val="333333"/>
                          </a:solidFill>
                          <a:latin typeface="Segoe UI"/>
                        </a:rPr>
                        <a:t>lint</a:t>
                      </a:r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・完了条件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いつ終わりか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lIns="88900" rIns="88900" tIns="38100" bIns="38100" wrap="square" anchor="ctr"/>
                    <a:lstStyle/>
                    <a:p>
                      <a:r>
                        <a:rPr lang="ja-JP" sz="1200" b="0" i="0" dirty="0">
                          <a:solidFill>
                            <a:srgbClr val="333333"/>
                          </a:solidFill>
                          <a:ea typeface="Meiryo"/>
                        </a:rPr>
                        <a:t>品質が安定する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9525" cap="flat" cmpd="sng" algn="ctr">
                      <a:solidFill>
                        <a:srgbClr val="D0D0D0"/>
                      </a:solidFill>
                      <a:prstDash val="soli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64592" y="3768471"/>
            <a:ext cx="8814816" cy="844677"/>
          </a:xfrm>
          <a:prstGeom prst="rect">
            <a:avLst/>
          </a:prstGeom>
          <a:solidFill>
            <a:srgbClr val="EEF2FF"/>
          </a:solidFill>
          <a:ln w="19050">
            <a:solidFill>
              <a:srgbClr val="6B7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3768471"/>
            <a:ext cx="64008" cy="844677"/>
          </a:xfrm>
          <a:prstGeom prst="rect">
            <a:avLst/>
          </a:prstGeom>
          <a:solidFill>
            <a:srgbClr val="6B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878199"/>
            <a:ext cx="8476488" cy="625221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2160"/>
              </a:lnSpc>
            </a:pPr>
            <a:r>
              <a:rPr lang="ja-JP" sz="1200" b="0" i="0" dirty="0">
                <a:solidFill>
                  <a:srgbClr val="1A2A5A"/>
                </a:solidFill>
                <a:ea typeface="Meiryo"/>
              </a:rPr>
              <a:t>章立ては、</a:t>
            </a:r>
            <a:r>
              <a:rPr lang="en-US" sz="1200" b="0" i="0" dirty="0">
                <a:solidFill>
                  <a:srgbClr val="1A2A5A"/>
                </a:solidFill>
                <a:latin typeface="Segoe UI"/>
              </a:rPr>
              <a:t>AI</a:t>
            </a:r>
            <a:r>
              <a:rPr lang="ja-JP" sz="1200" b="0" i="0" dirty="0">
                <a:solidFill>
                  <a:srgbClr val="1A2A5A"/>
                </a:solidFill>
                <a:ea typeface="Meiryo"/>
              </a:rPr>
              <a:t>が作業前に読む判断地図である。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777740"/>
            <a:ext cx="9144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4823459"/>
            <a:ext cx="18288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fld id="{10F7C78E-D47C-4F5C-837B-BEABF63BA0AD}" type="slidenum">
              <a:rPr lang="ja-JP" smtClean="0" sz="1000">
                <a:solidFill>
                  <a:srgbClr val="888888"/>
                </a:solidFill>
              </a:rPr>
              <a:t>&lt;#&gt;</a:t>
            </a:fld>
            <a:r>
              <a:rPr lang="ja-JP" smtClean="0" sz="1000">
                <a:solidFill>
                  <a:srgbClr val="888888"/>
                </a:solidFill>
              </a:rPr>
              <a:t>/</a:t>
            </a:r>
            <a:fld id="{C9296D4A-A46B-4DB1-BA40-3DD9304C8572}" type="slidecount">
              <a:rPr lang="ja-JP" smtClean="0" sz="1000">
                <a:solidFill>
                  <a:srgbClr val="888888"/>
                </a:solidFill>
              </a:rPr>
              <a:t>9</a:t>
            </a:fld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846320"/>
            <a:ext cx="762000" cy="22860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85039"/>
            <a:ext cx="868680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2400" b="1" i="0" dirty="0">
                <a:solidFill>
                  <a:srgbClr val="FFFFFF"/>
                </a:solidFill>
                <a:ea typeface="Meiryo"/>
              </a:rPr>
              <a:t>スコープは</a:t>
            </a:r>
            <a:r>
              <a:rPr lang="en-US" sz="2400" b="1" i="0" dirty="0">
                <a:solidFill>
                  <a:srgbClr val="FFFFFF"/>
                </a:solidFill>
                <a:latin typeface="Segoe UI"/>
              </a:rPr>
              <a:t>3</a:t>
            </a:r>
            <a:r>
              <a:rPr lang="ja-JP" sz="2400" b="1" i="0" dirty="0">
                <a:solidFill>
                  <a:srgbClr val="FFFFFF"/>
                </a:solidFill>
                <a:ea typeface="Meiryo"/>
              </a:rPr>
              <a:t>レイヤーで切る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23036"/>
            <a:ext cx="86868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1200" b="0" i="0" dirty="0">
                <a:solidFill>
                  <a:srgbClr val="FFFFFF"/>
                </a:solidFill>
                <a:ea typeface="Meiryo"/>
              </a:rPr>
              <a:t>全体・プロジェクト・ディレクトリを分けて効かせる</a:t>
            </a:r>
          </a:p>
        </p:txBody>
      </p:sp>
      <p:sp>
        <p:nvSpPr>
          <p:cNvPr id="5" name="Step5"/>
          <p:cNvSpPr/>
          <p:nvPr/>
        </p:nvSpPr>
        <p:spPr>
          <a:xfrm>
            <a:off x="164592" y="941832"/>
            <a:ext cx="2889504" cy="959205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88000" y="0"/>
                </a:lnTo>
                <a:lnTo>
                  <a:pt x="100000" y="50000"/>
                </a:lnTo>
                <a:lnTo>
                  <a:pt x="88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0D0D0"/>
          </a:solidFill>
          <a:ln w="9525">
            <a:solidFill>
              <a:srgbClr val="CCCCCC"/>
            </a:solidFill>
          </a:ln>
          <a:effectLst/>
        </p:spPr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1" y="941832"/>
            <a:ext cx="2456078" cy="95920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1400" b="1" i="0" dirty="0">
                <a:solidFill>
                  <a:srgbClr val="333333"/>
                </a:solidFill>
                <a:ea typeface="Meiryo"/>
              </a:rPr>
              <a:t>グローバル</a:t>
            </a:r>
          </a:p>
        </p:txBody>
      </p:sp>
      <p:sp>
        <p:nvSpPr>
          <p:cNvPr id="7" name="Step7"/>
          <p:cNvSpPr/>
          <p:nvPr/>
        </p:nvSpPr>
        <p:spPr>
          <a:xfrm>
            <a:off x="3127248" y="941832"/>
            <a:ext cx="2889504" cy="959205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88000" y="0"/>
                </a:lnTo>
                <a:lnTo>
                  <a:pt x="100000" y="50000"/>
                </a:lnTo>
                <a:lnTo>
                  <a:pt x="88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0D0D0"/>
          </a:solidFill>
          <a:ln w="9525">
            <a:solidFill>
              <a:srgbClr val="CCCCCC"/>
            </a:solidFill>
          </a:ln>
          <a:effectLst/>
        </p:spPr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264408" y="941832"/>
            <a:ext cx="2456078" cy="95920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1400" b="1" i="0" dirty="0">
                <a:solidFill>
                  <a:srgbClr val="333333"/>
                </a:solidFill>
                <a:ea typeface="Meiryo"/>
              </a:rPr>
              <a:t>プロジェクト</a:t>
            </a:r>
          </a:p>
        </p:txBody>
      </p:sp>
      <p:sp>
        <p:nvSpPr>
          <p:cNvPr id="9" name="Step9"/>
          <p:cNvSpPr/>
          <p:nvPr/>
        </p:nvSpPr>
        <p:spPr>
          <a:xfrm>
            <a:off x="6089904" y="941832"/>
            <a:ext cx="2889504" cy="959205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88000" y="0"/>
                </a:lnTo>
                <a:lnTo>
                  <a:pt x="100000" y="50000"/>
                </a:lnTo>
                <a:lnTo>
                  <a:pt x="88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0D0D0"/>
          </a:solidFill>
          <a:ln w="9525">
            <a:solidFill>
              <a:srgbClr val="CCCCCC"/>
            </a:solidFill>
          </a:ln>
          <a:effectLst/>
        </p:spPr>
        <p:txBody>
          <a:bodyPr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27064" y="941832"/>
            <a:ext cx="2456078" cy="95920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1400" b="1" i="0" dirty="0">
                <a:solidFill>
                  <a:srgbClr val="333333"/>
                </a:solidFill>
                <a:ea typeface="Meiryo"/>
              </a:rPr>
              <a:t>ディレクトリ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1974189"/>
            <a:ext cx="2889504" cy="263895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1" y="2083917"/>
            <a:ext cx="2615184" cy="2419502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全プロジェクト共通の作法である。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日本語回答やテスト重視など、横断方針を固定する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変えない好みだけを置き、案件固有の前提は避ける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27248" y="1974189"/>
            <a:ext cx="2889504" cy="263895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4408" y="2083917"/>
            <a:ext cx="2615184" cy="2419502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対象リポジトリの基準である。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技術スタックと禁止操作を定義し、提案範囲を絞る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本番環境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 → 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上書き不可など、重大事故の条件を書く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9904" y="1974189"/>
            <a:ext cx="2889504" cy="263895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2083917"/>
            <a:ext cx="2615184" cy="2419502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局所ルールを必要箇所へ寄せる。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UI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とインフラで判断基準を分け、関係ない指示を読ませない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作業領域に近いルールほど、具体的な手順まで書く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777740"/>
            <a:ext cx="9144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4823459"/>
            <a:ext cx="18288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fld id="{82219CED-64C4-4F27-A917-E299F0943A35}" type="slidenum">
              <a:rPr lang="ja-JP" smtClean="0" sz="1000">
                <a:solidFill>
                  <a:srgbClr val="888888"/>
                </a:solidFill>
              </a:rPr>
              <a:t>&lt;#&gt;</a:t>
            </a:fld>
            <a:r>
              <a:rPr lang="ja-JP" smtClean="0" sz="1000">
                <a:solidFill>
                  <a:srgbClr val="888888"/>
                </a:solidFill>
              </a:rPr>
              <a:t>/</a:t>
            </a:r>
            <a:fld id="{655B885D-E548-404B-B672-94C852E73A0C}" type="slidecount">
              <a:rPr lang="ja-JP" smtClean="0" sz="1000">
                <a:solidFill>
                  <a:srgbClr val="888888"/>
                </a:solidFill>
              </a:rPr>
              <a:t>9</a:t>
            </a:fld>
          </a:p>
        </p:txBody>
      </p:sp>
      <p:pic>
        <p:nvPicPr>
          <p:cNvPr id="19" name="Picture 1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846320"/>
            <a:ext cx="762000" cy="22860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85039"/>
            <a:ext cx="868680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2400" b="1" i="0" dirty="0">
                <a:solidFill>
                  <a:srgbClr val="FFFFFF"/>
                </a:solidFill>
                <a:ea typeface="Meiryo"/>
              </a:rPr>
              <a:t>用途別テンプレートで失敗パターンを先に潰す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23036"/>
            <a:ext cx="86868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en-US" sz="1200" b="0" i="0" dirty="0">
                <a:solidFill>
                  <a:srgbClr val="FFFFFF"/>
                </a:solidFill>
                <a:latin typeface="Segoe UI"/>
              </a:rPr>
              <a:t>Web</a:t>
            </a:r>
            <a:r>
              <a:rPr lang="ja-JP" sz="1200" b="0" i="0" dirty="0">
                <a:solidFill>
                  <a:srgbClr val="FFFFFF"/>
                </a:solidFill>
                <a:ea typeface="Meiryo"/>
              </a:rPr>
              <a:t>・分析・自動化では注意点が異なる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941832"/>
            <a:ext cx="2889504" cy="3671315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1" y="1051560"/>
            <a:ext cx="2615184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r>
              <a:rPr lang="en-US" sz="1400" b="1" i="0" dirty="0">
                <a:solidFill>
                  <a:srgbClr val="333333"/>
                </a:solidFill>
                <a:latin typeface="Segoe UI"/>
              </a:rPr>
              <a:t>Web</a:t>
            </a:r>
            <a:r>
              <a:rPr lang="ja-JP" sz="1400" b="1" i="0" dirty="0">
                <a:solidFill>
                  <a:srgbClr val="333333"/>
                </a:solidFill>
                <a:ea typeface="Meiryo"/>
              </a:rPr>
              <a:t>アプリ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1" y="1307592"/>
            <a:ext cx="2615184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1" y="1380744"/>
            <a:ext cx="2615184" cy="3122675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1980"/>
              </a:lnSpc>
            </a:pP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UI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と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API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境界が品質を左右する。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状態管理ライブラリの選択を固定し、実装方針の分岐と迷いを減らす設計にする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API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呼び出しの配置を決め、コンポーネント肥大化を防ぐ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共通部品化の基準を先に書き、見た目の揺れを抑える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3127248" y="941832"/>
            <a:ext cx="2889504" cy="3671315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4408" y="1051560"/>
            <a:ext cx="2615184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r>
              <a:rPr lang="ja-JP" sz="1400" b="1" i="0" dirty="0">
                <a:solidFill>
                  <a:srgbClr val="333333"/>
                </a:solidFill>
                <a:ea typeface="Meiryo"/>
              </a:rPr>
              <a:t>データ分析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307592"/>
            <a:ext cx="2615184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4408" y="1380744"/>
            <a:ext cx="2615184" cy="3122675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再現性と保存場所を先に守る領域である。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使用ライブラリを固定し、環境差による結果ずれを抑える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raw/processed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を分け、再実行可能な状態を保つ設計にする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ランダム性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 → 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シード固定で比較可能な結果へ変える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9904" y="941832"/>
            <a:ext cx="2889504" cy="3671315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7064" y="1051560"/>
            <a:ext cx="2615184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r>
              <a:rPr lang="ja-JP" sz="1400" b="1" i="0" dirty="0">
                <a:solidFill>
                  <a:srgbClr val="333333"/>
                </a:solidFill>
                <a:ea typeface="Meiryo"/>
              </a:rPr>
              <a:t>自動化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7064" y="1307592"/>
            <a:ext cx="2615184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380744"/>
            <a:ext cx="2615184" cy="3122675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実行環境と安全策が主役である。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Windows/PowerShell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など、対象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OS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とシェルを明示する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破壊操作は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dry-run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を挟み、本番前に確認点を置く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ログを残し、失敗時に原因と再実行手順を追える状態にする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777740"/>
            <a:ext cx="9144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4823459"/>
            <a:ext cx="18288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fld id="{FFD3687F-4B5B-4B15-BB91-24C7B043A4FE}" type="slidenum">
              <a:rPr lang="ja-JP" smtClean="0" sz="1000">
                <a:solidFill>
                  <a:srgbClr val="888888"/>
                </a:solidFill>
              </a:rPr>
              <a:t>&lt;#&gt;</a:t>
            </a:fld>
            <a:r>
              <a:rPr lang="ja-JP" smtClean="0" sz="1000">
                <a:solidFill>
                  <a:srgbClr val="888888"/>
                </a:solidFill>
              </a:rPr>
              <a:t>/</a:t>
            </a:r>
            <a:fld id="{3EE62949-C97D-4F17-9E00-5EEDAD582DD6}" type="slidecount">
              <a:rPr lang="ja-JP" smtClean="0" sz="1000">
                <a:solidFill>
                  <a:srgbClr val="888888"/>
                </a:solidFill>
              </a:rPr>
              <a:t>9</a:t>
            </a:fld>
          </a:p>
        </p:txBody>
      </p:sp>
      <p:pic>
        <p:nvPicPr>
          <p:cNvPr id="19" name="Picture 1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846320"/>
            <a:ext cx="762000" cy="22860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85039"/>
            <a:ext cx="868680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en-US" sz="2400" b="1" i="0" dirty="0">
                <a:solidFill>
                  <a:srgbClr val="FFFFFF"/>
                </a:solidFill>
                <a:latin typeface="Segoe UI"/>
              </a:rPr>
              <a:t>CLAUDE.md</a:t>
            </a:r>
            <a:r>
              <a:rPr lang="ja-JP" sz="2400" b="1" i="0" dirty="0">
                <a:solidFill>
                  <a:srgbClr val="FFFFFF"/>
                </a:solidFill>
                <a:ea typeface="Meiryo"/>
              </a:rPr>
              <a:t>は運用しながら育てる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23036"/>
            <a:ext cx="86868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1200" b="0" i="0" dirty="0">
                <a:solidFill>
                  <a:srgbClr val="FFFFFF"/>
                </a:solidFill>
                <a:ea typeface="Meiryo"/>
              </a:rPr>
              <a:t>指摘を昇格し、古いルールを削る</a:t>
            </a:r>
          </a:p>
        </p:txBody>
      </p:sp>
      <p:sp>
        <p:nvSpPr>
          <p:cNvPr id="5" name="Step5"/>
          <p:cNvSpPr/>
          <p:nvPr/>
        </p:nvSpPr>
        <p:spPr>
          <a:xfrm>
            <a:off x="164592" y="941832"/>
            <a:ext cx="2889504" cy="959205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88000" y="0"/>
                </a:lnTo>
                <a:lnTo>
                  <a:pt x="100000" y="50000"/>
                </a:lnTo>
                <a:lnTo>
                  <a:pt x="88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0D0D0"/>
          </a:solidFill>
          <a:ln w="9525">
            <a:solidFill>
              <a:srgbClr val="CCCCCC"/>
            </a:solidFill>
          </a:ln>
          <a:effectLst/>
        </p:spPr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1" y="941832"/>
            <a:ext cx="2456078" cy="95920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1400" b="1" i="0" dirty="0">
                <a:solidFill>
                  <a:srgbClr val="333333"/>
                </a:solidFill>
                <a:ea typeface="Meiryo"/>
              </a:rPr>
              <a:t>昇格する</a:t>
            </a:r>
          </a:p>
        </p:txBody>
      </p:sp>
      <p:sp>
        <p:nvSpPr>
          <p:cNvPr id="7" name="Step7"/>
          <p:cNvSpPr/>
          <p:nvPr/>
        </p:nvSpPr>
        <p:spPr>
          <a:xfrm>
            <a:off x="3127248" y="941832"/>
            <a:ext cx="2889504" cy="959205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88000" y="0"/>
                </a:lnTo>
                <a:lnTo>
                  <a:pt x="100000" y="50000"/>
                </a:lnTo>
                <a:lnTo>
                  <a:pt x="88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0D0D0"/>
          </a:solidFill>
          <a:ln w="9525">
            <a:solidFill>
              <a:srgbClr val="CCCCCC"/>
            </a:solidFill>
          </a:ln>
          <a:effectLst/>
        </p:spPr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264408" y="941832"/>
            <a:ext cx="2456078" cy="95920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1400" b="1" i="0" dirty="0">
                <a:solidFill>
                  <a:srgbClr val="333333"/>
                </a:solidFill>
                <a:ea typeface="Meiryo"/>
              </a:rPr>
              <a:t>削る</a:t>
            </a:r>
          </a:p>
        </p:txBody>
      </p:sp>
      <p:sp>
        <p:nvSpPr>
          <p:cNvPr id="9" name="Step9"/>
          <p:cNvSpPr/>
          <p:nvPr/>
        </p:nvSpPr>
        <p:spPr>
          <a:xfrm>
            <a:off x="6089904" y="941832"/>
            <a:ext cx="2889504" cy="959205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88000" y="0"/>
                </a:lnTo>
                <a:lnTo>
                  <a:pt x="100000" y="50000"/>
                </a:lnTo>
                <a:lnTo>
                  <a:pt x="88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0D0D0"/>
          </a:solidFill>
          <a:ln w="9525">
            <a:solidFill>
              <a:srgbClr val="CCCCCC"/>
            </a:solidFill>
          </a:ln>
          <a:effectLst/>
        </p:spPr>
        <p:txBody>
          <a:bodyPr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27064" y="941832"/>
            <a:ext cx="2456078" cy="95920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1400" b="1" i="0" dirty="0">
                <a:solidFill>
                  <a:srgbClr val="333333"/>
                </a:solidFill>
                <a:ea typeface="Meiryo"/>
              </a:rPr>
              <a:t>試す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1974189"/>
            <a:ext cx="2889504" cy="263895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1" y="2083917"/>
            <a:ext cx="2615184" cy="2419502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繰り返し指摘は固定化候補である。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2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回言った注意を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CLAUDE.md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へ移し、会話コストを減らす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摩擦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 → 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基準化へ変え、次回の迷いを防ぐ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27248" y="1974189"/>
            <a:ext cx="2889504" cy="263895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4408" y="2083917"/>
            <a:ext cx="2615184" cy="2419502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増やすだけでは精度が落ちる。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使わない規約を削除し、重要ルールが埋もれないようにする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技術変更に合わせ、古い前提を現在の構成へ更新する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9904" y="1974189"/>
            <a:ext cx="2889504" cy="2638958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2083917"/>
            <a:ext cx="2615184" cy="2419502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変更後は小さく確認する。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短いタスクで遵守状況を見て、期待とズレた文を直す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ルールの効き方を観察し、抽象的な文を行動条件へ戻す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777740"/>
            <a:ext cx="9144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4823459"/>
            <a:ext cx="18288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fld id="{6AAB20C8-9BC5-4D27-87F3-B15F6CC9335B}" type="slidenum">
              <a:rPr lang="ja-JP" smtClean="0" sz="1000">
                <a:solidFill>
                  <a:srgbClr val="888888"/>
                </a:solidFill>
              </a:rPr>
              <a:t>&lt;#&gt;</a:t>
            </a:fld>
            <a:r>
              <a:rPr lang="ja-JP" smtClean="0" sz="1000">
                <a:solidFill>
                  <a:srgbClr val="888888"/>
                </a:solidFill>
              </a:rPr>
              <a:t>/</a:t>
            </a:r>
            <a:fld id="{4AE8CF79-B57F-45BF-A3CB-FDC90F6D930F}" type="slidecount">
              <a:rPr lang="ja-JP" smtClean="0" sz="1000">
                <a:solidFill>
                  <a:srgbClr val="888888"/>
                </a:solidFill>
              </a:rPr>
              <a:t>9</a:t>
            </a:fld>
          </a:p>
        </p:txBody>
      </p:sp>
      <p:pic>
        <p:nvPicPr>
          <p:cNvPr id="19" name="Picture 1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846320"/>
            <a:ext cx="762000" cy="22860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85039"/>
            <a:ext cx="868680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2400" b="1" i="0" dirty="0">
                <a:solidFill>
                  <a:srgbClr val="FFFFFF"/>
                </a:solidFill>
                <a:ea typeface="Meiryo"/>
              </a:rPr>
              <a:t>成功条件は</a:t>
            </a:r>
            <a:r>
              <a:rPr lang="en-US" sz="2400" b="1" i="0" dirty="0">
                <a:solidFill>
                  <a:srgbClr val="FFFFFF"/>
                </a:solidFill>
                <a:latin typeface="Segoe UI"/>
              </a:rPr>
              <a:t>AI</a:t>
            </a:r>
            <a:r>
              <a:rPr lang="ja-JP" sz="2400" b="1" i="0" dirty="0">
                <a:solidFill>
                  <a:srgbClr val="FFFFFF"/>
                </a:solidFill>
                <a:ea typeface="Meiryo"/>
              </a:rPr>
              <a:t>の迷いを減らすことである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23036"/>
            <a:ext cx="86868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r>
              <a:rPr lang="ja-JP" sz="1200" b="0" i="0" dirty="0">
                <a:solidFill>
                  <a:srgbClr val="FFFFFF"/>
                </a:solidFill>
                <a:ea typeface="Meiryo"/>
              </a:rPr>
              <a:t>ルール量ではなく、判断の軽さで評価する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941832"/>
            <a:ext cx="2889504" cy="2371725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1" y="1051560"/>
            <a:ext cx="2615184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r>
              <a:rPr lang="ja-JP" sz="1400" b="1" i="0" dirty="0">
                <a:solidFill>
                  <a:srgbClr val="333333"/>
                </a:solidFill>
                <a:ea typeface="Meiryo"/>
              </a:rPr>
              <a:t>厳選する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1" y="1307592"/>
            <a:ext cx="2615184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1" y="1380744"/>
            <a:ext cx="2615184" cy="1823085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必須行動だけを固定する設計である。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重要ルールを少数に絞り、読まれる状態を保つ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迷う余地を一文で削り、実行前の判断を軽くする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3127248" y="941832"/>
            <a:ext cx="2889504" cy="2371725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4408" y="1051560"/>
            <a:ext cx="2615184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r>
              <a:rPr lang="ja-JP" sz="1400" b="1" i="0" dirty="0">
                <a:solidFill>
                  <a:srgbClr val="333333"/>
                </a:solidFill>
                <a:ea typeface="Meiryo"/>
              </a:rPr>
              <a:t>分離する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307592"/>
            <a:ext cx="2615184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4408" y="1380744"/>
            <a:ext cx="2615184" cy="1823085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関係する場所だけに効かせる。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全体と局所を混ぜず、現在作業に必要な文脈だけを読む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ノイズ</a:t>
            </a:r>
            <a:r>
              <a:rPr lang="en-US" sz="1100" b="0" i="0" dirty="0">
                <a:solidFill>
                  <a:srgbClr val="333333"/>
                </a:solidFill>
                <a:latin typeface="Segoe UI"/>
              </a:rPr>
              <a:t> → </a:t>
            </a:r>
            <a:r>
              <a:rPr lang="ja-JP" sz="1100" b="0" i="0" dirty="0">
                <a:solidFill>
                  <a:srgbClr val="333333"/>
                </a:solidFill>
                <a:ea typeface="Meiryo"/>
              </a:rPr>
              <a:t>読解負荷を増やし、提案の焦点をぼかす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9904" y="941832"/>
            <a:ext cx="2889504" cy="2371725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7064" y="1051560"/>
            <a:ext cx="2615184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r>
              <a:rPr lang="ja-JP" sz="1400" b="1" i="0" dirty="0">
                <a:solidFill>
                  <a:srgbClr val="333333"/>
                </a:solidFill>
                <a:ea typeface="Meiryo"/>
              </a:rPr>
              <a:t>更新する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7064" y="1307592"/>
            <a:ext cx="2615184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380744"/>
            <a:ext cx="2615184" cy="1823085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現場の変化に合わせる文書である。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繰り返し指摘を追加し、会話での再説明を減らす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Char char="•"/>
              <a:lnSpc>
                <a:spcPts val="1980"/>
              </a:lnSpc>
            </a:pPr>
            <a:r>
              <a:rPr lang="ja-JP" sz="1100" b="0" i="0" dirty="0">
                <a:solidFill>
                  <a:srgbClr val="333333"/>
                </a:solidFill>
                <a:ea typeface="Meiryo"/>
              </a:rPr>
              <a:t>古い前提を削り、軽量で効くルールブックを維持する</a:t>
            </a:r>
          </a:p>
        </p:txBody>
      </p:sp>
      <p:sp>
        <p:nvSpPr>
          <p:cNvPr id="17" name="Arrow17"/>
          <p:cNvSpPr/>
          <p:nvPr/>
        </p:nvSpPr>
        <p:spPr>
          <a:xfrm>
            <a:off x="2147925" y="3415741"/>
            <a:ext cx="4848148" cy="174193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50000" y="100000"/>
                </a:lnTo>
                <a:close/>
              </a:path>
            </a:pathLst>
          </a:custGeom>
          <a:solidFill>
            <a:srgbClr val="6B7A99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64592" y="3692118"/>
            <a:ext cx="8814816" cy="921029"/>
          </a:xfrm>
          <a:prstGeom prst="rect">
            <a:avLst/>
          </a:prstGeom>
          <a:solidFill>
            <a:srgbClr val="EEF2FF"/>
          </a:solidFill>
          <a:ln w="19050">
            <a:solidFill>
              <a:srgbClr val="6B7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4592" y="3692118"/>
            <a:ext cx="64008" cy="921029"/>
          </a:xfrm>
          <a:prstGeom prst="rect">
            <a:avLst/>
          </a:prstGeom>
          <a:solidFill>
            <a:srgbClr val="6B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801846"/>
            <a:ext cx="8476488" cy="701573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  <a:lnSpc>
                <a:spcPts val="2160"/>
              </a:lnSpc>
            </a:pPr>
            <a:r>
              <a:rPr lang="en-US" sz="1200" b="0" i="0" dirty="0">
                <a:solidFill>
                  <a:srgbClr val="1A2A5A"/>
                </a:solidFill>
                <a:latin typeface="Segoe UI"/>
              </a:rPr>
              <a:t>CLAUDE.md</a:t>
            </a:r>
            <a:r>
              <a:rPr lang="ja-JP" sz="1200" b="0" i="0" dirty="0">
                <a:solidFill>
                  <a:srgbClr val="1A2A5A"/>
                </a:solidFill>
                <a:ea typeface="Meiryo"/>
              </a:rPr>
              <a:t>は、</a:t>
            </a:r>
            <a:r>
              <a:rPr lang="en-US" sz="1200" b="0" i="0" dirty="0">
                <a:solidFill>
                  <a:srgbClr val="1A2A5A"/>
                </a:solidFill>
                <a:latin typeface="Segoe UI"/>
              </a:rPr>
              <a:t>AI</a:t>
            </a:r>
            <a:r>
              <a:rPr lang="ja-JP" sz="1200" b="0" i="0" dirty="0">
                <a:solidFill>
                  <a:srgbClr val="1A2A5A"/>
                </a:solidFill>
                <a:ea typeface="Meiryo"/>
              </a:rPr>
              <a:t>の迷いを減らすための軽量な判断基準である。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777740"/>
            <a:ext cx="9144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4823459"/>
            <a:ext cx="18288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fld id="{7155BB6A-7694-4A31-8BE4-2388199C512B}" type="slidenum">
              <a:rPr lang="ja-JP" smtClean="0" sz="1000">
                <a:solidFill>
                  <a:srgbClr val="888888"/>
                </a:solidFill>
              </a:rPr>
              <a:t>&lt;#&gt;</a:t>
            </a:fld>
            <a:r>
              <a:rPr lang="ja-JP" smtClean="0" sz="1000">
                <a:solidFill>
                  <a:srgbClr val="888888"/>
                </a:solidFill>
              </a:rPr>
              <a:t>/</a:t>
            </a:r>
            <a:fld id="{498C620D-C832-4E0D-9359-B8F0F5FAB669}" type="slidecount">
              <a:rPr lang="ja-JP" smtClean="0" sz="1000">
                <a:solidFill>
                  <a:srgbClr val="888888"/>
                </a:solidFill>
              </a:rPr>
              <a:t>9</a:t>
            </a:fld>
          </a:p>
        </p:txBody>
      </p:sp>
      <p:pic>
        <p:nvPicPr>
          <p:cNvPr id="23" name="Picture 2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846320"/>
            <a:ext cx="762000" cy="22860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