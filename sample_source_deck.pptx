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firstSlideNum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資料は、CLAUDE.mdを単なるメモではなく、AIの振る舞いを安定させる設計資産として扱うための整理である。MEMORY.mdとの役割分担、適切な長さ、章立て、スコープ設計、運用改善までを一続きの実務手順として確認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まず全体像を確認する。前半ではCLAUDE.mdの正体、MEMORY.mdとの違い、情報量の決め方を扱う。後半では章立て、スコープ設計、用途別の注意点、そして継続的に育てる方法へ進む。単なるテンプレート紹介ではなく、どの判断がAIの安定性に効くかを見ていく構成であ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導入として押さえるべき点は、CLAUDE.mdが設定ファイルというより、セッション開始時に参照される行動基準であることだ。毎回同じ前提を説明する代わりに、守るべきルール、作業手順、プロジェクト固有の判断軸をここへ集約する。その結果、AIは場当たり的な回答ではなく、プロジェクトの期待値に沿った作業をしやすくな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ここで混同しやすいのは、どちらもコンテキストに見える点である。CLAUDE.mdはユーザーが明示的に置く強制指示であり、プロジェクトや組織の基準を表す。一方、MEMORY.mdやAuto memoryはAI側が蓄積する傾向や好みのメモである。強いルールと弱い学習結果を分けることで、意図しない挙動の固定化を防げる。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次に見るべき論点は、どれだけ書くかである。ルールは多いほど安心に見えるが、実際には重要なものが埋もれると遵守率が落ちる。60から300行程度を目安にし、1ルール1文で、実行可能な形にする。抽象的な精神論ではなく、AIが次の行動へ変換できる文だけを残すことが肝心である。 --- [nanobanana2 icon prompt] 3つのアイコンを横一列、正方形枠、統一色、白背景、文字なしで描く。左から、絞り込みを表す漏斗、短いルール文を表すチェック付き文書、実行コマンドを表す端末。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の表は章名の羅列ではなく、AIが作業前に何を理解すべきかの順番を示している。概要で目的をつかみ、技術スタックと構成で触る場所を判断し、コマンドと規約で実行方法をそろえる。最後にワークフローと落とし穴を置くことで、変更の前後に何を確認すべきかが明確にな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実際にCLAUDE.mdを書く時は、理想論から始めず、AIが実行できる手順へ落とす。まず開発、テスト、型チェック、lintのコマンドを確認する。次に触ってよい場所と触ってはいけない場所を分ける。最後に、変更後の検証順と失敗時の対応を明示する。ここまで書くと、AIは推測ではなく手順に沿って動ける。 --- [nanobanana2 icon prompt] 4つのアイコンを横一列、正方形枠、統一色、白背景、文字なしで描く。左から、端末コマンド、フォルダ地図、禁止マーク付きデータベース、チェック完了リスト。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大きなリポジトリでは、全ルールを1つに詰めると、今の作業に関係ない情報まで読ませることになる。そこで、ルートには共通ルールを置き、frontendやinfraのような領域別ファイルへ分ける。AIが触っているファイルに近いルールほど具体的にし、遠いルールほど普遍的にすることで、判断のノイズを下げられる。 --- [nanobanana2 icon prompt] 3つのアイコンを横一列、正方形枠、統一色、白背景、文字なしで描く。左から、ルート文書、UI画面、インフラ端末を表すミニマルな図。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同じCLAUDE.mdでも、対象プロジェクトによって効くルールは変わる。WebアプリではUIライブラリやAPI配置が重要であり、データ分析では再現性とデータ置き場が重要になる。自動化スクリプトでは対象OSと安全策が中心である。用途ごとの失敗パターンを先に書くことで、AIの提案が現場の前提から外れにくくなる。 --- [nanobanana2 icon prompt] 3つのアイコンを横一列、正方形枠、統一色、白背景、文字なしで描く。左から、Web画面、分析グラフ、PowerShell端末と安全チェックを表す。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こまでの話を運用に変えると、CLAUDE.mdは一度作って終わりではない。会話で同じ注意を2回したら、その内容はルールへ昇格する候補である。定期的に古い技術や形骸化したルールを削り、変更後は小さなタスクでAIの振る舞いを確認する。この循環が、実際に効くルールブックを作る。 --- [nanobanana2 icon prompt] 3つのアイコンを横一列、正方形枠、統一色、白背景、文字なしで描く。左から、会話吹き出し、更新される文書、テスト済みチェックマークを表す。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後に、Takuyaさんの環境に合わせるなら、3レイヤーで考えるのが分かりやすい。グローバルには日本語回答やテスト重視のような共通の好みを置く。プロジェクト単位では技術や禁止事項を置く。ディレクトリ単位ではUIとインフラのような専門ルールを分ける。これにより、AIに渡す文脈が強すぎず弱すぎない状態になる。 --- [nanobanana2 icon prompt] 3つのアイコンを横一列、正方形枠、統一色、白背景、文字なしで描く。左から、全体設定、プロジェクト箱、ディレクトリ分岐を表す。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1243584"/>
            <a:ext cx="5029200" cy="1234440"/>
          </a:xfrm>
          <a:prstGeom prst="rect">
            <a:avLst/>
          </a:prstGeom>
          <a:noFill/>
          <a:effectLst/>
        </p:spPr>
        <p:txBody>
          <a:bodyPr wrap="none" lIns="0" rIns="0" tIns="0" bIns="0" anchor="b">
            <a:noAutofit/>
          </a:bodyPr>
          <a:lstStyle/>
          <a:p>
            <a:pPr>
              <a:lnSpc>
                <a:spcPts val="3919"/>
              </a:lnSpc>
            </a:pPr>
            <a:r>
              <a:rPr lang="en-US" sz="2800" b="1" i="0" dirty="0">
                <a:solidFill>
                  <a:srgbClr val="000000"/>
                </a:solidFill>
                <a:latin typeface="Segoe UI"/>
              </a:rPr>
              <a:t>CLAUDE.md </a:t>
            </a:r>
            <a:r>
              <a:rPr lang="ja-JP" sz="2800" b="1" i="0" dirty="0">
                <a:solidFill>
                  <a:srgbClr val="000000"/>
                </a:solidFill>
                <a:ea typeface="Meiryo"/>
              </a:rPr>
              <a:t>設計の実務ガイド</a:t>
            </a:r>
          </a:p>
          <a:p>
            <a:pPr>
              <a:lnSpc>
                <a:spcPts val="3919"/>
              </a:lnSpc>
            </a:pPr>
            <a:r>
              <a:rPr lang="ja-JP" sz="2800" b="1" i="0" dirty="0">
                <a:solidFill>
                  <a:srgbClr val="000000"/>
                </a:solidFill>
                <a:ea typeface="Meiryo"/>
              </a:rPr>
              <a:t>長期文脈を、毎回効くルールブックへ変える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2569464"/>
            <a:ext cx="3657600" cy="952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752344"/>
            <a:ext cx="5029200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noAutofit/>
          </a:bodyPr>
          <a:lstStyle/>
          <a:p>
            <a:r>
              <a:rPr lang="en-US" sz="1600" b="0" i="0" dirty="0">
                <a:solidFill>
                  <a:srgbClr val="333333"/>
                </a:solidFill>
                <a:latin typeface="Segoe UI"/>
              </a:rPr>
              <a:t>Project Guidance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72384"/>
            <a:ext cx="5029200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noAutofit/>
          </a:bodyPr>
          <a:lstStyle/>
          <a:p>
            <a:r>
              <a:rPr lang="ja-JP" sz="1600" b="0" i="0" dirty="0">
                <a:solidFill>
                  <a:srgbClr val="333333"/>
                </a:solidFill>
                <a:ea typeface="Meiryo"/>
              </a:rPr>
              <a:t>山田</a:t>
            </a:r>
            <a:r>
              <a:rPr lang="en-US" sz="1600" b="0" i="0" dirty="0">
                <a:solidFill>
                  <a:srgbClr val="333333"/>
                </a:solidFill>
                <a:latin typeface="Segoe UI"/>
              </a:rPr>
              <a:t> </a:t>
            </a:r>
            <a:r>
              <a:rPr lang="ja-JP" sz="1600" b="0" i="0" dirty="0">
                <a:solidFill>
                  <a:srgbClr val="333333"/>
                </a:solidFill>
                <a:ea typeface="Meiryo"/>
              </a:rPr>
              <a:t>花子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392424"/>
            <a:ext cx="5029200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noAutofit/>
          </a:bodyPr>
          <a:lstStyle/>
          <a:p>
            <a:r>
              <a:rPr lang="en-US" sz="1600" b="0" i="0" dirty="0">
                <a:solidFill>
                  <a:srgbClr val="333333"/>
                </a:solidFill>
                <a:latin typeface="Segoe UI"/>
              </a:rPr>
              <a:t>2026-04-28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85039"/>
            <a:ext cx="8686800" cy="4114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noAutofit/>
          </a:bodyPr>
          <a:lstStyle/>
          <a:p>
            <a:r>
              <a:rPr lang="ja-JP" sz="2400" b="1" i="0" dirty="0">
                <a:solidFill>
                  <a:srgbClr val="FFFFFF"/>
                </a:solidFill>
                <a:ea typeface="Meiryo"/>
              </a:rPr>
              <a:t>目次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23036"/>
            <a:ext cx="868680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noAutofit/>
          </a:bodyPr>
          <a:lstStyle/>
          <a:p>
            <a:r>
              <a:rPr lang="ja-JP" sz="1200" b="0" i="0" dirty="0">
                <a:solidFill>
                  <a:srgbClr val="FFFFFF"/>
                </a:solidFill>
                <a:ea typeface="Meiryo"/>
              </a:rPr>
              <a:t>設計から運用までの流れを押さえる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3192" y="1033272"/>
            <a:ext cx="3913632" cy="3488435"/>
          </a:xfrm>
          <a:prstGeom prst="rect">
            <a:avLst/>
          </a:prstGeom>
          <a:noFill/>
          <a:effectLst/>
        </p:spPr>
        <p:txBody>
          <a:bodyPr wrap="squar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buNone/>
              <a:lnSpc>
                <a:spcPts val="1679"/>
              </a:lnSpc>
            </a:pPr>
            <a:r>
              <a:rPr lang="ja-JP" sz="1200" b="1" i="0" dirty="0">
                <a:solidFill>
                  <a:srgbClr val="333333"/>
                </a:solidFill>
                <a:ea typeface="Meiryo"/>
              </a:rPr>
              <a:t>基本設計</a:t>
            </a:r>
          </a:p>
          <a:p>
            <a:pPr>
              <a:spcBef>
                <a:spcPts val="0"/>
              </a:spcBef>
              <a:spcAft>
                <a:spcPts val="400"/>
              </a:spcAft>
              <a:buNone/>
              <a:lnSpc>
                <a:spcPts val="2160"/>
              </a:lnSpc>
            </a:pPr>
            <a:r>
              <a:rPr lang="ja-JP" sz="1200" b="1" i="0" dirty="0">
                <a:solidFill>
                  <a:srgbClr val="333333"/>
                </a:solidFill>
                <a:ea typeface="Meiryo"/>
              </a:rPr>
              <a:t>位置づけと目的</a:t>
            </a:r>
          </a:p>
          <a:p>
            <a:pPr marL="228600" indent="-228600">
              <a:spcBef>
                <a:spcPts val="0"/>
              </a:spcBef>
              <a:spcAft>
                <a:spcPts val="400"/>
              </a:spcAft>
              <a:buChar char="•"/>
              <a:lnSpc>
                <a:spcPts val="2160"/>
              </a:lnSpc>
            </a:pPr>
            <a:r>
              <a:rPr lang="en-US" sz="1200" b="0" i="0" dirty="0">
                <a:solidFill>
                  <a:srgbClr val="333333"/>
                </a:solidFill>
                <a:latin typeface="Segoe UI"/>
              </a:rPr>
              <a:t>CLAUDE.md</a:t>
            </a:r>
            <a:r>
              <a:rPr lang="ja-JP" sz="1200" b="0" i="0" dirty="0">
                <a:solidFill>
                  <a:srgbClr val="333333"/>
                </a:solidFill>
                <a:ea typeface="Meiryo"/>
              </a:rPr>
              <a:t>は開始時に効くルールブック</a:t>
            </a:r>
          </a:p>
          <a:p>
            <a:pPr marL="228600" indent="-228600">
              <a:spcBef>
                <a:spcPts val="0"/>
              </a:spcBef>
              <a:spcAft>
                <a:spcPts val="400"/>
              </a:spcAft>
              <a:buChar char="•"/>
              <a:lnSpc>
                <a:spcPts val="2160"/>
              </a:lnSpc>
            </a:pPr>
            <a:r>
              <a:rPr lang="en-US" sz="1200" b="0" i="0" dirty="0">
                <a:solidFill>
                  <a:srgbClr val="333333"/>
                </a:solidFill>
                <a:latin typeface="Segoe UI"/>
              </a:rPr>
              <a:t>MEMORY.md</a:t>
            </a:r>
            <a:r>
              <a:rPr lang="ja-JP" sz="1200" b="0" i="0" dirty="0">
                <a:solidFill>
                  <a:srgbClr val="333333"/>
                </a:solidFill>
                <a:ea typeface="Meiryo"/>
              </a:rPr>
              <a:t>とは作成者と用途が異なる</a:t>
            </a:r>
          </a:p>
          <a:p>
            <a:pPr>
              <a:spcBef>
                <a:spcPts val="0"/>
              </a:spcBef>
              <a:spcAft>
                <a:spcPts val="400"/>
              </a:spcAft>
              <a:buNone/>
              <a:lnSpc>
                <a:spcPts val="2160"/>
              </a:lnSpc>
            </a:pPr>
            <a:r>
              <a:rPr lang="ja-JP" sz="1200" b="1" i="0" dirty="0">
                <a:solidFill>
                  <a:srgbClr val="333333"/>
                </a:solidFill>
                <a:ea typeface="Meiryo"/>
              </a:rPr>
              <a:t>密度の設計</a:t>
            </a:r>
          </a:p>
          <a:p>
            <a:pPr marL="228600" indent="-228600">
              <a:spcBef>
                <a:spcPts val="0"/>
              </a:spcBef>
              <a:spcAft>
                <a:spcPts val="400"/>
              </a:spcAft>
              <a:buChar char="•"/>
              <a:lnSpc>
                <a:spcPts val="2160"/>
              </a:lnSpc>
            </a:pPr>
            <a:r>
              <a:rPr lang="ja-JP" sz="1200" b="0" i="0" dirty="0">
                <a:solidFill>
                  <a:srgbClr val="333333"/>
                </a:solidFill>
                <a:ea typeface="Meiryo"/>
              </a:rPr>
              <a:t>重要ルールを絞り、</a:t>
            </a:r>
            <a:r>
              <a:rPr lang="en-US" sz="1200" b="0" i="0" dirty="0">
                <a:solidFill>
                  <a:srgbClr val="333333"/>
                </a:solidFill>
                <a:latin typeface="Segoe UI"/>
              </a:rPr>
              <a:t>60</a:t>
            </a:r>
            <a:r>
              <a:rPr lang="ja-JP" sz="1200" b="0" i="0" dirty="0">
                <a:solidFill>
                  <a:srgbClr val="333333"/>
                </a:solidFill>
                <a:ea typeface="Meiryo"/>
              </a:rPr>
              <a:t>から</a:t>
            </a:r>
            <a:r>
              <a:rPr lang="en-US" sz="1200" b="0" i="0" dirty="0">
                <a:solidFill>
                  <a:srgbClr val="333333"/>
                </a:solidFill>
                <a:latin typeface="Segoe UI"/>
              </a:rPr>
              <a:t>300</a:t>
            </a:r>
            <a:r>
              <a:rPr lang="ja-JP" sz="1200" b="0" i="0" dirty="0">
                <a:solidFill>
                  <a:srgbClr val="333333"/>
                </a:solidFill>
                <a:ea typeface="Meiryo"/>
              </a:rPr>
              <a:t>行に抑える</a:t>
            </a:r>
          </a:p>
          <a:p>
            <a:pPr marL="228600" indent="-228600">
              <a:spcBef>
                <a:spcPts val="0"/>
              </a:spcBef>
              <a:spcAft>
                <a:spcPts val="400"/>
              </a:spcAft>
              <a:buChar char="•"/>
              <a:lnSpc>
                <a:spcPts val="2160"/>
              </a:lnSpc>
            </a:pPr>
            <a:r>
              <a:rPr lang="ja-JP" sz="1200" b="0" i="0" dirty="0">
                <a:solidFill>
                  <a:srgbClr val="333333"/>
                </a:solidFill>
                <a:ea typeface="Meiryo"/>
              </a:rPr>
              <a:t>実行可能な文で、曖昧な標語を避ける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37176" y="1033272"/>
            <a:ext cx="3913632" cy="3488435"/>
          </a:xfrm>
          <a:prstGeom prst="rect">
            <a:avLst/>
          </a:prstGeom>
          <a:noFill/>
          <a:effectLst/>
        </p:spPr>
        <p:txBody>
          <a:bodyPr wrap="squar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buNone/>
              <a:lnSpc>
                <a:spcPts val="1679"/>
              </a:lnSpc>
            </a:pPr>
            <a:r>
              <a:rPr lang="ja-JP" sz="1200" b="1" i="0" dirty="0">
                <a:solidFill>
                  <a:srgbClr val="333333"/>
                </a:solidFill>
                <a:ea typeface="Meiryo"/>
              </a:rPr>
              <a:t>実装と運用</a:t>
            </a:r>
          </a:p>
          <a:p>
            <a:pPr>
              <a:spcBef>
                <a:spcPts val="0"/>
              </a:spcBef>
              <a:spcAft>
                <a:spcPts val="400"/>
              </a:spcAft>
              <a:buNone/>
              <a:lnSpc>
                <a:spcPts val="2160"/>
              </a:lnSpc>
            </a:pPr>
            <a:r>
              <a:rPr lang="ja-JP" sz="1200" b="1" i="0" dirty="0">
                <a:solidFill>
                  <a:srgbClr val="333333"/>
                </a:solidFill>
                <a:ea typeface="Meiryo"/>
              </a:rPr>
              <a:t>章立て</a:t>
            </a:r>
          </a:p>
          <a:p>
            <a:pPr marL="228600" indent="-228600">
              <a:spcBef>
                <a:spcPts val="0"/>
              </a:spcBef>
              <a:spcAft>
                <a:spcPts val="400"/>
              </a:spcAft>
              <a:buChar char="•"/>
              <a:lnSpc>
                <a:spcPts val="2160"/>
              </a:lnSpc>
            </a:pPr>
            <a:r>
              <a:rPr lang="ja-JP" sz="1200" b="0" i="0" dirty="0">
                <a:solidFill>
                  <a:srgbClr val="333333"/>
                </a:solidFill>
                <a:ea typeface="Meiryo"/>
              </a:rPr>
              <a:t>プロジェクト概要から落とし穴まで整理する</a:t>
            </a:r>
          </a:p>
          <a:p>
            <a:pPr marL="228600" indent="-228600">
              <a:spcBef>
                <a:spcPts val="0"/>
              </a:spcBef>
              <a:spcAft>
                <a:spcPts val="400"/>
              </a:spcAft>
              <a:buChar char="•"/>
              <a:lnSpc>
                <a:spcPts val="2160"/>
              </a:lnSpc>
            </a:pPr>
            <a:r>
              <a:rPr lang="ja-JP" sz="1200" b="0" i="0" dirty="0">
                <a:solidFill>
                  <a:srgbClr val="333333"/>
                </a:solidFill>
                <a:ea typeface="Meiryo"/>
              </a:rPr>
              <a:t>コマンドと禁止事項はそのまま使える形にする</a:t>
            </a:r>
          </a:p>
          <a:p>
            <a:pPr>
              <a:spcBef>
                <a:spcPts val="0"/>
              </a:spcBef>
              <a:spcAft>
                <a:spcPts val="400"/>
              </a:spcAft>
              <a:buNone/>
              <a:lnSpc>
                <a:spcPts val="2160"/>
              </a:lnSpc>
            </a:pPr>
            <a:r>
              <a:rPr lang="ja-JP" sz="1200" b="1" i="0" dirty="0">
                <a:solidFill>
                  <a:srgbClr val="333333"/>
                </a:solidFill>
                <a:ea typeface="Meiryo"/>
              </a:rPr>
              <a:t>スコープと改善</a:t>
            </a:r>
          </a:p>
          <a:p>
            <a:pPr marL="228600" indent="-228600">
              <a:spcBef>
                <a:spcPts val="0"/>
              </a:spcBef>
              <a:spcAft>
                <a:spcPts val="400"/>
              </a:spcAft>
              <a:buChar char="•"/>
              <a:lnSpc>
                <a:spcPts val="2160"/>
              </a:lnSpc>
            </a:pPr>
            <a:r>
              <a:rPr lang="ja-JP" sz="1200" b="0" i="0" dirty="0">
                <a:solidFill>
                  <a:srgbClr val="333333"/>
                </a:solidFill>
                <a:ea typeface="Meiryo"/>
              </a:rPr>
              <a:t>ルート、領域別、ディレクトリ別に分ける</a:t>
            </a:r>
          </a:p>
          <a:p>
            <a:pPr marL="228600" indent="-228600">
              <a:spcBef>
                <a:spcPts val="0"/>
              </a:spcBef>
              <a:spcAft>
                <a:spcPts val="400"/>
              </a:spcAft>
              <a:buChar char="•"/>
              <a:lnSpc>
                <a:spcPts val="2160"/>
              </a:lnSpc>
            </a:pPr>
            <a:r>
              <a:rPr lang="ja-JP" sz="1200" b="0" i="0" dirty="0">
                <a:solidFill>
                  <a:srgbClr val="333333"/>
                </a:solidFill>
                <a:ea typeface="Meiryo"/>
              </a:rPr>
              <a:t>繰り返した注意はルールへ昇格させる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777740"/>
            <a:ext cx="9144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8600" y="4823459"/>
            <a:ext cx="18288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fld id="{BE514E3F-29B6-4B14-8F58-C35023F7E866}" type="slidenum">
              <a:rPr lang="ja-JP" smtClean="0" sz="1000">
                <a:solidFill>
                  <a:srgbClr val="888888"/>
                </a:solidFill>
              </a:rPr>
              <a:t>&lt;#&gt;</a:t>
            </a:fld>
            <a:r>
              <a:rPr lang="ja-JP" smtClean="0" sz="1000">
                <a:solidFill>
                  <a:srgbClr val="888888"/>
                </a:solidFill>
              </a:rPr>
              <a:t>/</a:t>
            </a:r>
            <a:fld id="{C5FE519A-3EF9-4260-B2E6-C60316C07AC1}" type="slidecount">
              <a:rPr lang="ja-JP" smtClean="0" sz="1000">
                <a:solidFill>
                  <a:srgbClr val="888888"/>
                </a:solidFill>
              </a:rPr>
              <a:t>11</a:t>
            </a:fld>
          </a:p>
        </p:txBody>
      </p:sp>
      <p:pic>
        <p:nvPicPr>
          <p:cNvPr id="9" name="Picture 8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4846320"/>
            <a:ext cx="762000" cy="228600"/>
          </a:xfrm>
          <a:prstGeom prst="rect">
            <a:avLst/>
          </a:prstGeom>
          <a:effectLst/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85039"/>
            <a:ext cx="8686800" cy="4114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noAutofit/>
          </a:bodyPr>
          <a:lstStyle/>
          <a:p>
            <a:r>
              <a:rPr lang="en-US" sz="2400" b="1" i="0" dirty="0">
                <a:solidFill>
                  <a:srgbClr val="FFFFFF"/>
                </a:solidFill>
                <a:latin typeface="Segoe UI"/>
              </a:rPr>
              <a:t>CLAUDE.md</a:t>
            </a:r>
            <a:r>
              <a:rPr lang="ja-JP" sz="2400" b="1" i="0" dirty="0">
                <a:solidFill>
                  <a:srgbClr val="FFFFFF"/>
                </a:solidFill>
                <a:ea typeface="Meiryo"/>
              </a:rPr>
              <a:t>は開始時に効くルールブックである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23036"/>
            <a:ext cx="868680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noAutofit/>
          </a:bodyPr>
          <a:lstStyle/>
          <a:p>
            <a:r>
              <a:rPr lang="en-US" sz="1200" b="0" i="0" dirty="0">
                <a:solidFill>
                  <a:srgbClr val="FFFFFF"/>
                </a:solidFill>
                <a:latin typeface="Segoe UI"/>
              </a:rPr>
              <a:t>AI</a:t>
            </a:r>
            <a:r>
              <a:rPr lang="ja-JP" sz="1200" b="0" i="0" dirty="0">
                <a:solidFill>
                  <a:srgbClr val="FFFFFF"/>
                </a:solidFill>
                <a:ea typeface="Meiryo"/>
              </a:rPr>
              <a:t>の挙動をプロジェクト基準へ寄せる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3192" y="1033272"/>
            <a:ext cx="3913632" cy="3488435"/>
          </a:xfrm>
          <a:prstGeom prst="rect">
            <a:avLst/>
          </a:prstGeom>
          <a:noFill/>
          <a:effectLst/>
        </p:spPr>
        <p:txBody>
          <a:bodyPr wrap="squar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buNone/>
              <a:lnSpc>
                <a:spcPts val="1679"/>
              </a:lnSpc>
            </a:pPr>
            <a:r>
              <a:rPr lang="ja-JP" sz="1200" b="1" i="0" dirty="0">
                <a:solidFill>
                  <a:srgbClr val="333333"/>
                </a:solidFill>
                <a:ea typeface="Meiryo"/>
              </a:rPr>
              <a:t>ルールを毎回の出発点にする</a:t>
            </a:r>
          </a:p>
          <a:p>
            <a:pPr>
              <a:spcBef>
                <a:spcPts val="0"/>
              </a:spcBef>
              <a:spcAft>
                <a:spcPts val="400"/>
              </a:spcAft>
              <a:buNone/>
              <a:lnSpc>
                <a:spcPts val="2160"/>
              </a:lnSpc>
            </a:pPr>
            <a:r>
              <a:rPr lang="en-US" sz="1200" b="0" i="0" dirty="0">
                <a:solidFill>
                  <a:srgbClr val="333333"/>
                </a:solidFill>
                <a:latin typeface="Segoe UI"/>
              </a:rPr>
              <a:t>CLAUDE.md</a:t>
            </a:r>
            <a:r>
              <a:rPr lang="ja-JP" sz="1200" b="0" i="0" dirty="0">
                <a:solidFill>
                  <a:srgbClr val="333333"/>
                </a:solidFill>
                <a:ea typeface="Meiryo"/>
              </a:rPr>
              <a:t>は、会話ごとの説明コストを減らし、</a:t>
            </a:r>
            <a:r>
              <a:rPr lang="en-US" sz="1200" b="0" i="0" dirty="0">
                <a:solidFill>
                  <a:srgbClr val="333333"/>
                </a:solidFill>
                <a:latin typeface="Segoe UI"/>
              </a:rPr>
              <a:t>AI</a:t>
            </a:r>
            <a:r>
              <a:rPr lang="ja-JP" sz="1200" b="0" i="0" dirty="0">
                <a:solidFill>
                  <a:srgbClr val="333333"/>
                </a:solidFill>
                <a:ea typeface="Meiryo"/>
              </a:rPr>
              <a:t>の判断を安定させるための</a:t>
            </a:r>
            <a:r>
              <a:rPr lang="ja-JP" sz="1200" b="1" i="0" dirty="0">
                <a:solidFill>
                  <a:srgbClr val="333333"/>
                </a:solidFill>
                <a:ea typeface="Meiryo"/>
              </a:rPr>
              <a:t>基準点</a:t>
            </a:r>
            <a:r>
              <a:rPr lang="ja-JP" sz="1200" b="0" i="0" dirty="0">
                <a:solidFill>
                  <a:srgbClr val="333333"/>
                </a:solidFill>
                <a:ea typeface="Meiryo"/>
              </a:rPr>
              <a:t>である。</a:t>
            </a:r>
          </a:p>
          <a:p>
            <a:pPr marL="228600" indent="-228600">
              <a:spcBef>
                <a:spcPts val="0"/>
              </a:spcBef>
              <a:spcAft>
                <a:spcPts val="400"/>
              </a:spcAft>
              <a:buChar char="•"/>
              <a:lnSpc>
                <a:spcPts val="2160"/>
              </a:lnSpc>
            </a:pPr>
            <a:r>
              <a:rPr lang="ja-JP" sz="1200" b="0" i="0" dirty="0">
                <a:solidFill>
                  <a:srgbClr val="333333"/>
                </a:solidFill>
                <a:ea typeface="Meiryo"/>
              </a:rPr>
              <a:t>セッション開始時に読み込まれる前提として設計する。</a:t>
            </a:r>
          </a:p>
          <a:p>
            <a:pPr marL="228600" indent="-228600">
              <a:spcBef>
                <a:spcPts val="0"/>
              </a:spcBef>
              <a:spcAft>
                <a:spcPts val="400"/>
              </a:spcAft>
              <a:buChar char="•"/>
              <a:lnSpc>
                <a:spcPts val="2160"/>
              </a:lnSpc>
            </a:pPr>
            <a:r>
              <a:rPr lang="ja-JP" sz="1200" b="0" i="0" dirty="0">
                <a:solidFill>
                  <a:srgbClr val="333333"/>
                </a:solidFill>
                <a:ea typeface="Meiryo"/>
              </a:rPr>
              <a:t>単発の依頼ではなく、継続して守るルールを書く。</a:t>
            </a:r>
          </a:p>
          <a:p>
            <a:pPr marL="228600" indent="-228600">
              <a:spcBef>
                <a:spcPts val="0"/>
              </a:spcBef>
              <a:spcAft>
                <a:spcPts val="400"/>
              </a:spcAft>
              <a:buChar char="•"/>
              <a:lnSpc>
                <a:spcPts val="2160"/>
              </a:lnSpc>
            </a:pPr>
            <a:r>
              <a:rPr lang="ja-JP" sz="1200" b="0" i="0" dirty="0">
                <a:solidFill>
                  <a:srgbClr val="333333"/>
                </a:solidFill>
                <a:ea typeface="Meiryo"/>
              </a:rPr>
              <a:t>プロジェクトの目的、禁止事項、確認手順を明文化する。</a:t>
            </a:r>
          </a:p>
          <a:p>
            <a:pPr marL="228600" indent="-228600">
              <a:spcBef>
                <a:spcPts val="0"/>
              </a:spcBef>
              <a:spcAft>
                <a:spcPts val="400"/>
              </a:spcAft>
              <a:buChar char="•"/>
              <a:lnSpc>
                <a:spcPts val="2160"/>
              </a:lnSpc>
            </a:pPr>
            <a:r>
              <a:rPr lang="en-US" sz="1200" b="0" i="0" dirty="0">
                <a:solidFill>
                  <a:srgbClr val="333333"/>
                </a:solidFill>
                <a:latin typeface="Segoe UI"/>
              </a:rPr>
              <a:t>AI</a:t>
            </a:r>
            <a:r>
              <a:rPr lang="ja-JP" sz="1200" b="0" i="0" dirty="0">
                <a:solidFill>
                  <a:srgbClr val="333333"/>
                </a:solidFill>
                <a:ea typeface="Meiryo"/>
              </a:rPr>
              <a:t>に期待する振る舞いを、行動レベルの文へ落とす。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08576" y="941832"/>
            <a:ext cx="4370832" cy="3671315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lang="en-US" sz="1200" b="0" i="0" dirty="0">
                <a:solidFill>
                  <a:srgbClr val="888888"/>
                </a:solidFill>
                <a:latin typeface="Segoe UI"/>
              </a:rPr>
              <a:t>CLAUDE.md</a:t>
            </a:r>
            <a:r>
              <a:rPr lang="ja-JP" sz="1200" b="0" i="0" dirty="0">
                <a:solidFill>
                  <a:srgbClr val="888888"/>
                </a:solidFill>
                <a:ea typeface="Meiryo"/>
              </a:rPr>
              <a:t>が</a:t>
            </a:r>
            <a:r>
              <a:rPr lang="en-US" sz="1200" b="0" i="0" dirty="0">
                <a:solidFill>
                  <a:srgbClr val="888888"/>
                </a:solidFill>
                <a:latin typeface="Segoe UI"/>
              </a:rPr>
              <a:t>AI</a:t>
            </a:r>
            <a:r>
              <a:rPr lang="ja-JP" sz="1200" b="0" i="0" dirty="0">
                <a:solidFill>
                  <a:srgbClr val="888888"/>
                </a:solidFill>
                <a:ea typeface="Meiryo"/>
              </a:rPr>
              <a:t>の作業開始時に読み込まれるルールブックであることを表すシンプルなイラスト。フラットデザイン、ミニマルアイコン風、ビジネス向け、白背景。</a:t>
            </a:r>
            <a:r>
              <a:rPr lang="en-US" sz="1200" b="0" i="0" dirty="0">
                <a:solidFill>
                  <a:srgbClr val="888888"/>
                </a:solidFill>
                <a:latin typeface="Segoe UI"/>
              </a:rPr>
              <a:t>6:5</a:t>
            </a:r>
            <a:r>
              <a:rPr lang="ja-JP" sz="1200" b="0" i="0" dirty="0">
                <a:solidFill>
                  <a:srgbClr val="888888"/>
                </a:solidFill>
                <a:ea typeface="Meiryo"/>
              </a:rPr>
              <a:t>の比率で開かれたドキュメント、チェックリスト、作業画面、整列した歯車を</a:t>
            </a:r>
            <a:r>
              <a:rPr lang="en-US" sz="1200" b="0" i="0" dirty="0">
                <a:solidFill>
                  <a:srgbClr val="888888"/>
                </a:solidFill>
                <a:latin typeface="Segoe UI"/>
              </a:rPr>
              <a:t>1</a:t>
            </a:r>
            <a:r>
              <a:rPr lang="ja-JP" sz="1200" b="0" i="0" dirty="0">
                <a:solidFill>
                  <a:srgbClr val="888888"/>
                </a:solidFill>
                <a:ea typeface="Meiryo"/>
              </a:rPr>
              <a:t>枚のビジュアルで表現する。文字なし。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777740"/>
            <a:ext cx="9144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8600" y="4823459"/>
            <a:ext cx="18288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fld id="{B5A268B6-5CE1-4119-B57E-F965A1820562}" type="slidenum">
              <a:rPr lang="ja-JP" smtClean="0" sz="1000">
                <a:solidFill>
                  <a:srgbClr val="888888"/>
                </a:solidFill>
              </a:rPr>
              <a:t>&lt;#&gt;</a:t>
            </a:fld>
            <a:r>
              <a:rPr lang="ja-JP" smtClean="0" sz="1000">
                <a:solidFill>
                  <a:srgbClr val="888888"/>
                </a:solidFill>
              </a:rPr>
              <a:t>/</a:t>
            </a:r>
            <a:fld id="{28C5B937-EDD5-4615-A41A-00D1A4B4296C}" type="slidecount">
              <a:rPr lang="ja-JP" smtClean="0" sz="1000">
                <a:solidFill>
                  <a:srgbClr val="888888"/>
                </a:solidFill>
              </a:rPr>
              <a:t>11</a:t>
            </a:fld>
          </a:p>
        </p:txBody>
      </p:sp>
      <p:pic>
        <p:nvPicPr>
          <p:cNvPr id="9" name="Picture 8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4846320"/>
            <a:ext cx="762000" cy="228600"/>
          </a:xfrm>
          <a:prstGeom prst="rect">
            <a:avLst/>
          </a:prstGeom>
          <a:effectLst/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85039"/>
            <a:ext cx="8686800" cy="4114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noAutofit/>
          </a:bodyPr>
          <a:lstStyle/>
          <a:p>
            <a:r>
              <a:rPr lang="en-US" sz="2400" b="1" i="0" dirty="0">
                <a:solidFill>
                  <a:srgbClr val="FFFFFF"/>
                </a:solidFill>
                <a:latin typeface="Segoe UI"/>
              </a:rPr>
              <a:t>CLAUDE.md</a:t>
            </a:r>
            <a:r>
              <a:rPr lang="ja-JP" sz="2400" b="1" i="0" dirty="0">
                <a:solidFill>
                  <a:srgbClr val="FFFFFF"/>
                </a:solidFill>
                <a:ea typeface="Meiryo"/>
              </a:rPr>
              <a:t>と</a:t>
            </a:r>
            <a:r>
              <a:rPr lang="en-US" sz="2400" b="1" i="0" dirty="0">
                <a:solidFill>
                  <a:srgbClr val="FFFFFF"/>
                </a:solidFill>
                <a:latin typeface="Segoe UI"/>
              </a:rPr>
              <a:t>MEMORY.md</a:t>
            </a:r>
            <a:r>
              <a:rPr lang="ja-JP" sz="2400" b="1" i="0" dirty="0">
                <a:solidFill>
                  <a:srgbClr val="FFFFFF"/>
                </a:solidFill>
                <a:ea typeface="Meiryo"/>
              </a:rPr>
              <a:t>は役割が違う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23036"/>
            <a:ext cx="868680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noAutofit/>
          </a:bodyPr>
          <a:lstStyle/>
          <a:p>
            <a:r>
              <a:rPr lang="ja-JP" sz="1200" b="0" i="0" dirty="0">
                <a:solidFill>
                  <a:srgbClr val="FFFFFF"/>
                </a:solidFill>
                <a:ea typeface="Meiryo"/>
              </a:rPr>
              <a:t>強制指示と学習メモを混ぜない</a:t>
            </a:r>
          </a:p>
        </p:txBody>
      </p:sp>
      <p:sp>
        <p:nvSpPr>
          <p:cNvPr id="5" name="Rectangle 4"/>
          <p:cNvSpPr/>
          <p:nvPr/>
        </p:nvSpPr>
        <p:spPr>
          <a:xfrm>
            <a:off x="3027970" y="941832"/>
            <a:ext cx="2808514" cy="876680"/>
          </a:xfrm>
          <a:prstGeom prst="rect">
            <a:avLst/>
          </a:prstGeom>
          <a:solidFill>
            <a:srgbClr val="6B7A99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88900" tIns="50800" bIns="50800"/>
          <a:lstStyle/>
          <a:p>
            <a:pPr algn="ctr">
              <a:lnSpc>
                <a:spcPts val="1560"/>
              </a:lnSpc>
            </a:pPr>
            <a:r>
              <a:rPr lang="en-US" sz="1200" b="1" i="0" dirty="0">
                <a:solidFill>
                  <a:srgbClr val="FFFFFF"/>
                </a:solidFill>
                <a:latin typeface="Segoe UI"/>
              </a:rPr>
              <a:t>CLAUDE.md</a:t>
            </a:r>
          </a:p>
        </p:txBody>
      </p:sp>
      <p:sp>
        <p:nvSpPr>
          <p:cNvPr id="6" name="Rectangle 5"/>
          <p:cNvSpPr/>
          <p:nvPr/>
        </p:nvSpPr>
        <p:spPr>
          <a:xfrm>
            <a:off x="6170893" y="941832"/>
            <a:ext cx="2808514" cy="876680"/>
          </a:xfrm>
          <a:prstGeom prst="rect">
            <a:avLst/>
          </a:prstGeom>
          <a:solidFill>
            <a:srgbClr val="6B7A99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88900" tIns="50800" bIns="50800"/>
          <a:lstStyle/>
          <a:p>
            <a:pPr algn="ctr">
              <a:lnSpc>
                <a:spcPts val="1560"/>
              </a:lnSpc>
            </a:pPr>
            <a:r>
              <a:rPr lang="en-US" sz="1200" b="1" i="0" dirty="0">
                <a:solidFill>
                  <a:srgbClr val="FFFFFF"/>
                </a:solidFill>
                <a:latin typeface="Segoe UI"/>
              </a:rPr>
              <a:t>MEMORY.md / Auto memory</a:t>
            </a:r>
          </a:p>
        </p:txBody>
      </p:sp>
      <p:sp>
        <p:nvSpPr>
          <p:cNvPr id="7" name="Rectangle 6"/>
          <p:cNvSpPr/>
          <p:nvPr/>
        </p:nvSpPr>
        <p:spPr>
          <a:xfrm>
            <a:off x="164592" y="1873377"/>
            <a:ext cx="2808514" cy="876680"/>
          </a:xfrm>
          <a:prstGeom prst="rect">
            <a:avLst/>
          </a:prstGeom>
          <a:solidFill>
            <a:srgbClr val="E8EDF2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88900" tIns="50800" bIns="50800"/>
          <a:lstStyle/>
          <a:p>
            <a:pPr algn="ctr">
              <a:lnSpc>
                <a:spcPts val="1560"/>
              </a:lnSpc>
            </a:pPr>
            <a:r>
              <a:rPr lang="ja-JP" sz="1200" b="1" i="0" dirty="0">
                <a:solidFill>
                  <a:srgbClr val="333333"/>
                </a:solidFill>
                <a:ea typeface="Meiryo"/>
              </a:rPr>
              <a:t>作成者</a:t>
            </a:r>
          </a:p>
        </p:txBody>
      </p:sp>
      <p:sp>
        <p:nvSpPr>
          <p:cNvPr id="8" name="Rectangle 7"/>
          <p:cNvSpPr/>
          <p:nvPr/>
        </p:nvSpPr>
        <p:spPr>
          <a:xfrm>
            <a:off x="3027970" y="1873377"/>
            <a:ext cx="2808514" cy="876680"/>
          </a:xfrm>
          <a:prstGeom prst="rect">
            <a:avLst/>
          </a:prstGeom>
          <a:solidFill>
            <a:srgbClr val="F5F5F5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88900" tIns="50800" bIns="50800"/>
          <a:lstStyle/>
          <a:p>
            <a:pPr algn="ctr">
              <a:lnSpc>
                <a:spcPts val="1560"/>
              </a:lnSpc>
            </a:pPr>
            <a:r>
              <a:rPr lang="ja-JP" sz="1200" b="0" i="0" dirty="0">
                <a:solidFill>
                  <a:srgbClr val="333333"/>
                </a:solidFill>
                <a:ea typeface="Meiryo"/>
              </a:rPr>
              <a:t>ユーザーが意図して書く。合意済みルールを置く場所である。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0893" y="1873377"/>
            <a:ext cx="2808514" cy="876680"/>
          </a:xfrm>
          <a:prstGeom prst="rect">
            <a:avLst/>
          </a:prstGeom>
          <a:solidFill>
            <a:srgbClr val="F5F5F5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88900" tIns="50800" bIns="50800"/>
          <a:lstStyle/>
          <a:p>
            <a:pPr algn="ctr">
              <a:lnSpc>
                <a:spcPts val="1560"/>
              </a:lnSpc>
            </a:pPr>
            <a:r>
              <a:rPr lang="en-US" sz="1200" b="0" i="0" dirty="0">
                <a:solidFill>
                  <a:srgbClr val="333333"/>
                </a:solidFill>
                <a:latin typeface="Segoe UI"/>
              </a:rPr>
              <a:t>Claude</a:t>
            </a:r>
            <a:r>
              <a:rPr lang="ja-JP" sz="1200" b="0" i="0" dirty="0">
                <a:solidFill>
                  <a:srgbClr val="333333"/>
                </a:solidFill>
                <a:ea typeface="Meiryo"/>
              </a:rPr>
              <a:t>が作業から学ぶ。好みや反復パターンが蓄積される。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4592" y="2804922"/>
            <a:ext cx="2808514" cy="876680"/>
          </a:xfrm>
          <a:prstGeom prst="rect">
            <a:avLst/>
          </a:prstGeom>
          <a:solidFill>
            <a:srgbClr val="E8EDF2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88900" tIns="50800" bIns="50800"/>
          <a:lstStyle/>
          <a:p>
            <a:pPr algn="ctr">
              <a:lnSpc>
                <a:spcPts val="1560"/>
              </a:lnSpc>
            </a:pPr>
            <a:r>
              <a:rPr lang="ja-JP" sz="1200" b="1" i="0" dirty="0">
                <a:solidFill>
                  <a:srgbClr val="333333"/>
                </a:solidFill>
                <a:ea typeface="Meiryo"/>
              </a:rPr>
              <a:t>書く内容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27970" y="2804922"/>
            <a:ext cx="2808514" cy="876680"/>
          </a:xfrm>
          <a:prstGeom prst="rect">
            <a:avLst/>
          </a:prstGeom>
          <a:solidFill>
            <a:srgbClr val="F5F5F5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88900" tIns="50800" bIns="50800"/>
          <a:lstStyle/>
          <a:p>
            <a:pPr algn="ctr">
              <a:lnSpc>
                <a:spcPts val="1560"/>
              </a:lnSpc>
            </a:pPr>
            <a:r>
              <a:rPr lang="ja-JP" sz="1200" b="0" i="0" dirty="0">
                <a:solidFill>
                  <a:srgbClr val="333333"/>
                </a:solidFill>
                <a:ea typeface="Meiryo"/>
              </a:rPr>
              <a:t>コーディング規約、禁止事項、必須コマンド、設計方針を記述する。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0893" y="2804922"/>
            <a:ext cx="2808514" cy="876680"/>
          </a:xfrm>
          <a:prstGeom prst="rect">
            <a:avLst/>
          </a:prstGeom>
          <a:solidFill>
            <a:srgbClr val="F5F5F5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88900" tIns="50800" bIns="50800"/>
          <a:lstStyle/>
          <a:p>
            <a:pPr algn="ctr">
              <a:lnSpc>
                <a:spcPts val="1560"/>
              </a:lnSpc>
            </a:pPr>
            <a:r>
              <a:rPr lang="ja-JP" sz="1200" b="0" i="0" dirty="0">
                <a:solidFill>
                  <a:srgbClr val="333333"/>
                </a:solidFill>
                <a:ea typeface="Meiryo"/>
              </a:rPr>
              <a:t>よく使う命名、最近の対処法、弱い好みを残す。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4592" y="3736466"/>
            <a:ext cx="2808514" cy="876680"/>
          </a:xfrm>
          <a:prstGeom prst="rect">
            <a:avLst/>
          </a:prstGeom>
          <a:solidFill>
            <a:srgbClr val="E8EDF2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88900" tIns="50800" bIns="50800"/>
          <a:lstStyle/>
          <a:p>
            <a:pPr algn="ctr">
              <a:lnSpc>
                <a:spcPts val="1560"/>
              </a:lnSpc>
            </a:pPr>
            <a:r>
              <a:rPr lang="ja-JP" sz="1200" b="1" i="0" dirty="0">
                <a:solidFill>
                  <a:srgbClr val="333333"/>
                </a:solidFill>
                <a:ea typeface="Meiryo"/>
              </a:rPr>
              <a:t>判断基準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27970" y="3736466"/>
            <a:ext cx="2808514" cy="876680"/>
          </a:xfrm>
          <a:prstGeom prst="rect">
            <a:avLst/>
          </a:prstGeom>
          <a:solidFill>
            <a:srgbClr val="F5F5F5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88900" tIns="50800" bIns="50800"/>
          <a:lstStyle/>
          <a:p>
            <a:pPr algn="ctr">
              <a:lnSpc>
                <a:spcPts val="1560"/>
              </a:lnSpc>
            </a:pPr>
            <a:r>
              <a:rPr lang="ja-JP" sz="1200" b="0" i="0" dirty="0">
                <a:solidFill>
                  <a:srgbClr val="333333"/>
                </a:solidFill>
                <a:ea typeface="Meiryo"/>
              </a:rPr>
              <a:t>「必ず守る」ものを置く。迷った時の優先順位が高い。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0893" y="3736466"/>
            <a:ext cx="2808514" cy="876680"/>
          </a:xfrm>
          <a:prstGeom prst="rect">
            <a:avLst/>
          </a:prstGeom>
          <a:solidFill>
            <a:srgbClr val="F5F5F5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88900" tIns="50800" bIns="50800"/>
          <a:lstStyle/>
          <a:p>
            <a:pPr algn="ctr">
              <a:lnSpc>
                <a:spcPts val="1560"/>
              </a:lnSpc>
            </a:pPr>
            <a:r>
              <a:rPr lang="ja-JP" sz="1200" b="0" i="0" dirty="0">
                <a:solidFill>
                  <a:srgbClr val="333333"/>
                </a:solidFill>
                <a:ea typeface="Meiryo"/>
              </a:rPr>
              <a:t>「いつもこうしがち」を補助する。強制力は持たせすぎない。</a:t>
            </a:r>
          </a:p>
        </p:txBody>
      </p:sp>
      <p:sp>
        <p:nvSpPr>
          <p:cNvPr id="16" name="CmpArrow16"/>
          <p:cNvSpPr/>
          <p:nvPr/>
        </p:nvSpPr>
        <p:spPr>
          <a:xfrm>
            <a:off x="5891348" y="1873377"/>
            <a:ext cx="224681" cy="2739771"/>
          </a:xfrm>
          <a:custGeom>
            <a:avLst/>
            <a:gdLst/>
            <a:ahLst/>
            <a:cxnLst/>
            <a:rect l="0" t="0" r="r" b="b"/>
            <a:pathLst>
              <a:path w="100000" h="100000">
                <a:moveTo>
                  <a:pt x="0" y="50000"/>
                </a:moveTo>
                <a:lnTo>
                  <a:pt x="35000" y="20000"/>
                </a:lnTo>
                <a:lnTo>
                  <a:pt x="35000" y="40000"/>
                </a:lnTo>
                <a:lnTo>
                  <a:pt x="65000" y="40000"/>
                </a:lnTo>
                <a:lnTo>
                  <a:pt x="65000" y="20000"/>
                </a:lnTo>
                <a:lnTo>
                  <a:pt x="100000" y="50000"/>
                </a:lnTo>
                <a:lnTo>
                  <a:pt x="65000" y="80000"/>
                </a:lnTo>
                <a:lnTo>
                  <a:pt x="65000" y="60000"/>
                </a:lnTo>
                <a:lnTo>
                  <a:pt x="35000" y="60000"/>
                </a:lnTo>
                <a:lnTo>
                  <a:pt x="35000" y="80000"/>
                </a:lnTo>
                <a:close/>
              </a:path>
            </a:pathLst>
          </a:custGeom>
          <a:solidFill>
            <a:srgbClr val="CCCCCC"/>
          </a:solidFill>
          <a:ln w="9525">
            <a:solidFill>
              <a:srgbClr val="CCCCCC"/>
            </a:solidFill>
          </a:ln>
          <a:effectLst/>
        </p:spPr>
        <p:txBody>
          <a:bodyPr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0" y="4777740"/>
            <a:ext cx="9144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8600" y="4823459"/>
            <a:ext cx="18288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fld id="{AF99A165-A2A5-4C80-89E9-93DB015D1B87}" type="slidenum">
              <a:rPr lang="ja-JP" smtClean="0" sz="1000">
                <a:solidFill>
                  <a:srgbClr val="888888"/>
                </a:solidFill>
              </a:rPr>
              <a:t>&lt;#&gt;</a:t>
            </a:fld>
            <a:r>
              <a:rPr lang="ja-JP" smtClean="0" sz="1000">
                <a:solidFill>
                  <a:srgbClr val="888888"/>
                </a:solidFill>
              </a:rPr>
              <a:t>/</a:t>
            </a:r>
            <a:fld id="{658ECC93-FD1D-4C37-8625-203BF86A813E}" type="slidecount">
              <a:rPr lang="ja-JP" smtClean="0" sz="1000">
                <a:solidFill>
                  <a:srgbClr val="888888"/>
                </a:solidFill>
              </a:rPr>
              <a:t>11</a:t>
            </a:fld>
          </a:p>
        </p:txBody>
      </p:sp>
      <p:pic>
        <p:nvPicPr>
          <p:cNvPr id="19" name="Picture 18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4846320"/>
            <a:ext cx="762000" cy="228600"/>
          </a:xfrm>
          <a:prstGeom prst="rect">
            <a:avLst/>
          </a:prstGeom>
          <a:effectLst/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85039"/>
            <a:ext cx="8686800" cy="4114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noAutofit/>
          </a:bodyPr>
          <a:lstStyle/>
          <a:p>
            <a:r>
              <a:rPr lang="ja-JP" sz="2400" b="1" i="0" dirty="0">
                <a:solidFill>
                  <a:srgbClr val="FFFFFF"/>
                </a:solidFill>
                <a:ea typeface="Meiryo"/>
              </a:rPr>
              <a:t>重要ルールだけに絞るほど効きやすい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23036"/>
            <a:ext cx="868680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noAutofit/>
          </a:bodyPr>
          <a:lstStyle/>
          <a:p>
            <a:r>
              <a:rPr lang="ja-JP" sz="1200" b="0" i="0" dirty="0">
                <a:solidFill>
                  <a:srgbClr val="FFFFFF"/>
                </a:solidFill>
                <a:ea typeface="Meiryo"/>
              </a:rPr>
              <a:t>長さは管理可能な密度にする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164592" y="941832"/>
            <a:ext cx="2889504" cy="3671315"/>
          </a:xfrm>
          <a:prstGeom prst="rect">
            <a:avLst/>
          </a:prstGeom>
          <a:solidFill>
            <a:srgbClr val="F5F5F5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751" y="1051560"/>
            <a:ext cx="2615184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r>
              <a:rPr lang="ja-JP" sz="1400" b="1" i="0" dirty="0">
                <a:solidFill>
                  <a:srgbClr val="333333"/>
                </a:solidFill>
                <a:ea typeface="Meiryo"/>
              </a:rPr>
              <a:t>量を抑える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301751" y="1307592"/>
            <a:ext cx="2615184" cy="12700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1751" y="1380744"/>
            <a:ext cx="2615184" cy="3122675"/>
          </a:xfrm>
          <a:prstGeom prst="rect">
            <a:avLst/>
          </a:prstGeom>
          <a:noFill/>
          <a:effectLst/>
        </p:spPr>
        <p:txBody>
          <a:bodyPr wrap="squar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  <a:buNone/>
              <a:lnSpc>
                <a:spcPts val="1980"/>
              </a:lnSpc>
            </a:pPr>
            <a:r>
              <a:rPr lang="ja-JP" sz="1100" b="0" i="0" dirty="0">
                <a:solidFill>
                  <a:srgbClr val="333333"/>
                </a:solidFill>
                <a:ea typeface="Meiryo"/>
              </a:rPr>
              <a:t>多すぎるルールは優先順位をぼかす。</a:t>
            </a:r>
            <a:r>
              <a:rPr lang="en-US" sz="1100" b="0" i="0" dirty="0">
                <a:solidFill>
                  <a:srgbClr val="333333"/>
                </a:solidFill>
                <a:latin typeface="Segoe UI"/>
              </a:rPr>
              <a:t>AI</a:t>
            </a:r>
            <a:r>
              <a:rPr lang="ja-JP" sz="1100" b="0" i="0" dirty="0">
                <a:solidFill>
                  <a:srgbClr val="333333"/>
                </a:solidFill>
                <a:ea typeface="Meiryo"/>
              </a:rPr>
              <a:t>が常に守るべき基準だけを残す。</a:t>
            </a:r>
          </a:p>
          <a:p>
            <a:pPr marL="228600" indent="-228600">
              <a:spcBef>
                <a:spcPts val="0"/>
              </a:spcBef>
              <a:spcAft>
                <a:spcPts val="400"/>
              </a:spcAft>
              <a:buChar char="•"/>
              <a:lnSpc>
                <a:spcPts val="1980"/>
              </a:lnSpc>
            </a:pPr>
            <a:r>
              <a:rPr lang="ja-JP" sz="1100" b="0" i="0" dirty="0">
                <a:solidFill>
                  <a:srgbClr val="333333"/>
                </a:solidFill>
                <a:ea typeface="Meiryo"/>
              </a:rPr>
              <a:t>目安は</a:t>
            </a:r>
            <a:r>
              <a:rPr lang="en-US" sz="1100" b="1" i="0" dirty="0">
                <a:solidFill>
                  <a:srgbClr val="333333"/>
                </a:solidFill>
                <a:latin typeface="Segoe UI"/>
              </a:rPr>
              <a:t>60</a:t>
            </a:r>
            <a:r>
              <a:rPr lang="ja-JP" sz="1100" b="1" i="0" dirty="0">
                <a:solidFill>
                  <a:srgbClr val="333333"/>
                </a:solidFill>
                <a:ea typeface="Meiryo"/>
              </a:rPr>
              <a:t>から</a:t>
            </a:r>
            <a:r>
              <a:rPr lang="en-US" sz="1100" b="1" i="0" dirty="0">
                <a:solidFill>
                  <a:srgbClr val="333333"/>
                </a:solidFill>
                <a:latin typeface="Segoe UI"/>
              </a:rPr>
              <a:t>300</a:t>
            </a:r>
            <a:r>
              <a:rPr lang="ja-JP" sz="1100" b="1" i="0" dirty="0">
                <a:solidFill>
                  <a:srgbClr val="333333"/>
                </a:solidFill>
                <a:ea typeface="Meiryo"/>
              </a:rPr>
              <a:t>行</a:t>
            </a:r>
            <a:r>
              <a:rPr lang="ja-JP" sz="1100" b="0" i="0" dirty="0">
                <a:solidFill>
                  <a:srgbClr val="333333"/>
                </a:solidFill>
                <a:ea typeface="Meiryo"/>
              </a:rPr>
              <a:t>である。</a:t>
            </a:r>
          </a:p>
          <a:p>
            <a:pPr marL="228600" indent="-228600">
              <a:spcBef>
                <a:spcPts val="0"/>
              </a:spcBef>
              <a:spcAft>
                <a:spcPts val="400"/>
              </a:spcAft>
              <a:buChar char="•"/>
              <a:lnSpc>
                <a:spcPts val="1980"/>
              </a:lnSpc>
            </a:pPr>
            <a:r>
              <a:rPr lang="ja-JP" sz="1100" b="0" i="0" dirty="0">
                <a:solidFill>
                  <a:srgbClr val="333333"/>
                </a:solidFill>
                <a:ea typeface="Meiryo"/>
              </a:rPr>
              <a:t>重要度の低い説明は会話や別資料へ逃がす。</a:t>
            </a:r>
          </a:p>
          <a:p>
            <a:pPr marL="228600" indent="-228600">
              <a:spcBef>
                <a:spcPts val="0"/>
              </a:spcBef>
              <a:spcAft>
                <a:spcPts val="400"/>
              </a:spcAft>
              <a:buChar char="•"/>
              <a:lnSpc>
                <a:spcPts val="1980"/>
              </a:lnSpc>
            </a:pPr>
            <a:r>
              <a:rPr lang="ja-JP" sz="1100" b="0" i="0" dirty="0">
                <a:solidFill>
                  <a:srgbClr val="333333"/>
                </a:solidFill>
                <a:ea typeface="Meiryo"/>
              </a:rPr>
              <a:t>似たルールは統合し、重複を減らす。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3127248" y="941832"/>
            <a:ext cx="2889504" cy="3671315"/>
          </a:xfrm>
          <a:prstGeom prst="rect">
            <a:avLst/>
          </a:prstGeom>
          <a:solidFill>
            <a:srgbClr val="F5F5F5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64408" y="1051560"/>
            <a:ext cx="2615184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r>
              <a:rPr lang="ja-JP" sz="1400" b="1" i="0" dirty="0">
                <a:solidFill>
                  <a:srgbClr val="333333"/>
                </a:solidFill>
                <a:ea typeface="Meiryo"/>
              </a:rPr>
              <a:t>粒度を揃える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64408" y="1307592"/>
            <a:ext cx="2615184" cy="12700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64408" y="1380744"/>
            <a:ext cx="2615184" cy="3122675"/>
          </a:xfrm>
          <a:prstGeom prst="rect">
            <a:avLst/>
          </a:prstGeom>
          <a:noFill/>
          <a:effectLst/>
        </p:spPr>
        <p:txBody>
          <a:bodyPr wrap="squar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  <a:buNone/>
              <a:lnSpc>
                <a:spcPts val="1980"/>
              </a:lnSpc>
            </a:pPr>
            <a:r>
              <a:rPr lang="en-US" sz="1100" b="0" i="0" dirty="0">
                <a:solidFill>
                  <a:srgbClr val="333333"/>
                </a:solidFill>
                <a:latin typeface="Segoe UI"/>
              </a:rPr>
              <a:t>1</a:t>
            </a:r>
            <a:r>
              <a:rPr lang="ja-JP" sz="1100" b="0" i="0" dirty="0">
                <a:solidFill>
                  <a:srgbClr val="333333"/>
                </a:solidFill>
                <a:ea typeface="Meiryo"/>
              </a:rPr>
              <a:t>つの文で</a:t>
            </a:r>
            <a:r>
              <a:rPr lang="en-US" sz="1100" b="0" i="0" dirty="0">
                <a:solidFill>
                  <a:srgbClr val="333333"/>
                </a:solidFill>
                <a:latin typeface="Segoe UI"/>
              </a:rPr>
              <a:t>1</a:t>
            </a:r>
            <a:r>
              <a:rPr lang="ja-JP" sz="1100" b="0" i="0" dirty="0">
                <a:solidFill>
                  <a:srgbClr val="333333"/>
                </a:solidFill>
                <a:ea typeface="Meiryo"/>
              </a:rPr>
              <a:t>つの行動を指定すると、判断の余地が減る。</a:t>
            </a:r>
          </a:p>
          <a:p>
            <a:pPr marL="228600" indent="-228600">
              <a:spcBef>
                <a:spcPts val="0"/>
              </a:spcBef>
              <a:spcAft>
                <a:spcPts val="400"/>
              </a:spcAft>
              <a:buChar char="•"/>
              <a:lnSpc>
                <a:spcPts val="1980"/>
              </a:lnSpc>
            </a:pPr>
            <a:r>
              <a:rPr lang="en-US" sz="1100" b="0" i="0" dirty="0">
                <a:solidFill>
                  <a:srgbClr val="333333"/>
                </a:solidFill>
                <a:latin typeface="Segoe UI"/>
              </a:rPr>
              <a:t>1</a:t>
            </a:r>
            <a:r>
              <a:rPr lang="ja-JP" sz="1100" b="0" i="0" dirty="0">
                <a:solidFill>
                  <a:srgbClr val="333333"/>
                </a:solidFill>
                <a:ea typeface="Meiryo"/>
              </a:rPr>
              <a:t>ルール</a:t>
            </a:r>
            <a:r>
              <a:rPr lang="en-US" sz="1100" b="0" i="0" dirty="0">
                <a:solidFill>
                  <a:srgbClr val="333333"/>
                </a:solidFill>
                <a:latin typeface="Segoe UI"/>
              </a:rPr>
              <a:t>1</a:t>
            </a:r>
            <a:r>
              <a:rPr lang="ja-JP" sz="1100" b="0" i="0" dirty="0">
                <a:solidFill>
                  <a:srgbClr val="333333"/>
                </a:solidFill>
                <a:ea typeface="Meiryo"/>
              </a:rPr>
              <a:t>文を基本にする。</a:t>
            </a:r>
          </a:p>
          <a:p>
            <a:pPr marL="228600" indent="-228600">
              <a:spcBef>
                <a:spcPts val="0"/>
              </a:spcBef>
              <a:spcAft>
                <a:spcPts val="400"/>
              </a:spcAft>
              <a:buChar char="•"/>
              <a:lnSpc>
                <a:spcPts val="1980"/>
              </a:lnSpc>
            </a:pPr>
            <a:r>
              <a:rPr lang="ja-JP" sz="1100" b="0" i="0" dirty="0">
                <a:solidFill>
                  <a:srgbClr val="333333"/>
                </a:solidFill>
                <a:ea typeface="Meiryo"/>
              </a:rPr>
              <a:t>「しっかり」などの評価語だけで終えない。</a:t>
            </a:r>
          </a:p>
          <a:p>
            <a:pPr marL="228600" indent="-228600">
              <a:spcBef>
                <a:spcPts val="0"/>
              </a:spcBef>
              <a:spcAft>
                <a:spcPts val="400"/>
              </a:spcAft>
              <a:buChar char="•"/>
              <a:lnSpc>
                <a:spcPts val="1980"/>
              </a:lnSpc>
            </a:pPr>
            <a:r>
              <a:rPr lang="ja-JP" sz="1100" b="0" i="0" dirty="0">
                <a:solidFill>
                  <a:srgbClr val="333333"/>
                </a:solidFill>
                <a:ea typeface="Meiryo"/>
              </a:rPr>
              <a:t>宣言調で、守る状態を明確にする。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89904" y="941832"/>
            <a:ext cx="2889504" cy="3671315"/>
          </a:xfrm>
          <a:prstGeom prst="rect">
            <a:avLst/>
          </a:prstGeom>
          <a:solidFill>
            <a:srgbClr val="F5F5F5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27064" y="1051560"/>
            <a:ext cx="2615184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r>
              <a:rPr lang="ja-JP" sz="1400" b="1" i="0" dirty="0">
                <a:solidFill>
                  <a:srgbClr val="333333"/>
                </a:solidFill>
                <a:ea typeface="Meiryo"/>
              </a:rPr>
              <a:t>実行可能にする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27064" y="1307592"/>
            <a:ext cx="2615184" cy="12700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27064" y="1380744"/>
            <a:ext cx="2615184" cy="3122675"/>
          </a:xfrm>
          <a:prstGeom prst="rect">
            <a:avLst/>
          </a:prstGeom>
          <a:noFill/>
          <a:effectLst/>
        </p:spPr>
        <p:txBody>
          <a:bodyPr wrap="squar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  <a:buNone/>
              <a:lnSpc>
                <a:spcPts val="1980"/>
              </a:lnSpc>
            </a:pPr>
            <a:r>
              <a:rPr lang="en-US" sz="1100" b="0" i="0" dirty="0">
                <a:solidFill>
                  <a:srgbClr val="333333"/>
                </a:solidFill>
                <a:latin typeface="Segoe UI"/>
              </a:rPr>
              <a:t>AI</a:t>
            </a:r>
            <a:r>
              <a:rPr lang="ja-JP" sz="1100" b="0" i="0" dirty="0">
                <a:solidFill>
                  <a:srgbClr val="333333"/>
                </a:solidFill>
                <a:ea typeface="Meiryo"/>
              </a:rPr>
              <a:t>が即座に作業へ移せる文字列へ落とすと、再現性が上がる。</a:t>
            </a:r>
          </a:p>
          <a:p>
            <a:pPr marL="228600" indent="-228600">
              <a:spcBef>
                <a:spcPts val="0"/>
              </a:spcBef>
              <a:spcAft>
                <a:spcPts val="400"/>
              </a:spcAft>
              <a:buChar char="•"/>
              <a:lnSpc>
                <a:spcPts val="1980"/>
              </a:lnSpc>
            </a:pPr>
            <a:r>
              <a:rPr lang="en-US" sz="1100" b="0" i="0" dirty="0">
                <a:solidFill>
                  <a:srgbClr val="333333"/>
                </a:solidFill>
                <a:latin typeface="Consolas"/>
              </a:rPr>
              <a:t>pnpm test</a:t>
            </a:r>
            <a:r>
              <a:rPr lang="en-US" sz="1100" b="0" i="0" dirty="0">
                <a:solidFill>
                  <a:srgbClr val="333333"/>
                </a:solidFill>
                <a:latin typeface="Segoe UI"/>
              </a:rPr>
              <a:t> </a:t>
            </a:r>
            <a:r>
              <a:rPr lang="ja-JP" sz="1100" b="0" i="0" dirty="0">
                <a:solidFill>
                  <a:srgbClr val="333333"/>
                </a:solidFill>
                <a:ea typeface="Meiryo"/>
              </a:rPr>
              <a:t>のようにコマンドを書く。</a:t>
            </a:r>
          </a:p>
          <a:p>
            <a:pPr marL="228600" indent="-228600">
              <a:spcBef>
                <a:spcPts val="0"/>
              </a:spcBef>
              <a:spcAft>
                <a:spcPts val="400"/>
              </a:spcAft>
              <a:buChar char="•"/>
              <a:lnSpc>
                <a:spcPts val="1980"/>
              </a:lnSpc>
            </a:pPr>
            <a:r>
              <a:rPr lang="ja-JP" sz="1100" b="0" i="0" dirty="0">
                <a:solidFill>
                  <a:srgbClr val="333333"/>
                </a:solidFill>
                <a:ea typeface="Meiryo"/>
              </a:rPr>
              <a:t>禁止事項は対象と理由をそろえる。</a:t>
            </a:r>
          </a:p>
          <a:p>
            <a:pPr marL="228600" indent="-228600">
              <a:spcBef>
                <a:spcPts val="0"/>
              </a:spcBef>
              <a:spcAft>
                <a:spcPts val="400"/>
              </a:spcAft>
              <a:buChar char="•"/>
              <a:lnSpc>
                <a:spcPts val="1980"/>
              </a:lnSpc>
            </a:pPr>
            <a:r>
              <a:rPr lang="ja-JP" sz="1100" b="0" i="0" dirty="0">
                <a:solidFill>
                  <a:srgbClr val="333333"/>
                </a:solidFill>
                <a:ea typeface="Meiryo"/>
              </a:rPr>
              <a:t>完了条件や確認順序まで含める。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4777740"/>
            <a:ext cx="9144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8600" y="4823459"/>
            <a:ext cx="18288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fld id="{F2F360E1-FBB9-48D6-9FC8-C0BA8EF72BF7}" type="slidenum">
              <a:rPr lang="ja-JP" smtClean="0" sz="1000">
                <a:solidFill>
                  <a:srgbClr val="888888"/>
                </a:solidFill>
              </a:rPr>
              <a:t>&lt;#&gt;</a:t>
            </a:fld>
            <a:r>
              <a:rPr lang="ja-JP" smtClean="0" sz="1000">
                <a:solidFill>
                  <a:srgbClr val="888888"/>
                </a:solidFill>
              </a:rPr>
              <a:t>/</a:t>
            </a:r>
            <a:fld id="{BA483F28-3477-4272-860D-415297F4706F}" type="slidecount">
              <a:rPr lang="ja-JP" smtClean="0" sz="1000">
                <a:solidFill>
                  <a:srgbClr val="888888"/>
                </a:solidFill>
              </a:rPr>
              <a:t>11</a:t>
            </a:fld>
          </a:p>
        </p:txBody>
      </p:sp>
      <p:pic>
        <p:nvPicPr>
          <p:cNvPr id="19" name="Picture 18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4846320"/>
            <a:ext cx="762000" cy="228600"/>
          </a:xfrm>
          <a:prstGeom prst="rect">
            <a:avLst/>
          </a:prstGeom>
          <a:effectLst/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85039"/>
            <a:ext cx="8686800" cy="4114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noAutofit/>
          </a:bodyPr>
          <a:lstStyle/>
          <a:p>
            <a:r>
              <a:rPr lang="ja-JP" sz="2400" b="1" i="0" dirty="0">
                <a:solidFill>
                  <a:srgbClr val="FFFFFF"/>
                </a:solidFill>
                <a:ea typeface="Meiryo"/>
              </a:rPr>
              <a:t>章立ては</a:t>
            </a:r>
            <a:r>
              <a:rPr lang="en-US" sz="2400" b="1" i="0" dirty="0">
                <a:solidFill>
                  <a:srgbClr val="FFFFFF"/>
                </a:solidFill>
                <a:latin typeface="Segoe UI"/>
              </a:rPr>
              <a:t>AI</a:t>
            </a:r>
            <a:r>
              <a:rPr lang="ja-JP" sz="2400" b="1" i="0" dirty="0">
                <a:solidFill>
                  <a:srgbClr val="FFFFFF"/>
                </a:solidFill>
                <a:ea typeface="Meiryo"/>
              </a:rPr>
              <a:t>の探索順を作る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23036"/>
            <a:ext cx="868680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noAutofit/>
          </a:bodyPr>
          <a:lstStyle/>
          <a:p>
            <a:r>
              <a:rPr lang="en-US" sz="1200" b="0" i="0" dirty="0">
                <a:solidFill>
                  <a:srgbClr val="FFFFFF"/>
                </a:solidFill>
                <a:latin typeface="Segoe UI"/>
              </a:rPr>
              <a:t>7</a:t>
            </a:r>
            <a:r>
              <a:rPr lang="ja-JP" sz="1200" b="0" i="0" dirty="0">
                <a:solidFill>
                  <a:srgbClr val="FFFFFF"/>
                </a:solidFill>
                <a:ea typeface="Meiryo"/>
              </a:rPr>
              <a:t>章で「何を、どう触るか」を迷わせない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64592" y="941832"/>
          <a:ext cx="8814816" cy="27534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938272"/>
                <a:gridCol w="2938272"/>
                <a:gridCol w="2938272"/>
              </a:tblGrid>
              <a:tr h="344185">
                <a:tc>
                  <a:txBody>
                    <a:bodyPr lIns="88900" rIns="88900" tIns="38100" bIns="38100" wrap="square" anchor="ctr"/>
                    <a:lstStyle/>
                    <a:p>
                      <a:r>
                        <a:rPr lang="ja-JP" sz="1200" b="1" i="0" dirty="0">
                          <a:solidFill>
                            <a:srgbClr val="FFFFFF"/>
                          </a:solidFill>
                          <a:ea typeface="Meiryo"/>
                        </a:rPr>
                        <a:t>章</a:t>
                      </a:r>
                    </a:p>
                  </a:txBody>
                  <a:tcPr anchor="ctr">
                    <a:solidFill>
                      <a:srgbClr val="6B7A99"/>
                    </a:solidFill>
                    <a:lnL w="9525" cap="flat" cmpd="sng" algn="ctr">
                      <a:solidFill>
                        <a:srgbClr val="D0D0D0"/>
                      </a:solidFill>
                      <a:prstDash val="solid"/>
                    </a:lnL>
                    <a:lnR w="9525" cap="flat" cmpd="sng" algn="ctr">
                      <a:solidFill>
                        <a:srgbClr val="D0D0D0"/>
                      </a:solidFill>
                      <a:prstDash val="solid"/>
                    </a:lnR>
                    <a:lnT w="9525" cap="flat" cmpd="sng" algn="ctr">
                      <a:solidFill>
                        <a:srgbClr val="D0D0D0"/>
                      </a:solidFill>
                      <a:prstDash val="solid"/>
                    </a:lnT>
                    <a:lnB w="9525" cap="flat" cmpd="sng" algn="ctr">
                      <a:solidFill>
                        <a:srgbClr val="D0D0D0"/>
                      </a:solidFill>
                      <a:prstDash val="solid"/>
                    </a:lnB>
                  </a:tcPr>
                </a:tc>
                <a:tc>
                  <a:txBody>
                    <a:bodyPr lIns="88900" rIns="88900" tIns="38100" bIns="38100" wrap="square" anchor="ctr"/>
                    <a:lstStyle/>
                    <a:p>
                      <a:r>
                        <a:rPr lang="ja-JP" sz="1200" b="1" i="0" dirty="0">
                          <a:solidFill>
                            <a:srgbClr val="FFFFFF"/>
                          </a:solidFill>
                          <a:ea typeface="Meiryo"/>
                        </a:rPr>
                        <a:t>役割</a:t>
                      </a:r>
                    </a:p>
                  </a:txBody>
                  <a:tcPr anchor="ctr">
                    <a:solidFill>
                      <a:srgbClr val="6B7A99"/>
                    </a:solidFill>
                    <a:lnL w="9525" cap="flat" cmpd="sng" algn="ctr">
                      <a:solidFill>
                        <a:srgbClr val="D0D0D0"/>
                      </a:solidFill>
                      <a:prstDash val="solid"/>
                    </a:lnL>
                    <a:lnR w="9525" cap="flat" cmpd="sng" algn="ctr">
                      <a:solidFill>
                        <a:srgbClr val="D0D0D0"/>
                      </a:solidFill>
                      <a:prstDash val="solid"/>
                    </a:lnR>
                    <a:lnT w="9525" cap="flat" cmpd="sng" algn="ctr">
                      <a:solidFill>
                        <a:srgbClr val="D0D0D0"/>
                      </a:solidFill>
                      <a:prstDash val="solid"/>
                    </a:lnT>
                    <a:lnB w="9525" cap="flat" cmpd="sng" algn="ctr">
                      <a:solidFill>
                        <a:srgbClr val="D0D0D0"/>
                      </a:solidFill>
                      <a:prstDash val="solid"/>
                    </a:lnB>
                  </a:tcPr>
                </a:tc>
                <a:tc>
                  <a:txBody>
                    <a:bodyPr lIns="88900" rIns="88900" tIns="38100" bIns="38100" wrap="square" anchor="ctr"/>
                    <a:lstStyle/>
                    <a:p>
                      <a:r>
                        <a:rPr lang="ja-JP" sz="1200" b="1" i="0" dirty="0">
                          <a:solidFill>
                            <a:srgbClr val="FFFFFF"/>
                          </a:solidFill>
                          <a:ea typeface="Meiryo"/>
                        </a:rPr>
                        <a:t>入れるべき情報</a:t>
                      </a:r>
                    </a:p>
                  </a:txBody>
                  <a:tcPr anchor="ctr">
                    <a:solidFill>
                      <a:srgbClr val="6B7A99"/>
                    </a:solidFill>
                    <a:lnL w="9525" cap="flat" cmpd="sng" algn="ctr">
                      <a:solidFill>
                        <a:srgbClr val="D0D0D0"/>
                      </a:solidFill>
                      <a:prstDash val="solid"/>
                    </a:lnL>
                    <a:lnR w="9525" cap="flat" cmpd="sng" algn="ctr">
                      <a:solidFill>
                        <a:srgbClr val="D0D0D0"/>
                      </a:solidFill>
                      <a:prstDash val="solid"/>
                    </a:lnR>
                    <a:lnT w="9525" cap="flat" cmpd="sng" algn="ctr">
                      <a:solidFill>
                        <a:srgbClr val="D0D0D0"/>
                      </a:solidFill>
                      <a:prstDash val="solid"/>
                    </a:lnT>
                    <a:lnB w="9525" cap="flat" cmpd="sng" algn="ctr">
                      <a:solidFill>
                        <a:srgbClr val="D0D0D0"/>
                      </a:solidFill>
                      <a:prstDash val="solid"/>
                    </a:lnB>
                  </a:tcPr>
                </a:tc>
              </a:tr>
              <a:tr h="344185">
                <a:tc>
                  <a:txBody>
                    <a:bodyPr lIns="88900" rIns="88900" tIns="38100" bIns="38100" wrap="square" anchor="ctr"/>
                    <a:lstStyle/>
                    <a:p>
                      <a:r>
                        <a:rPr lang="ja-JP" sz="1200" b="1" i="0" dirty="0">
                          <a:solidFill>
                            <a:srgbClr val="FFFFFF"/>
                          </a:solidFill>
                          <a:ea typeface="Meiryo"/>
                        </a:rPr>
                        <a:t>プロジェクト概要</a:t>
                      </a:r>
                    </a:p>
                  </a:txBody>
                  <a:tcPr anchor="ctr">
                    <a:solidFill>
                      <a:srgbClr val="6B7A99"/>
                    </a:solidFill>
                    <a:lnL w="9525" cap="flat" cmpd="sng" algn="ctr">
                      <a:solidFill>
                        <a:srgbClr val="D0D0D0"/>
                      </a:solidFill>
                      <a:prstDash val="solid"/>
                    </a:lnL>
                    <a:lnR w="9525" cap="flat" cmpd="sng" algn="ctr">
                      <a:solidFill>
                        <a:srgbClr val="D0D0D0"/>
                      </a:solidFill>
                      <a:prstDash val="solid"/>
                    </a:lnR>
                    <a:lnT w="9525" cap="flat" cmpd="sng" algn="ctr">
                      <a:solidFill>
                        <a:srgbClr val="D0D0D0"/>
                      </a:solidFill>
                      <a:prstDash val="solid"/>
                    </a:lnT>
                    <a:lnB w="9525" cap="flat" cmpd="sng" algn="ctr">
                      <a:solidFill>
                        <a:srgbClr val="D0D0D0"/>
                      </a:solidFill>
                      <a:prstDash val="solid"/>
                    </a:lnB>
                  </a:tcPr>
                </a:tc>
                <a:tc>
                  <a:txBody>
                    <a:bodyPr lIns="88900" rIns="88900" tIns="38100" bIns="38100" wrap="square" anchor="ctr"/>
                    <a:lstStyle/>
                    <a:p>
                      <a:r>
                        <a:rPr lang="ja-JP" sz="1200" b="0" i="0" dirty="0">
                          <a:solidFill>
                            <a:srgbClr val="333333"/>
                          </a:solidFill>
                          <a:ea typeface="Meiryo"/>
                        </a:rPr>
                        <a:t>何を作るかを共有する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 algn="ctr">
                      <a:solidFill>
                        <a:srgbClr val="D0D0D0"/>
                      </a:solidFill>
                      <a:prstDash val="solid"/>
                    </a:lnL>
                    <a:lnR w="9525" cap="flat" cmpd="sng" algn="ctr">
                      <a:solidFill>
                        <a:srgbClr val="D0D0D0"/>
                      </a:solidFill>
                      <a:prstDash val="solid"/>
                    </a:lnR>
                    <a:lnT w="9525" cap="flat" cmpd="sng" algn="ctr">
                      <a:solidFill>
                        <a:srgbClr val="D0D0D0"/>
                      </a:solidFill>
                      <a:prstDash val="solid"/>
                    </a:lnT>
                    <a:lnB w="9525" cap="flat" cmpd="sng" algn="ctr">
                      <a:solidFill>
                        <a:srgbClr val="D0D0D0"/>
                      </a:solidFill>
                      <a:prstDash val="solid"/>
                    </a:lnB>
                  </a:tcPr>
                </a:tc>
                <a:tc>
                  <a:txBody>
                    <a:bodyPr lIns="88900" rIns="88900" tIns="38100" bIns="38100" wrap="square" anchor="ctr"/>
                    <a:lstStyle/>
                    <a:p>
                      <a:r>
                        <a:rPr lang="ja-JP" sz="1200" b="0" i="0" dirty="0">
                          <a:solidFill>
                            <a:srgbClr val="333333"/>
                          </a:solidFill>
                          <a:ea typeface="Meiryo"/>
                        </a:rPr>
                        <a:t>目的、ユーザー、非機能要件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 algn="ctr">
                      <a:solidFill>
                        <a:srgbClr val="D0D0D0"/>
                      </a:solidFill>
                      <a:prstDash val="solid"/>
                    </a:lnL>
                    <a:lnR w="9525" cap="flat" cmpd="sng" algn="ctr">
                      <a:solidFill>
                        <a:srgbClr val="D0D0D0"/>
                      </a:solidFill>
                      <a:prstDash val="solid"/>
                    </a:lnR>
                    <a:lnT w="9525" cap="flat" cmpd="sng" algn="ctr">
                      <a:solidFill>
                        <a:srgbClr val="D0D0D0"/>
                      </a:solidFill>
                      <a:prstDash val="solid"/>
                    </a:lnT>
                    <a:lnB w="9525" cap="flat" cmpd="sng" algn="ctr">
                      <a:solidFill>
                        <a:srgbClr val="D0D0D0"/>
                      </a:solidFill>
                      <a:prstDash val="solid"/>
                    </a:lnB>
                  </a:tcPr>
                </a:tc>
              </a:tr>
              <a:tr h="344185">
                <a:tc>
                  <a:txBody>
                    <a:bodyPr lIns="88900" rIns="88900" tIns="38100" bIns="38100" wrap="square" anchor="ctr"/>
                    <a:lstStyle/>
                    <a:p>
                      <a:r>
                        <a:rPr lang="ja-JP" sz="1200" b="1" i="0" dirty="0">
                          <a:solidFill>
                            <a:srgbClr val="FFFFFF"/>
                          </a:solidFill>
                          <a:ea typeface="Meiryo"/>
                        </a:rPr>
                        <a:t>技術スタック</a:t>
                      </a:r>
                    </a:p>
                  </a:txBody>
                  <a:tcPr anchor="ctr">
                    <a:solidFill>
                      <a:srgbClr val="6B7A99"/>
                    </a:solidFill>
                    <a:lnL w="9525" cap="flat" cmpd="sng" algn="ctr">
                      <a:solidFill>
                        <a:srgbClr val="D0D0D0"/>
                      </a:solidFill>
                      <a:prstDash val="solid"/>
                    </a:lnL>
                    <a:lnR w="9525" cap="flat" cmpd="sng" algn="ctr">
                      <a:solidFill>
                        <a:srgbClr val="D0D0D0"/>
                      </a:solidFill>
                      <a:prstDash val="solid"/>
                    </a:lnR>
                    <a:lnT w="9525" cap="flat" cmpd="sng" algn="ctr">
                      <a:solidFill>
                        <a:srgbClr val="D0D0D0"/>
                      </a:solidFill>
                      <a:prstDash val="solid"/>
                    </a:lnT>
                    <a:lnB w="9525" cap="flat" cmpd="sng" algn="ctr">
                      <a:solidFill>
                        <a:srgbClr val="D0D0D0"/>
                      </a:solidFill>
                      <a:prstDash val="solid"/>
                    </a:lnB>
                  </a:tcPr>
                </a:tc>
                <a:tc>
                  <a:txBody>
                    <a:bodyPr lIns="88900" rIns="88900" tIns="38100" bIns="38100" wrap="square" anchor="ctr"/>
                    <a:lstStyle/>
                    <a:p>
                      <a:r>
                        <a:rPr lang="ja-JP" sz="1200" b="0" i="0" dirty="0">
                          <a:solidFill>
                            <a:srgbClr val="333333"/>
                          </a:solidFill>
                          <a:ea typeface="Meiryo"/>
                        </a:rPr>
                        <a:t>提案の幅を制御する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9525" cap="flat" cmpd="sng" algn="ctr">
                      <a:solidFill>
                        <a:srgbClr val="D0D0D0"/>
                      </a:solidFill>
                      <a:prstDash val="solid"/>
                    </a:lnL>
                    <a:lnR w="9525" cap="flat" cmpd="sng" algn="ctr">
                      <a:solidFill>
                        <a:srgbClr val="D0D0D0"/>
                      </a:solidFill>
                      <a:prstDash val="solid"/>
                    </a:lnR>
                    <a:lnT w="9525" cap="flat" cmpd="sng" algn="ctr">
                      <a:solidFill>
                        <a:srgbClr val="D0D0D0"/>
                      </a:solidFill>
                      <a:prstDash val="solid"/>
                    </a:lnT>
                    <a:lnB w="9525" cap="flat" cmpd="sng" algn="ctr">
                      <a:solidFill>
                        <a:srgbClr val="D0D0D0"/>
                      </a:solidFill>
                      <a:prstDash val="solid"/>
                    </a:lnB>
                  </a:tcPr>
                </a:tc>
                <a:tc>
                  <a:txBody>
                    <a:bodyPr lIns="88900" rIns="88900" tIns="38100" bIns="38100" wrap="square" anchor="ctr"/>
                    <a:lstStyle/>
                    <a:p>
                      <a:r>
                        <a:rPr lang="ja-JP" sz="1200" b="0" i="0" dirty="0">
                          <a:solidFill>
                            <a:srgbClr val="333333"/>
                          </a:solidFill>
                          <a:ea typeface="Meiryo"/>
                        </a:rPr>
                        <a:t>言語、フレームワーク、禁止ライブラリ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9525" cap="flat" cmpd="sng" algn="ctr">
                      <a:solidFill>
                        <a:srgbClr val="D0D0D0"/>
                      </a:solidFill>
                      <a:prstDash val="solid"/>
                    </a:lnL>
                    <a:lnR w="9525" cap="flat" cmpd="sng" algn="ctr">
                      <a:solidFill>
                        <a:srgbClr val="D0D0D0"/>
                      </a:solidFill>
                      <a:prstDash val="solid"/>
                    </a:lnR>
                    <a:lnT w="9525" cap="flat" cmpd="sng" algn="ctr">
                      <a:solidFill>
                        <a:srgbClr val="D0D0D0"/>
                      </a:solidFill>
                      <a:prstDash val="solid"/>
                    </a:lnT>
                    <a:lnB w="9525" cap="flat" cmpd="sng" algn="ctr">
                      <a:solidFill>
                        <a:srgbClr val="D0D0D0"/>
                      </a:solidFill>
                      <a:prstDash val="solid"/>
                    </a:lnB>
                  </a:tcPr>
                </a:tc>
              </a:tr>
              <a:tr h="344185">
                <a:tc>
                  <a:txBody>
                    <a:bodyPr lIns="88900" rIns="88900" tIns="38100" bIns="38100" wrap="square" anchor="ctr"/>
                    <a:lstStyle/>
                    <a:p>
                      <a:r>
                        <a:rPr lang="ja-JP" sz="1200" b="1" i="0" dirty="0">
                          <a:solidFill>
                            <a:srgbClr val="FFFFFF"/>
                          </a:solidFill>
                          <a:ea typeface="Meiryo"/>
                        </a:rPr>
                        <a:t>ディレクトリ構成</a:t>
                      </a:r>
                    </a:p>
                  </a:txBody>
                  <a:tcPr anchor="ctr">
                    <a:solidFill>
                      <a:srgbClr val="6B7A99"/>
                    </a:solidFill>
                    <a:lnL w="9525" cap="flat" cmpd="sng" algn="ctr">
                      <a:solidFill>
                        <a:srgbClr val="D0D0D0"/>
                      </a:solidFill>
                      <a:prstDash val="solid"/>
                    </a:lnL>
                    <a:lnR w="9525" cap="flat" cmpd="sng" algn="ctr">
                      <a:solidFill>
                        <a:srgbClr val="D0D0D0"/>
                      </a:solidFill>
                      <a:prstDash val="solid"/>
                    </a:lnR>
                    <a:lnT w="9525" cap="flat" cmpd="sng" algn="ctr">
                      <a:solidFill>
                        <a:srgbClr val="D0D0D0"/>
                      </a:solidFill>
                      <a:prstDash val="solid"/>
                    </a:lnT>
                    <a:lnB w="9525" cap="flat" cmpd="sng" algn="ctr">
                      <a:solidFill>
                        <a:srgbClr val="D0D0D0"/>
                      </a:solidFill>
                      <a:prstDash val="solid"/>
                    </a:lnB>
                  </a:tcPr>
                </a:tc>
                <a:tc>
                  <a:txBody>
                    <a:bodyPr lIns="88900" rIns="88900" tIns="38100" bIns="38100" wrap="square" anchor="ctr"/>
                    <a:lstStyle/>
                    <a:p>
                      <a:r>
                        <a:rPr lang="ja-JP" sz="1200" b="0" i="0" dirty="0">
                          <a:solidFill>
                            <a:srgbClr val="333333"/>
                          </a:solidFill>
                          <a:ea typeface="Meiryo"/>
                        </a:rPr>
                        <a:t>ファイル探索を助ける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 algn="ctr">
                      <a:solidFill>
                        <a:srgbClr val="D0D0D0"/>
                      </a:solidFill>
                      <a:prstDash val="solid"/>
                    </a:lnL>
                    <a:lnR w="9525" cap="flat" cmpd="sng" algn="ctr">
                      <a:solidFill>
                        <a:srgbClr val="D0D0D0"/>
                      </a:solidFill>
                      <a:prstDash val="solid"/>
                    </a:lnR>
                    <a:lnT w="9525" cap="flat" cmpd="sng" algn="ctr">
                      <a:solidFill>
                        <a:srgbClr val="D0D0D0"/>
                      </a:solidFill>
                      <a:prstDash val="solid"/>
                    </a:lnT>
                    <a:lnB w="9525" cap="flat" cmpd="sng" algn="ctr">
                      <a:solidFill>
                        <a:srgbClr val="D0D0D0"/>
                      </a:solidFill>
                      <a:prstDash val="solid"/>
                    </a:lnB>
                  </a:tcPr>
                </a:tc>
                <a:tc>
                  <a:txBody>
                    <a:bodyPr lIns="88900" rIns="88900" tIns="38100" bIns="38100" wrap="square" anchor="ctr"/>
                    <a:lstStyle/>
                    <a:p>
                      <a:r>
                        <a:rPr lang="ja-JP" sz="1200" b="0" i="0" dirty="0">
                          <a:solidFill>
                            <a:srgbClr val="333333"/>
                          </a:solidFill>
                          <a:ea typeface="Meiryo"/>
                        </a:rPr>
                        <a:t>主要フォルダ、責務、隔離ルール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 algn="ctr">
                      <a:solidFill>
                        <a:srgbClr val="D0D0D0"/>
                      </a:solidFill>
                      <a:prstDash val="solid"/>
                    </a:lnL>
                    <a:lnR w="9525" cap="flat" cmpd="sng" algn="ctr">
                      <a:solidFill>
                        <a:srgbClr val="D0D0D0"/>
                      </a:solidFill>
                      <a:prstDash val="solid"/>
                    </a:lnR>
                    <a:lnT w="9525" cap="flat" cmpd="sng" algn="ctr">
                      <a:solidFill>
                        <a:srgbClr val="D0D0D0"/>
                      </a:solidFill>
                      <a:prstDash val="solid"/>
                    </a:lnT>
                    <a:lnB w="9525" cap="flat" cmpd="sng" algn="ctr">
                      <a:solidFill>
                        <a:srgbClr val="D0D0D0"/>
                      </a:solidFill>
                      <a:prstDash val="solid"/>
                    </a:lnB>
                  </a:tcPr>
                </a:tc>
              </a:tr>
              <a:tr h="344185">
                <a:tc>
                  <a:txBody>
                    <a:bodyPr lIns="88900" rIns="88900" tIns="38100" bIns="38100" wrap="square" anchor="ctr"/>
                    <a:lstStyle/>
                    <a:p>
                      <a:r>
                        <a:rPr lang="ja-JP" sz="1200" b="1" i="0" dirty="0">
                          <a:solidFill>
                            <a:srgbClr val="FFFFFF"/>
                          </a:solidFill>
                          <a:ea typeface="Meiryo"/>
                        </a:rPr>
                        <a:t>コマンド集</a:t>
                      </a:r>
                    </a:p>
                  </a:txBody>
                  <a:tcPr anchor="ctr">
                    <a:solidFill>
                      <a:srgbClr val="6B7A99"/>
                    </a:solidFill>
                    <a:lnL w="9525" cap="flat" cmpd="sng" algn="ctr">
                      <a:solidFill>
                        <a:srgbClr val="D0D0D0"/>
                      </a:solidFill>
                      <a:prstDash val="solid"/>
                    </a:lnL>
                    <a:lnR w="9525" cap="flat" cmpd="sng" algn="ctr">
                      <a:solidFill>
                        <a:srgbClr val="D0D0D0"/>
                      </a:solidFill>
                      <a:prstDash val="solid"/>
                    </a:lnR>
                    <a:lnT w="9525" cap="flat" cmpd="sng" algn="ctr">
                      <a:solidFill>
                        <a:srgbClr val="D0D0D0"/>
                      </a:solidFill>
                      <a:prstDash val="solid"/>
                    </a:lnT>
                    <a:lnB w="9525" cap="flat" cmpd="sng" algn="ctr">
                      <a:solidFill>
                        <a:srgbClr val="D0D0D0"/>
                      </a:solidFill>
                      <a:prstDash val="solid"/>
                    </a:lnB>
                  </a:tcPr>
                </a:tc>
                <a:tc>
                  <a:txBody>
                    <a:bodyPr lIns="88900" rIns="88900" tIns="38100" bIns="38100" wrap="square" anchor="ctr"/>
                    <a:lstStyle/>
                    <a:p>
                      <a:r>
                        <a:rPr lang="ja-JP" sz="1200" b="0" i="0" dirty="0">
                          <a:solidFill>
                            <a:srgbClr val="333333"/>
                          </a:solidFill>
                          <a:ea typeface="Meiryo"/>
                        </a:rPr>
                        <a:t>検証を自動化しやすくする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9525" cap="flat" cmpd="sng" algn="ctr">
                      <a:solidFill>
                        <a:srgbClr val="D0D0D0"/>
                      </a:solidFill>
                      <a:prstDash val="solid"/>
                    </a:lnL>
                    <a:lnR w="9525" cap="flat" cmpd="sng" algn="ctr">
                      <a:solidFill>
                        <a:srgbClr val="D0D0D0"/>
                      </a:solidFill>
                      <a:prstDash val="solid"/>
                    </a:lnR>
                    <a:lnT w="9525" cap="flat" cmpd="sng" algn="ctr">
                      <a:solidFill>
                        <a:srgbClr val="D0D0D0"/>
                      </a:solidFill>
                      <a:prstDash val="solid"/>
                    </a:lnT>
                    <a:lnB w="9525" cap="flat" cmpd="sng" algn="ctr">
                      <a:solidFill>
                        <a:srgbClr val="D0D0D0"/>
                      </a:solidFill>
                      <a:prstDash val="solid"/>
                    </a:lnB>
                  </a:tcPr>
                </a:tc>
                <a:tc>
                  <a:txBody>
                    <a:bodyPr lIns="88900" rIns="88900" tIns="38100" bIns="38100" wrap="square" anchor="ctr"/>
                    <a:lstStyle/>
                    <a:p>
                      <a:r>
                        <a:rPr lang="en-US" sz="1200" b="0" i="0" dirty="0">
                          <a:solidFill>
                            <a:srgbClr val="333333"/>
                          </a:solidFill>
                          <a:latin typeface="Segoe UI"/>
                        </a:rPr>
                        <a:t>dev</a:t>
                      </a:r>
                      <a:r>
                        <a:rPr lang="ja-JP" sz="1200" b="0" i="0" dirty="0">
                          <a:solidFill>
                            <a:srgbClr val="333333"/>
                          </a:solidFill>
                          <a:ea typeface="Meiryo"/>
                        </a:rPr>
                        <a:t>、</a:t>
                      </a:r>
                      <a:r>
                        <a:rPr lang="en-US" sz="1200" b="0" i="0" dirty="0">
                          <a:solidFill>
                            <a:srgbClr val="333333"/>
                          </a:solidFill>
                          <a:latin typeface="Segoe UI"/>
                        </a:rPr>
                        <a:t>test</a:t>
                      </a:r>
                      <a:r>
                        <a:rPr lang="ja-JP" sz="1200" b="0" i="0" dirty="0">
                          <a:solidFill>
                            <a:srgbClr val="333333"/>
                          </a:solidFill>
                          <a:ea typeface="Meiryo"/>
                        </a:rPr>
                        <a:t>、</a:t>
                      </a:r>
                      <a:r>
                        <a:rPr lang="en-US" sz="1200" b="0" i="0" dirty="0">
                          <a:solidFill>
                            <a:srgbClr val="333333"/>
                          </a:solidFill>
                          <a:latin typeface="Segoe UI"/>
                        </a:rPr>
                        <a:t>typecheck</a:t>
                      </a:r>
                      <a:r>
                        <a:rPr lang="ja-JP" sz="1200" b="0" i="0" dirty="0">
                          <a:solidFill>
                            <a:srgbClr val="333333"/>
                          </a:solidFill>
                          <a:ea typeface="Meiryo"/>
                        </a:rPr>
                        <a:t>、</a:t>
                      </a:r>
                      <a:r>
                        <a:rPr lang="en-US" sz="1200" b="0" i="0" dirty="0">
                          <a:solidFill>
                            <a:srgbClr val="333333"/>
                          </a:solidFill>
                          <a:latin typeface="Segoe UI"/>
                        </a:rPr>
                        <a:t>lint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9525" cap="flat" cmpd="sng" algn="ctr">
                      <a:solidFill>
                        <a:srgbClr val="D0D0D0"/>
                      </a:solidFill>
                      <a:prstDash val="solid"/>
                    </a:lnL>
                    <a:lnR w="9525" cap="flat" cmpd="sng" algn="ctr">
                      <a:solidFill>
                        <a:srgbClr val="D0D0D0"/>
                      </a:solidFill>
                      <a:prstDash val="solid"/>
                    </a:lnR>
                    <a:lnT w="9525" cap="flat" cmpd="sng" algn="ctr">
                      <a:solidFill>
                        <a:srgbClr val="D0D0D0"/>
                      </a:solidFill>
                      <a:prstDash val="solid"/>
                    </a:lnT>
                    <a:lnB w="9525" cap="flat" cmpd="sng" algn="ctr">
                      <a:solidFill>
                        <a:srgbClr val="D0D0D0"/>
                      </a:solidFill>
                      <a:prstDash val="solid"/>
                    </a:lnB>
                  </a:tcPr>
                </a:tc>
              </a:tr>
              <a:tr h="344185">
                <a:tc>
                  <a:txBody>
                    <a:bodyPr lIns="88900" rIns="88900" tIns="38100" bIns="38100" wrap="square" anchor="ctr"/>
                    <a:lstStyle/>
                    <a:p>
                      <a:r>
                        <a:rPr lang="ja-JP" sz="1200" b="1" i="0" dirty="0">
                          <a:solidFill>
                            <a:srgbClr val="FFFFFF"/>
                          </a:solidFill>
                          <a:ea typeface="Meiryo"/>
                        </a:rPr>
                        <a:t>コーディング規約</a:t>
                      </a:r>
                    </a:p>
                  </a:txBody>
                  <a:tcPr anchor="ctr">
                    <a:solidFill>
                      <a:srgbClr val="6B7A99"/>
                    </a:solidFill>
                    <a:lnL w="9525" cap="flat" cmpd="sng" algn="ctr">
                      <a:solidFill>
                        <a:srgbClr val="D0D0D0"/>
                      </a:solidFill>
                      <a:prstDash val="solid"/>
                    </a:lnL>
                    <a:lnR w="9525" cap="flat" cmpd="sng" algn="ctr">
                      <a:solidFill>
                        <a:srgbClr val="D0D0D0"/>
                      </a:solidFill>
                      <a:prstDash val="solid"/>
                    </a:lnR>
                    <a:lnT w="9525" cap="flat" cmpd="sng" algn="ctr">
                      <a:solidFill>
                        <a:srgbClr val="D0D0D0"/>
                      </a:solidFill>
                      <a:prstDash val="solid"/>
                    </a:lnT>
                    <a:lnB w="9525" cap="flat" cmpd="sng" algn="ctr">
                      <a:solidFill>
                        <a:srgbClr val="D0D0D0"/>
                      </a:solidFill>
                      <a:prstDash val="solid"/>
                    </a:lnB>
                  </a:tcPr>
                </a:tc>
                <a:tc>
                  <a:txBody>
                    <a:bodyPr lIns="88900" rIns="88900" tIns="38100" bIns="38100" wrap="square" anchor="ctr"/>
                    <a:lstStyle/>
                    <a:p>
                      <a:r>
                        <a:rPr lang="ja-JP" sz="1200" b="0" i="0" dirty="0">
                          <a:solidFill>
                            <a:srgbClr val="333333"/>
                          </a:solidFill>
                          <a:ea typeface="Meiryo"/>
                        </a:rPr>
                        <a:t>自動化しにくい好みを固定する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 algn="ctr">
                      <a:solidFill>
                        <a:srgbClr val="D0D0D0"/>
                      </a:solidFill>
                      <a:prstDash val="solid"/>
                    </a:lnL>
                    <a:lnR w="9525" cap="flat" cmpd="sng" algn="ctr">
                      <a:solidFill>
                        <a:srgbClr val="D0D0D0"/>
                      </a:solidFill>
                      <a:prstDash val="solid"/>
                    </a:lnR>
                    <a:lnT w="9525" cap="flat" cmpd="sng" algn="ctr">
                      <a:solidFill>
                        <a:srgbClr val="D0D0D0"/>
                      </a:solidFill>
                      <a:prstDash val="solid"/>
                    </a:lnT>
                    <a:lnB w="9525" cap="flat" cmpd="sng" algn="ctr">
                      <a:solidFill>
                        <a:srgbClr val="D0D0D0"/>
                      </a:solidFill>
                      <a:prstDash val="solid"/>
                    </a:lnB>
                  </a:tcPr>
                </a:tc>
                <a:tc>
                  <a:txBody>
                    <a:bodyPr lIns="88900" rIns="88900" tIns="38100" bIns="38100" wrap="square" anchor="ctr"/>
                    <a:lstStyle/>
                    <a:p>
                      <a:r>
                        <a:rPr lang="ja-JP" sz="1200" b="0" i="0" dirty="0">
                          <a:solidFill>
                            <a:srgbClr val="333333"/>
                          </a:solidFill>
                          <a:ea typeface="Meiryo"/>
                        </a:rPr>
                        <a:t>インデント、命名、</a:t>
                      </a:r>
                      <a:r>
                        <a:rPr lang="en-US" sz="1200" b="0" i="0" dirty="0">
                          <a:solidFill>
                            <a:srgbClr val="333333"/>
                          </a:solidFill>
                          <a:latin typeface="Segoe UI"/>
                        </a:rPr>
                        <a:t>TypeScript</a:t>
                      </a:r>
                      <a:r>
                        <a:rPr lang="ja-JP" sz="1200" b="0" i="0" dirty="0">
                          <a:solidFill>
                            <a:srgbClr val="333333"/>
                          </a:solidFill>
                          <a:ea typeface="Meiryo"/>
                        </a:rPr>
                        <a:t>方針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 algn="ctr">
                      <a:solidFill>
                        <a:srgbClr val="D0D0D0"/>
                      </a:solidFill>
                      <a:prstDash val="solid"/>
                    </a:lnL>
                    <a:lnR w="9525" cap="flat" cmpd="sng" algn="ctr">
                      <a:solidFill>
                        <a:srgbClr val="D0D0D0"/>
                      </a:solidFill>
                      <a:prstDash val="solid"/>
                    </a:lnR>
                    <a:lnT w="9525" cap="flat" cmpd="sng" algn="ctr">
                      <a:solidFill>
                        <a:srgbClr val="D0D0D0"/>
                      </a:solidFill>
                      <a:prstDash val="solid"/>
                    </a:lnT>
                    <a:lnB w="9525" cap="flat" cmpd="sng" algn="ctr">
                      <a:solidFill>
                        <a:srgbClr val="D0D0D0"/>
                      </a:solidFill>
                      <a:prstDash val="solid"/>
                    </a:lnB>
                  </a:tcPr>
                </a:tc>
              </a:tr>
              <a:tr h="344185">
                <a:tc>
                  <a:txBody>
                    <a:bodyPr lIns="88900" rIns="88900" tIns="38100" bIns="38100" wrap="square" anchor="ctr"/>
                    <a:lstStyle/>
                    <a:p>
                      <a:r>
                        <a:rPr lang="ja-JP" sz="1200" b="1" i="0" dirty="0">
                          <a:solidFill>
                            <a:srgbClr val="FFFFFF"/>
                          </a:solidFill>
                          <a:ea typeface="Meiryo"/>
                        </a:rPr>
                        <a:t>ワークフロー</a:t>
                      </a:r>
                    </a:p>
                  </a:txBody>
                  <a:tcPr anchor="ctr">
                    <a:solidFill>
                      <a:srgbClr val="6B7A99"/>
                    </a:solidFill>
                    <a:lnL w="9525" cap="flat" cmpd="sng" algn="ctr">
                      <a:solidFill>
                        <a:srgbClr val="D0D0D0"/>
                      </a:solidFill>
                      <a:prstDash val="solid"/>
                    </a:lnL>
                    <a:lnR w="9525" cap="flat" cmpd="sng" algn="ctr">
                      <a:solidFill>
                        <a:srgbClr val="D0D0D0"/>
                      </a:solidFill>
                      <a:prstDash val="solid"/>
                    </a:lnR>
                    <a:lnT w="9525" cap="flat" cmpd="sng" algn="ctr">
                      <a:solidFill>
                        <a:srgbClr val="D0D0D0"/>
                      </a:solidFill>
                      <a:prstDash val="solid"/>
                    </a:lnT>
                    <a:lnB w="9525" cap="flat" cmpd="sng" algn="ctr">
                      <a:solidFill>
                        <a:srgbClr val="D0D0D0"/>
                      </a:solidFill>
                      <a:prstDash val="solid"/>
                    </a:lnB>
                  </a:tcPr>
                </a:tc>
                <a:tc>
                  <a:txBody>
                    <a:bodyPr lIns="88900" rIns="88900" tIns="38100" bIns="38100" wrap="square" anchor="ctr"/>
                    <a:lstStyle/>
                    <a:p>
                      <a:r>
                        <a:rPr lang="en-US" sz="1200" b="0" i="0" dirty="0">
                          <a:solidFill>
                            <a:srgbClr val="333333"/>
                          </a:solidFill>
                          <a:latin typeface="Segoe UI"/>
                        </a:rPr>
                        <a:t>AI</a:t>
                      </a:r>
                      <a:r>
                        <a:rPr lang="ja-JP" sz="1200" b="0" i="0" dirty="0">
                          <a:solidFill>
                            <a:srgbClr val="333333"/>
                          </a:solidFill>
                          <a:ea typeface="Meiryo"/>
                        </a:rPr>
                        <a:t>の作業手順を制御する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9525" cap="flat" cmpd="sng" algn="ctr">
                      <a:solidFill>
                        <a:srgbClr val="D0D0D0"/>
                      </a:solidFill>
                      <a:prstDash val="solid"/>
                    </a:lnL>
                    <a:lnR w="9525" cap="flat" cmpd="sng" algn="ctr">
                      <a:solidFill>
                        <a:srgbClr val="D0D0D0"/>
                      </a:solidFill>
                      <a:prstDash val="solid"/>
                    </a:lnR>
                    <a:lnT w="9525" cap="flat" cmpd="sng" algn="ctr">
                      <a:solidFill>
                        <a:srgbClr val="D0D0D0"/>
                      </a:solidFill>
                      <a:prstDash val="solid"/>
                    </a:lnT>
                    <a:lnB w="9525" cap="flat" cmpd="sng" algn="ctr">
                      <a:solidFill>
                        <a:srgbClr val="D0D0D0"/>
                      </a:solidFill>
                      <a:prstDash val="solid"/>
                    </a:lnB>
                  </a:tcPr>
                </a:tc>
                <a:tc>
                  <a:txBody>
                    <a:bodyPr lIns="88900" rIns="88900" tIns="38100" bIns="38100" wrap="square" anchor="ctr"/>
                    <a:lstStyle/>
                    <a:p>
                      <a:r>
                        <a:rPr lang="ja-JP" sz="1200" b="0" i="0" dirty="0">
                          <a:solidFill>
                            <a:srgbClr val="333333"/>
                          </a:solidFill>
                          <a:ea typeface="Meiryo"/>
                        </a:rPr>
                        <a:t>調査、計画、変更、検証の順序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9525" cap="flat" cmpd="sng" algn="ctr">
                      <a:solidFill>
                        <a:srgbClr val="D0D0D0"/>
                      </a:solidFill>
                      <a:prstDash val="solid"/>
                    </a:lnL>
                    <a:lnR w="9525" cap="flat" cmpd="sng" algn="ctr">
                      <a:solidFill>
                        <a:srgbClr val="D0D0D0"/>
                      </a:solidFill>
                      <a:prstDash val="solid"/>
                    </a:lnR>
                    <a:lnT w="9525" cap="flat" cmpd="sng" algn="ctr">
                      <a:solidFill>
                        <a:srgbClr val="D0D0D0"/>
                      </a:solidFill>
                      <a:prstDash val="solid"/>
                    </a:lnT>
                    <a:lnB w="9525" cap="flat" cmpd="sng" algn="ctr">
                      <a:solidFill>
                        <a:srgbClr val="D0D0D0"/>
                      </a:solidFill>
                      <a:prstDash val="solid"/>
                    </a:lnB>
                  </a:tcPr>
                </a:tc>
              </a:tr>
              <a:tr h="344185">
                <a:tc>
                  <a:txBody>
                    <a:bodyPr lIns="88900" rIns="88900" tIns="38100" bIns="38100" wrap="square" anchor="ctr"/>
                    <a:lstStyle/>
                    <a:p>
                      <a:r>
                        <a:rPr lang="ja-JP" sz="1200" b="1" i="0" dirty="0">
                          <a:solidFill>
                            <a:srgbClr val="FFFFFF"/>
                          </a:solidFill>
                          <a:ea typeface="Meiryo"/>
                        </a:rPr>
                        <a:t>落とし穴</a:t>
                      </a:r>
                    </a:p>
                  </a:txBody>
                  <a:tcPr anchor="ctr">
                    <a:solidFill>
                      <a:srgbClr val="6B7A99"/>
                    </a:solidFill>
                    <a:lnL w="9525" cap="flat" cmpd="sng" algn="ctr">
                      <a:solidFill>
                        <a:srgbClr val="D0D0D0"/>
                      </a:solidFill>
                      <a:prstDash val="solid"/>
                    </a:lnL>
                    <a:lnR w="9525" cap="flat" cmpd="sng" algn="ctr">
                      <a:solidFill>
                        <a:srgbClr val="D0D0D0"/>
                      </a:solidFill>
                      <a:prstDash val="solid"/>
                    </a:lnR>
                    <a:lnT w="9525" cap="flat" cmpd="sng" algn="ctr">
                      <a:solidFill>
                        <a:srgbClr val="D0D0D0"/>
                      </a:solidFill>
                      <a:prstDash val="solid"/>
                    </a:lnT>
                    <a:lnB w="9525" cap="flat" cmpd="sng" algn="ctr">
                      <a:solidFill>
                        <a:srgbClr val="D0D0D0"/>
                      </a:solidFill>
                      <a:prstDash val="solid"/>
                    </a:lnB>
                  </a:tcPr>
                </a:tc>
                <a:tc>
                  <a:txBody>
                    <a:bodyPr lIns="88900" rIns="88900" tIns="38100" bIns="38100" wrap="square" anchor="ctr"/>
                    <a:lstStyle/>
                    <a:p>
                      <a:r>
                        <a:rPr lang="ja-JP" sz="1200" b="0" i="0" dirty="0">
                          <a:solidFill>
                            <a:srgbClr val="333333"/>
                          </a:solidFill>
                          <a:ea typeface="Meiryo"/>
                        </a:rPr>
                        <a:t>推測しにくい制約を守る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 algn="ctr">
                      <a:solidFill>
                        <a:srgbClr val="D0D0D0"/>
                      </a:solidFill>
                      <a:prstDash val="solid"/>
                    </a:lnL>
                    <a:lnR w="9525" cap="flat" cmpd="sng" algn="ctr">
                      <a:solidFill>
                        <a:srgbClr val="D0D0D0"/>
                      </a:solidFill>
                      <a:prstDash val="solid"/>
                    </a:lnR>
                    <a:lnT w="9525" cap="flat" cmpd="sng" algn="ctr">
                      <a:solidFill>
                        <a:srgbClr val="D0D0D0"/>
                      </a:solidFill>
                      <a:prstDash val="solid"/>
                    </a:lnT>
                    <a:lnB w="9525" cap="flat" cmpd="sng" algn="ctr">
                      <a:solidFill>
                        <a:srgbClr val="D0D0D0"/>
                      </a:solidFill>
                      <a:prstDash val="solid"/>
                    </a:lnB>
                  </a:tcPr>
                </a:tc>
                <a:tc>
                  <a:txBody>
                    <a:bodyPr lIns="88900" rIns="88900" tIns="38100" bIns="38100" wrap="square" anchor="ctr"/>
                    <a:lstStyle/>
                    <a:p>
                      <a:r>
                        <a:rPr lang="ja-JP" sz="1200" b="0" i="0" dirty="0">
                          <a:solidFill>
                            <a:srgbClr val="333333"/>
                          </a:solidFill>
                          <a:ea typeface="Meiryo"/>
                        </a:rPr>
                        <a:t>本番環境、個人情報、</a:t>
                      </a:r>
                      <a:r>
                        <a:rPr lang="en-US" sz="1200" b="0" i="0" dirty="0">
                          <a:solidFill>
                            <a:srgbClr val="333333"/>
                          </a:solidFill>
                          <a:latin typeface="Segoe UI"/>
                        </a:rPr>
                        <a:t>OS</a:t>
                      </a:r>
                      <a:r>
                        <a:rPr lang="ja-JP" sz="1200" b="0" i="0" dirty="0">
                          <a:solidFill>
                            <a:srgbClr val="333333"/>
                          </a:solidFill>
                          <a:ea typeface="Meiryo"/>
                        </a:rPr>
                        <a:t>前提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9525" cap="flat" cmpd="sng" algn="ctr">
                      <a:solidFill>
                        <a:srgbClr val="D0D0D0"/>
                      </a:solidFill>
                      <a:prstDash val="solid"/>
                    </a:lnL>
                    <a:lnR w="9525" cap="flat" cmpd="sng" algn="ctr">
                      <a:solidFill>
                        <a:srgbClr val="D0D0D0"/>
                      </a:solidFill>
                      <a:prstDash val="solid"/>
                    </a:lnR>
                    <a:lnT w="9525" cap="flat" cmpd="sng" algn="ctr">
                      <a:solidFill>
                        <a:srgbClr val="D0D0D0"/>
                      </a:solidFill>
                      <a:prstDash val="solid"/>
                    </a:lnT>
                    <a:lnB w="9525" cap="flat" cmpd="sng" algn="ctr">
                      <a:solidFill>
                        <a:srgbClr val="D0D0D0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164592" y="3768471"/>
            <a:ext cx="8814816" cy="844677"/>
          </a:xfrm>
          <a:prstGeom prst="rect">
            <a:avLst/>
          </a:prstGeom>
          <a:solidFill>
            <a:srgbClr val="EEF2FF"/>
          </a:solidFill>
          <a:ln w="19050">
            <a:solidFill>
              <a:srgbClr val="6B7A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3768471"/>
            <a:ext cx="64008" cy="844677"/>
          </a:xfrm>
          <a:prstGeom prst="rect">
            <a:avLst/>
          </a:prstGeom>
          <a:solidFill>
            <a:srgbClr val="6B7A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3878199"/>
            <a:ext cx="8476488" cy="625221"/>
          </a:xfrm>
          <a:prstGeom prst="rect">
            <a:avLst/>
          </a:prstGeom>
          <a:noFill/>
          <a:effectLst/>
        </p:spPr>
        <p:txBody>
          <a:bodyPr wrap="squar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  <a:buNone/>
              <a:lnSpc>
                <a:spcPts val="2160"/>
              </a:lnSpc>
            </a:pPr>
            <a:r>
              <a:rPr lang="ja-JP" sz="1200" b="0" i="0" dirty="0">
                <a:solidFill>
                  <a:srgbClr val="1A2A5A"/>
                </a:solidFill>
                <a:ea typeface="Meiryo"/>
              </a:rPr>
              <a:t>章立ては情報整理ではなく、</a:t>
            </a:r>
            <a:r>
              <a:rPr lang="en-US" sz="1200" b="0" i="0" dirty="0">
                <a:solidFill>
                  <a:srgbClr val="1A2A5A"/>
                </a:solidFill>
                <a:latin typeface="Segoe UI"/>
              </a:rPr>
              <a:t>AI</a:t>
            </a:r>
            <a:r>
              <a:rPr lang="ja-JP" sz="1200" b="0" i="0" dirty="0">
                <a:solidFill>
                  <a:srgbClr val="1A2A5A"/>
                </a:solidFill>
                <a:ea typeface="Meiryo"/>
              </a:rPr>
              <a:t>が安全に作業へ入るための</a:t>
            </a:r>
            <a:r>
              <a:rPr lang="ja-JP" sz="1200" b="1" i="0" dirty="0">
                <a:solidFill>
                  <a:srgbClr val="1A2A5A"/>
                </a:solidFill>
                <a:ea typeface="Meiryo"/>
              </a:rPr>
              <a:t>探索導線</a:t>
            </a:r>
            <a:r>
              <a:rPr lang="ja-JP" sz="1200" b="0" i="0" dirty="0">
                <a:solidFill>
                  <a:srgbClr val="1A2A5A"/>
                </a:solidFill>
                <a:ea typeface="Meiryo"/>
              </a:rPr>
              <a:t>である。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4777740"/>
            <a:ext cx="9144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" y="4823459"/>
            <a:ext cx="18288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fld id="{9A77507D-25FC-4B63-A508-51A888CDD98D}" type="slidenum">
              <a:rPr lang="ja-JP" smtClean="0" sz="1000">
                <a:solidFill>
                  <a:srgbClr val="888888"/>
                </a:solidFill>
              </a:rPr>
              <a:t>&lt;#&gt;</a:t>
            </a:fld>
            <a:r>
              <a:rPr lang="ja-JP" smtClean="0" sz="1000">
                <a:solidFill>
                  <a:srgbClr val="888888"/>
                </a:solidFill>
              </a:rPr>
              <a:t>/</a:t>
            </a:r>
            <a:fld id="{B11C64D6-EC2F-43F8-899F-D6CB56FB3A29}" type="slidecount">
              <a:rPr lang="ja-JP" smtClean="0" sz="1000">
                <a:solidFill>
                  <a:srgbClr val="888888"/>
                </a:solidFill>
              </a:rPr>
              <a:t>11</a:t>
            </a:fld>
          </a:p>
        </p:txBody>
      </p:sp>
      <p:pic>
        <p:nvPicPr>
          <p:cNvPr id="11" name="Picture 10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4846320"/>
            <a:ext cx="762000" cy="228600"/>
          </a:xfrm>
          <a:prstGeom prst="rect">
            <a:avLst/>
          </a:prstGeom>
          <a:effectLst/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85039"/>
            <a:ext cx="8686800" cy="4114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noAutofit/>
          </a:bodyPr>
          <a:lstStyle/>
          <a:p>
            <a:r>
              <a:rPr lang="ja-JP" sz="2400" b="1" i="0" dirty="0">
                <a:solidFill>
                  <a:srgbClr val="FFFFFF"/>
                </a:solidFill>
                <a:ea typeface="Meiryo"/>
              </a:rPr>
              <a:t>コマンドと禁止事項はそのまま使える形にする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23036"/>
            <a:ext cx="868680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noAutofit/>
          </a:bodyPr>
          <a:lstStyle/>
          <a:p>
            <a:r>
              <a:rPr lang="ja-JP" sz="1200" b="0" i="0" dirty="0">
                <a:solidFill>
                  <a:srgbClr val="FFFFFF"/>
                </a:solidFill>
                <a:ea typeface="Meiryo"/>
              </a:rPr>
              <a:t>抽象ルールを実行手順へ変換する</a:t>
            </a:r>
          </a:p>
        </p:txBody>
      </p:sp>
      <p:sp>
        <p:nvSpPr>
          <p:cNvPr id="5" name="Step5"/>
          <p:cNvSpPr/>
          <p:nvPr/>
        </p:nvSpPr>
        <p:spPr>
          <a:xfrm>
            <a:off x="164592" y="941832"/>
            <a:ext cx="2148840" cy="959205"/>
          </a:xfrm>
          <a:custGeom>
            <a:avLst/>
            <a:gdLst/>
            <a:ahLst/>
            <a:cxnLst/>
            <a:rect l="0" t="0" r="r" b="b"/>
            <a:pathLst>
              <a:path w="100000" h="100000">
                <a:moveTo>
                  <a:pt x="0" y="0"/>
                </a:moveTo>
                <a:lnTo>
                  <a:pt x="88000" y="0"/>
                </a:lnTo>
                <a:lnTo>
                  <a:pt x="100000" y="50000"/>
                </a:lnTo>
                <a:lnTo>
                  <a:pt x="88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D0D0D0"/>
          </a:solidFill>
          <a:ln w="9525">
            <a:solidFill>
              <a:srgbClr val="CCCCCC"/>
            </a:solidFill>
          </a:ln>
          <a:effectLst/>
        </p:spPr>
        <p:txBody>
          <a:bodyPr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301751" y="941832"/>
            <a:ext cx="1826514" cy="959205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noAutofit/>
          </a:bodyPr>
          <a:lstStyle/>
          <a:p>
            <a:r>
              <a:rPr lang="ja-JP" sz="1400" b="1" i="0" dirty="0">
                <a:solidFill>
                  <a:srgbClr val="333333"/>
                </a:solidFill>
                <a:ea typeface="Meiryo"/>
              </a:rPr>
              <a:t>コマンドを固定する</a:t>
            </a:r>
          </a:p>
        </p:txBody>
      </p:sp>
      <p:sp>
        <p:nvSpPr>
          <p:cNvPr id="7" name="Step7"/>
          <p:cNvSpPr/>
          <p:nvPr/>
        </p:nvSpPr>
        <p:spPr>
          <a:xfrm>
            <a:off x="2386584" y="941832"/>
            <a:ext cx="2148840" cy="959205"/>
          </a:xfrm>
          <a:custGeom>
            <a:avLst/>
            <a:gdLst/>
            <a:ahLst/>
            <a:cxnLst/>
            <a:rect l="0" t="0" r="r" b="b"/>
            <a:pathLst>
              <a:path w="100000" h="100000">
                <a:moveTo>
                  <a:pt x="0" y="0"/>
                </a:moveTo>
                <a:lnTo>
                  <a:pt x="88000" y="0"/>
                </a:lnTo>
                <a:lnTo>
                  <a:pt x="100000" y="50000"/>
                </a:lnTo>
                <a:lnTo>
                  <a:pt x="88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D0D0D0"/>
          </a:solidFill>
          <a:ln w="9525">
            <a:solidFill>
              <a:srgbClr val="CCCCCC"/>
            </a:solidFill>
          </a:ln>
          <a:effectLst/>
        </p:spPr>
        <p:txBody>
          <a:bodyPr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2523744" y="941832"/>
            <a:ext cx="1826514" cy="959205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noAutofit/>
          </a:bodyPr>
          <a:lstStyle/>
          <a:p>
            <a:r>
              <a:rPr lang="ja-JP" sz="1400" b="1" i="0" dirty="0">
                <a:solidFill>
                  <a:srgbClr val="333333"/>
                </a:solidFill>
                <a:ea typeface="Meiryo"/>
              </a:rPr>
              <a:t>触る場所を示す</a:t>
            </a:r>
          </a:p>
        </p:txBody>
      </p:sp>
      <p:sp>
        <p:nvSpPr>
          <p:cNvPr id="9" name="Step9"/>
          <p:cNvSpPr/>
          <p:nvPr/>
        </p:nvSpPr>
        <p:spPr>
          <a:xfrm>
            <a:off x="4608576" y="941832"/>
            <a:ext cx="2148840" cy="959205"/>
          </a:xfrm>
          <a:custGeom>
            <a:avLst/>
            <a:gdLst/>
            <a:ahLst/>
            <a:cxnLst/>
            <a:rect l="0" t="0" r="r" b="b"/>
            <a:pathLst>
              <a:path w="100000" h="100000">
                <a:moveTo>
                  <a:pt x="0" y="0"/>
                </a:moveTo>
                <a:lnTo>
                  <a:pt x="88000" y="0"/>
                </a:lnTo>
                <a:lnTo>
                  <a:pt x="100000" y="50000"/>
                </a:lnTo>
                <a:lnTo>
                  <a:pt x="88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D0D0D0"/>
          </a:solidFill>
          <a:ln w="9525">
            <a:solidFill>
              <a:srgbClr val="CCCCCC"/>
            </a:solidFill>
          </a:ln>
          <a:effectLst/>
        </p:spPr>
        <p:txBody>
          <a:bodyPr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745736" y="941832"/>
            <a:ext cx="1826514" cy="959205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noAutofit/>
          </a:bodyPr>
          <a:lstStyle/>
          <a:p>
            <a:r>
              <a:rPr lang="ja-JP" sz="1400" b="1" i="0" dirty="0">
                <a:solidFill>
                  <a:srgbClr val="333333"/>
                </a:solidFill>
                <a:ea typeface="Meiryo"/>
              </a:rPr>
              <a:t>禁止操作を明示する</a:t>
            </a:r>
          </a:p>
        </p:txBody>
      </p:sp>
      <p:sp>
        <p:nvSpPr>
          <p:cNvPr id="11" name="Step11"/>
          <p:cNvSpPr/>
          <p:nvPr/>
        </p:nvSpPr>
        <p:spPr>
          <a:xfrm>
            <a:off x="6830568" y="941832"/>
            <a:ext cx="2148840" cy="959205"/>
          </a:xfrm>
          <a:custGeom>
            <a:avLst/>
            <a:gdLst/>
            <a:ahLst/>
            <a:cxnLst/>
            <a:rect l="0" t="0" r="r" b="b"/>
            <a:pathLst>
              <a:path w="100000" h="100000">
                <a:moveTo>
                  <a:pt x="0" y="0"/>
                </a:moveTo>
                <a:lnTo>
                  <a:pt x="88000" y="0"/>
                </a:lnTo>
                <a:lnTo>
                  <a:pt x="100000" y="50000"/>
                </a:lnTo>
                <a:lnTo>
                  <a:pt x="88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D0D0D0"/>
          </a:solidFill>
          <a:ln w="9525">
            <a:solidFill>
              <a:srgbClr val="CCCCCC"/>
            </a:solidFill>
          </a:ln>
          <a:effectLst/>
        </p:spPr>
        <p:txBody>
          <a:bodyPr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967728" y="941832"/>
            <a:ext cx="1826514" cy="959205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noAutofit/>
          </a:bodyPr>
          <a:lstStyle/>
          <a:p>
            <a:r>
              <a:rPr lang="ja-JP" sz="1400" b="1" i="0" dirty="0">
                <a:solidFill>
                  <a:srgbClr val="333333"/>
                </a:solidFill>
                <a:ea typeface="Meiryo"/>
              </a:rPr>
              <a:t>検証順を決める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4592" y="1974189"/>
            <a:ext cx="2148840" cy="2638958"/>
          </a:xfrm>
          <a:prstGeom prst="rect">
            <a:avLst/>
          </a:prstGeom>
          <a:solidFill>
            <a:srgbClr val="F5F5F5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1751" y="2083917"/>
            <a:ext cx="1874520" cy="2419502"/>
          </a:xfrm>
          <a:prstGeom prst="rect">
            <a:avLst/>
          </a:prstGeom>
          <a:noFill/>
          <a:effectLst/>
        </p:spPr>
        <p:txBody>
          <a:bodyPr wrap="squar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  <a:buNone/>
              <a:lnSpc>
                <a:spcPts val="1980"/>
              </a:lnSpc>
            </a:pPr>
            <a:r>
              <a:rPr lang="en-US" sz="1100" b="0" i="0" dirty="0">
                <a:solidFill>
                  <a:srgbClr val="333333"/>
                </a:solidFill>
                <a:latin typeface="Consolas"/>
              </a:rPr>
              <a:t>pnpm dev</a:t>
            </a:r>
            <a:r>
              <a:rPr lang="ja-JP" sz="1100" b="0" i="0" dirty="0">
                <a:solidFill>
                  <a:srgbClr val="333333"/>
                </a:solidFill>
                <a:ea typeface="Meiryo"/>
              </a:rPr>
              <a:t>、</a:t>
            </a:r>
            <a:r>
              <a:rPr lang="en-US" sz="1100" b="0" i="0" dirty="0">
                <a:solidFill>
                  <a:srgbClr val="333333"/>
                </a:solidFill>
                <a:latin typeface="Consolas"/>
              </a:rPr>
              <a:t>pnpm test</a:t>
            </a:r>
            <a:r>
              <a:rPr lang="ja-JP" sz="1100" b="0" i="0" dirty="0">
                <a:solidFill>
                  <a:srgbClr val="333333"/>
                </a:solidFill>
                <a:ea typeface="Meiryo"/>
              </a:rPr>
              <a:t>、</a:t>
            </a:r>
            <a:r>
              <a:rPr lang="en-US" sz="1100" b="0" i="0" dirty="0">
                <a:solidFill>
                  <a:srgbClr val="333333"/>
                </a:solidFill>
                <a:latin typeface="Consolas"/>
              </a:rPr>
              <a:t>pnpm typecheck</a:t>
            </a:r>
            <a:r>
              <a:rPr lang="ja-JP" sz="1100" b="0" i="0" dirty="0">
                <a:solidFill>
                  <a:srgbClr val="333333"/>
                </a:solidFill>
                <a:ea typeface="Meiryo"/>
              </a:rPr>
              <a:t>、</a:t>
            </a:r>
            <a:r>
              <a:rPr lang="en-US" sz="1100" b="0" i="0" dirty="0">
                <a:solidFill>
                  <a:srgbClr val="333333"/>
                </a:solidFill>
                <a:latin typeface="Consolas"/>
              </a:rPr>
              <a:t>pnpm lint</a:t>
            </a:r>
            <a:r>
              <a:rPr lang="ja-JP" sz="1100" b="0" i="0" dirty="0">
                <a:solidFill>
                  <a:srgbClr val="333333"/>
                </a:solidFill>
                <a:ea typeface="Meiryo"/>
              </a:rPr>
              <a:t>のように、実行文字列をそのまま書く。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86584" y="1974189"/>
            <a:ext cx="2148840" cy="2638958"/>
          </a:xfrm>
          <a:prstGeom prst="rect">
            <a:avLst/>
          </a:prstGeom>
          <a:solidFill>
            <a:srgbClr val="F5F5F5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23744" y="2083917"/>
            <a:ext cx="1874520" cy="2419502"/>
          </a:xfrm>
          <a:prstGeom prst="rect">
            <a:avLst/>
          </a:prstGeom>
          <a:noFill/>
          <a:effectLst/>
        </p:spPr>
        <p:txBody>
          <a:bodyPr wrap="squar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  <a:buNone/>
              <a:lnSpc>
                <a:spcPts val="1980"/>
              </a:lnSpc>
            </a:pPr>
            <a:r>
              <a:rPr lang="en-US" sz="1100" b="0" i="0" dirty="0">
                <a:solidFill>
                  <a:srgbClr val="333333"/>
                </a:solidFill>
                <a:latin typeface="Consolas"/>
              </a:rPr>
              <a:t>src/app</a:t>
            </a:r>
            <a:r>
              <a:rPr lang="ja-JP" sz="1100" b="0" i="0" dirty="0">
                <a:solidFill>
                  <a:srgbClr val="333333"/>
                </a:solidFill>
                <a:ea typeface="Meiryo"/>
              </a:rPr>
              <a:t>、</a:t>
            </a:r>
            <a:r>
              <a:rPr lang="en-US" sz="1100" b="0" i="0" dirty="0">
                <a:solidFill>
                  <a:srgbClr val="333333"/>
                </a:solidFill>
                <a:latin typeface="Consolas"/>
              </a:rPr>
              <a:t>src/features</a:t>
            </a:r>
            <a:r>
              <a:rPr lang="ja-JP" sz="1100" b="0" i="0" dirty="0">
                <a:solidFill>
                  <a:srgbClr val="333333"/>
                </a:solidFill>
                <a:ea typeface="Meiryo"/>
              </a:rPr>
              <a:t>、</a:t>
            </a:r>
            <a:r>
              <a:rPr lang="en-US" sz="1100" b="0" i="0" dirty="0">
                <a:solidFill>
                  <a:srgbClr val="333333"/>
                </a:solidFill>
                <a:latin typeface="Consolas"/>
              </a:rPr>
              <a:t>src/domain</a:t>
            </a:r>
            <a:r>
              <a:rPr lang="ja-JP" sz="1100" b="0" i="0" dirty="0">
                <a:solidFill>
                  <a:srgbClr val="333333"/>
                </a:solidFill>
                <a:ea typeface="Meiryo"/>
              </a:rPr>
              <a:t>など、責務の境界を具体的に置く。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08576" y="1974189"/>
            <a:ext cx="2148840" cy="2638958"/>
          </a:xfrm>
          <a:prstGeom prst="rect">
            <a:avLst/>
          </a:prstGeom>
          <a:solidFill>
            <a:srgbClr val="F5F5F5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45736" y="2083917"/>
            <a:ext cx="1874520" cy="2419502"/>
          </a:xfrm>
          <a:prstGeom prst="rect">
            <a:avLst/>
          </a:prstGeom>
          <a:noFill/>
          <a:effectLst/>
        </p:spPr>
        <p:txBody>
          <a:bodyPr wrap="squar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  <a:buNone/>
              <a:lnSpc>
                <a:spcPts val="1980"/>
              </a:lnSpc>
            </a:pPr>
            <a:r>
              <a:rPr lang="ja-JP" sz="1100" b="0" i="0" dirty="0">
                <a:solidFill>
                  <a:srgbClr val="333333"/>
                </a:solidFill>
                <a:ea typeface="Meiryo"/>
              </a:rPr>
              <a:t>本番の</a:t>
            </a:r>
            <a:r>
              <a:rPr lang="en-US" sz="1100" b="0" i="0" dirty="0">
                <a:solidFill>
                  <a:srgbClr val="333333"/>
                </a:solidFill>
                <a:latin typeface="Consolas"/>
              </a:rPr>
              <a:t>DATABASE_URL</a:t>
            </a:r>
            <a:r>
              <a:rPr lang="ja-JP" sz="1100" b="0" i="0" dirty="0">
                <a:solidFill>
                  <a:srgbClr val="333333"/>
                </a:solidFill>
                <a:ea typeface="Meiryo"/>
              </a:rPr>
              <a:t>や個人情報ログなど、事故になりやすい対象を先に縛る。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30568" y="1974189"/>
            <a:ext cx="2148840" cy="2638958"/>
          </a:xfrm>
          <a:prstGeom prst="rect">
            <a:avLst/>
          </a:prstGeom>
          <a:solidFill>
            <a:srgbClr val="F5F5F5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67728" y="2083917"/>
            <a:ext cx="1874520" cy="2419502"/>
          </a:xfrm>
          <a:prstGeom prst="rect">
            <a:avLst/>
          </a:prstGeom>
          <a:noFill/>
          <a:effectLst/>
        </p:spPr>
        <p:txBody>
          <a:bodyPr wrap="squar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  <a:buNone/>
              <a:lnSpc>
                <a:spcPts val="1980"/>
              </a:lnSpc>
            </a:pPr>
            <a:r>
              <a:rPr lang="ja-JP" sz="1100" b="0" i="0" dirty="0">
                <a:solidFill>
                  <a:srgbClr val="333333"/>
                </a:solidFill>
                <a:ea typeface="Meiryo"/>
              </a:rPr>
              <a:t>関連テスト、</a:t>
            </a:r>
            <a:r>
              <a:rPr lang="en-US" sz="1100" b="0" i="0" dirty="0">
                <a:solidFill>
                  <a:srgbClr val="333333"/>
                </a:solidFill>
                <a:latin typeface="Segoe UI"/>
              </a:rPr>
              <a:t>lint</a:t>
            </a:r>
            <a:r>
              <a:rPr lang="ja-JP" sz="1100" b="0" i="0" dirty="0">
                <a:solidFill>
                  <a:srgbClr val="333333"/>
                </a:solidFill>
                <a:ea typeface="Meiryo"/>
              </a:rPr>
              <a:t>、</a:t>
            </a:r>
            <a:r>
              <a:rPr lang="en-US" sz="1100" b="0" i="0" dirty="0">
                <a:solidFill>
                  <a:srgbClr val="333333"/>
                </a:solidFill>
                <a:latin typeface="Segoe UI"/>
              </a:rPr>
              <a:t>typecheck</a:t>
            </a:r>
            <a:r>
              <a:rPr lang="ja-JP" sz="1100" b="0" i="0" dirty="0">
                <a:solidFill>
                  <a:srgbClr val="333333"/>
                </a:solidFill>
                <a:ea typeface="Meiryo"/>
              </a:rPr>
              <a:t>の順に確認し、失敗時は修正して再実行する。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4777740"/>
            <a:ext cx="9144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28600" y="4823459"/>
            <a:ext cx="18288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fld id="{91371E8C-3D71-465B-8ACC-F46B16D5EAB9}" type="slidenum">
              <a:rPr lang="ja-JP" smtClean="0" sz="1000">
                <a:solidFill>
                  <a:srgbClr val="888888"/>
                </a:solidFill>
              </a:rPr>
              <a:t>&lt;#&gt;</a:t>
            </a:fld>
            <a:r>
              <a:rPr lang="ja-JP" smtClean="0" sz="1000">
                <a:solidFill>
                  <a:srgbClr val="888888"/>
                </a:solidFill>
              </a:rPr>
              <a:t>/</a:t>
            </a:r>
            <a:fld id="{2CF2DA0B-97A7-4F5E-8C28-D1E1D15E9D04}" type="slidecount">
              <a:rPr lang="ja-JP" smtClean="0" sz="1000">
                <a:solidFill>
                  <a:srgbClr val="888888"/>
                </a:solidFill>
              </a:rPr>
              <a:t>11</a:t>
            </a:fld>
          </a:p>
        </p:txBody>
      </p:sp>
      <p:pic>
        <p:nvPicPr>
          <p:cNvPr id="23" name="Picture 2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4846320"/>
            <a:ext cx="762000" cy="228600"/>
          </a:xfrm>
          <a:prstGeom prst="rect">
            <a:avLst/>
          </a:prstGeom>
          <a:effectLst/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85039"/>
            <a:ext cx="8686800" cy="4114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noAutofit/>
          </a:bodyPr>
          <a:lstStyle/>
          <a:p>
            <a:r>
              <a:rPr lang="ja-JP" sz="2400" b="1" i="0" dirty="0">
                <a:solidFill>
                  <a:srgbClr val="FFFFFF"/>
                </a:solidFill>
                <a:ea typeface="Meiryo"/>
              </a:rPr>
              <a:t>スコープ分離でノイズを減らす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23036"/>
            <a:ext cx="868680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noAutofit/>
          </a:bodyPr>
          <a:lstStyle/>
          <a:p>
            <a:r>
              <a:rPr lang="ja-JP" sz="1200" b="0" i="0" dirty="0">
                <a:solidFill>
                  <a:srgbClr val="FFFFFF"/>
                </a:solidFill>
                <a:ea typeface="Meiryo"/>
              </a:rPr>
              <a:t>ルートと領域別ルールを使い分ける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164592" y="941832"/>
            <a:ext cx="8814816" cy="844677"/>
          </a:xfrm>
          <a:prstGeom prst="rect">
            <a:avLst/>
          </a:prstGeom>
          <a:solidFill>
            <a:srgbClr val="E8EDF2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751" y="1051560"/>
            <a:ext cx="8540496" cy="625221"/>
          </a:xfrm>
          <a:prstGeom prst="rect">
            <a:avLst/>
          </a:prstGeom>
          <a:noFill/>
          <a:effectLst/>
        </p:spPr>
        <p:txBody>
          <a:bodyPr wrap="squar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  <a:buNone/>
              <a:lnSpc>
                <a:spcPts val="2160"/>
              </a:lnSpc>
            </a:pPr>
            <a:r>
              <a:rPr lang="ja-JP" sz="1200" b="0" i="0" dirty="0">
                <a:solidFill>
                  <a:srgbClr val="333333"/>
                </a:solidFill>
                <a:ea typeface="Meiryo"/>
              </a:rPr>
              <a:t>共通ルールと局所ルールを分けると、</a:t>
            </a:r>
            <a:r>
              <a:rPr lang="en-US" sz="1200" b="0" i="0" dirty="0">
                <a:solidFill>
                  <a:srgbClr val="333333"/>
                </a:solidFill>
                <a:latin typeface="Segoe UI"/>
              </a:rPr>
              <a:t>AI</a:t>
            </a:r>
            <a:r>
              <a:rPr lang="ja-JP" sz="1200" b="0" i="0" dirty="0">
                <a:solidFill>
                  <a:srgbClr val="333333"/>
                </a:solidFill>
                <a:ea typeface="Meiryo"/>
              </a:rPr>
              <a:t>は今の作業に関係する制約を優先しやすくなる。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64592" y="1859661"/>
            <a:ext cx="2889504" cy="2753486"/>
          </a:xfrm>
          <a:prstGeom prst="rect">
            <a:avLst/>
          </a:prstGeom>
          <a:solidFill>
            <a:srgbClr val="F5F5F5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1751" y="1969389"/>
            <a:ext cx="2615184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r>
              <a:rPr lang="ja-JP" sz="1400" b="1" i="0" dirty="0">
                <a:solidFill>
                  <a:srgbClr val="333333"/>
                </a:solidFill>
                <a:ea typeface="Meiryo"/>
              </a:rPr>
              <a:t>ルート</a:t>
            </a:r>
            <a:r>
              <a:rPr lang="en-US" sz="1400" b="1" i="0" dirty="0">
                <a:solidFill>
                  <a:srgbClr val="333333"/>
                </a:solidFill>
                <a:latin typeface="Segoe UI"/>
              </a:rPr>
              <a:t>CLAUDE.md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1" y="2225421"/>
            <a:ext cx="2615184" cy="12700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1751" y="2298573"/>
            <a:ext cx="2615184" cy="2204847"/>
          </a:xfrm>
          <a:prstGeom prst="rect">
            <a:avLst/>
          </a:prstGeom>
          <a:noFill/>
          <a:effectLst/>
        </p:spPr>
        <p:txBody>
          <a:bodyPr wrap="squar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  <a:buNone/>
              <a:lnSpc>
                <a:spcPts val="1980"/>
              </a:lnSpc>
            </a:pPr>
            <a:r>
              <a:rPr lang="ja-JP" sz="1100" b="0" i="0" dirty="0">
                <a:solidFill>
                  <a:srgbClr val="333333"/>
                </a:solidFill>
                <a:ea typeface="Meiryo"/>
              </a:rPr>
              <a:t>プロジェクト全体で常に守る基準を置く。</a:t>
            </a:r>
          </a:p>
          <a:p>
            <a:pPr marL="228600" indent="-228600">
              <a:spcBef>
                <a:spcPts val="0"/>
              </a:spcBef>
              <a:spcAft>
                <a:spcPts val="400"/>
              </a:spcAft>
              <a:buChar char="•"/>
              <a:lnSpc>
                <a:spcPts val="1980"/>
              </a:lnSpc>
            </a:pPr>
            <a:r>
              <a:rPr lang="ja-JP" sz="1100" b="0" i="0" dirty="0">
                <a:solidFill>
                  <a:srgbClr val="333333"/>
                </a:solidFill>
                <a:ea typeface="Meiryo"/>
              </a:rPr>
              <a:t>目的、技術スタック、共通コマンドを集約する。</a:t>
            </a:r>
          </a:p>
          <a:p>
            <a:pPr marL="228600" indent="-228600">
              <a:spcBef>
                <a:spcPts val="0"/>
              </a:spcBef>
              <a:spcAft>
                <a:spcPts val="400"/>
              </a:spcAft>
              <a:buChar char="•"/>
              <a:lnSpc>
                <a:spcPts val="1980"/>
              </a:lnSpc>
            </a:pPr>
            <a:r>
              <a:rPr lang="ja-JP" sz="1100" b="0" i="0" dirty="0">
                <a:solidFill>
                  <a:srgbClr val="333333"/>
                </a:solidFill>
                <a:ea typeface="Meiryo"/>
              </a:rPr>
              <a:t>破壊的操作やセキュリティ制約を明示する。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27248" y="1859661"/>
            <a:ext cx="2889504" cy="2753486"/>
          </a:xfrm>
          <a:prstGeom prst="rect">
            <a:avLst/>
          </a:prstGeom>
          <a:solidFill>
            <a:srgbClr val="F5F5F5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64408" y="1969389"/>
            <a:ext cx="2615184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r>
              <a:rPr lang="en-US" sz="1400" b="1" i="0" dirty="0">
                <a:solidFill>
                  <a:srgbClr val="333333"/>
                </a:solidFill>
                <a:latin typeface="Segoe UI"/>
              </a:rPr>
              <a:t>frontend.md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64408" y="2225421"/>
            <a:ext cx="2615184" cy="12700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64408" y="2298573"/>
            <a:ext cx="2615184" cy="2204847"/>
          </a:xfrm>
          <a:prstGeom prst="rect">
            <a:avLst/>
          </a:prstGeom>
          <a:noFill/>
          <a:effectLst/>
        </p:spPr>
        <p:txBody>
          <a:bodyPr wrap="squar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  <a:buNone/>
              <a:lnSpc>
                <a:spcPts val="1980"/>
              </a:lnSpc>
            </a:pPr>
            <a:r>
              <a:rPr lang="en-US" sz="1100" b="0" i="0" dirty="0">
                <a:solidFill>
                  <a:srgbClr val="333333"/>
                </a:solidFill>
                <a:latin typeface="Segoe UI"/>
              </a:rPr>
              <a:t>UI</a:t>
            </a:r>
            <a:r>
              <a:rPr lang="ja-JP" sz="1100" b="0" i="0" dirty="0">
                <a:solidFill>
                  <a:srgbClr val="333333"/>
                </a:solidFill>
                <a:ea typeface="Meiryo"/>
              </a:rPr>
              <a:t>領域にだけ効く判断軸を置く。</a:t>
            </a:r>
          </a:p>
          <a:p>
            <a:pPr marL="228600" indent="-228600">
              <a:spcBef>
                <a:spcPts val="0"/>
              </a:spcBef>
              <a:spcAft>
                <a:spcPts val="400"/>
              </a:spcAft>
              <a:buChar char="•"/>
              <a:lnSpc>
                <a:spcPts val="1980"/>
              </a:lnSpc>
            </a:pPr>
            <a:r>
              <a:rPr lang="ja-JP" sz="1100" b="0" i="0" dirty="0">
                <a:solidFill>
                  <a:srgbClr val="333333"/>
                </a:solidFill>
                <a:ea typeface="Meiryo"/>
              </a:rPr>
              <a:t>コンポーネント設計、状態管理、</a:t>
            </a:r>
            <a:r>
              <a:rPr lang="en-US" sz="1100" b="0" i="0" dirty="0">
                <a:solidFill>
                  <a:srgbClr val="333333"/>
                </a:solidFill>
                <a:latin typeface="Segoe UI"/>
              </a:rPr>
              <a:t>CSS</a:t>
            </a:r>
            <a:r>
              <a:rPr lang="ja-JP" sz="1100" b="0" i="0" dirty="0">
                <a:solidFill>
                  <a:srgbClr val="333333"/>
                </a:solidFill>
                <a:ea typeface="Meiryo"/>
              </a:rPr>
              <a:t>方針を整理する。</a:t>
            </a:r>
          </a:p>
          <a:p>
            <a:pPr marL="228600" indent="-228600">
              <a:spcBef>
                <a:spcPts val="0"/>
              </a:spcBef>
              <a:spcAft>
                <a:spcPts val="400"/>
              </a:spcAft>
              <a:buChar char="•"/>
              <a:lnSpc>
                <a:spcPts val="1980"/>
              </a:lnSpc>
            </a:pPr>
            <a:r>
              <a:rPr lang="ja-JP" sz="1100" b="0" i="0" dirty="0">
                <a:solidFill>
                  <a:srgbClr val="333333"/>
                </a:solidFill>
                <a:ea typeface="Meiryo"/>
              </a:rPr>
              <a:t>見た目とアクセシビリティの基準を入れる。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89904" y="1859661"/>
            <a:ext cx="2889504" cy="2753486"/>
          </a:xfrm>
          <a:prstGeom prst="rect">
            <a:avLst/>
          </a:prstGeom>
          <a:solidFill>
            <a:srgbClr val="F5F5F5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27064" y="1969389"/>
            <a:ext cx="2615184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r>
              <a:rPr lang="en-US" sz="1400" b="1" i="0" dirty="0">
                <a:solidFill>
                  <a:srgbClr val="333333"/>
                </a:solidFill>
                <a:latin typeface="Segoe UI"/>
              </a:rPr>
              <a:t>infra.md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27064" y="2225421"/>
            <a:ext cx="2615184" cy="12700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27064" y="2298573"/>
            <a:ext cx="2615184" cy="2204847"/>
          </a:xfrm>
          <a:prstGeom prst="rect">
            <a:avLst/>
          </a:prstGeom>
          <a:noFill/>
          <a:effectLst/>
        </p:spPr>
        <p:txBody>
          <a:bodyPr wrap="squar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  <a:buNone/>
              <a:lnSpc>
                <a:spcPts val="1980"/>
              </a:lnSpc>
            </a:pPr>
            <a:r>
              <a:rPr lang="ja-JP" sz="1100" b="0" i="0" dirty="0">
                <a:solidFill>
                  <a:srgbClr val="333333"/>
                </a:solidFill>
                <a:ea typeface="Meiryo"/>
              </a:rPr>
              <a:t>スクリプトや環境操作の安全策を置く。</a:t>
            </a:r>
          </a:p>
          <a:p>
            <a:pPr marL="228600" indent="-228600">
              <a:spcBef>
                <a:spcPts val="0"/>
              </a:spcBef>
              <a:spcAft>
                <a:spcPts val="400"/>
              </a:spcAft>
              <a:buChar char="•"/>
              <a:lnSpc>
                <a:spcPts val="1980"/>
              </a:lnSpc>
            </a:pPr>
            <a:r>
              <a:rPr lang="en-US" sz="1100" b="0" i="0" dirty="0">
                <a:solidFill>
                  <a:srgbClr val="333333"/>
                </a:solidFill>
                <a:latin typeface="Segoe UI"/>
              </a:rPr>
              <a:t>OS</a:t>
            </a:r>
            <a:r>
              <a:rPr lang="ja-JP" sz="1100" b="0" i="0" dirty="0">
                <a:solidFill>
                  <a:srgbClr val="333333"/>
                </a:solidFill>
                <a:ea typeface="Meiryo"/>
              </a:rPr>
              <a:t>、シェル、ログ、</a:t>
            </a:r>
            <a:r>
              <a:rPr lang="en-US" sz="1100" b="0" i="0" dirty="0">
                <a:solidFill>
                  <a:srgbClr val="333333"/>
                </a:solidFill>
                <a:latin typeface="Segoe UI"/>
              </a:rPr>
              <a:t>dry-run</a:t>
            </a:r>
            <a:r>
              <a:rPr lang="ja-JP" sz="1100" b="0" i="0" dirty="0">
                <a:solidFill>
                  <a:srgbClr val="333333"/>
                </a:solidFill>
                <a:ea typeface="Meiryo"/>
              </a:rPr>
              <a:t>の前提を固定する。</a:t>
            </a:r>
          </a:p>
          <a:p>
            <a:pPr marL="228600" indent="-228600">
              <a:spcBef>
                <a:spcPts val="0"/>
              </a:spcBef>
              <a:spcAft>
                <a:spcPts val="400"/>
              </a:spcAft>
              <a:buChar char="•"/>
              <a:lnSpc>
                <a:spcPts val="1980"/>
              </a:lnSpc>
            </a:pPr>
            <a:r>
              <a:rPr lang="ja-JP" sz="1100" b="0" i="0" dirty="0">
                <a:solidFill>
                  <a:srgbClr val="333333"/>
                </a:solidFill>
                <a:ea typeface="Meiryo"/>
              </a:rPr>
              <a:t>本番環境への影響を避ける手順を明記する。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4777740"/>
            <a:ext cx="9144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28600" y="4823459"/>
            <a:ext cx="18288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fld id="{8955E3D1-43F0-4A3E-8836-B1EC139EA5C2}" type="slidenum">
              <a:rPr lang="ja-JP" smtClean="0" sz="1000">
                <a:solidFill>
                  <a:srgbClr val="888888"/>
                </a:solidFill>
              </a:rPr>
              <a:t>&lt;#&gt;</a:t>
            </a:fld>
            <a:r>
              <a:rPr lang="ja-JP" smtClean="0" sz="1000">
                <a:solidFill>
                  <a:srgbClr val="888888"/>
                </a:solidFill>
              </a:rPr>
              <a:t>/</a:t>
            </a:r>
            <a:fld id="{6101A070-B745-4646-8DCC-17663DFA490C}" type="slidecount">
              <a:rPr lang="ja-JP" smtClean="0" sz="1000">
                <a:solidFill>
                  <a:srgbClr val="888888"/>
                </a:solidFill>
              </a:rPr>
              <a:t>11</a:t>
            </a:fld>
          </a:p>
        </p:txBody>
      </p:sp>
      <p:pic>
        <p:nvPicPr>
          <p:cNvPr id="21" name="Picture 20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4846320"/>
            <a:ext cx="762000" cy="228600"/>
          </a:xfrm>
          <a:prstGeom prst="rect">
            <a:avLst/>
          </a:prstGeom>
          <a:effectLst/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85039"/>
            <a:ext cx="8686800" cy="4114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noAutofit/>
          </a:bodyPr>
          <a:lstStyle/>
          <a:p>
            <a:r>
              <a:rPr lang="ja-JP" sz="2400" b="1" i="0" dirty="0">
                <a:solidFill>
                  <a:srgbClr val="FFFFFF"/>
                </a:solidFill>
                <a:ea typeface="Meiryo"/>
              </a:rPr>
              <a:t>用途別テンプレートは判断軸を変える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23036"/>
            <a:ext cx="868680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noAutofit/>
          </a:bodyPr>
          <a:lstStyle/>
          <a:p>
            <a:r>
              <a:rPr lang="en-US" sz="1200" b="0" i="0" dirty="0">
                <a:solidFill>
                  <a:srgbClr val="FFFFFF"/>
                </a:solidFill>
                <a:latin typeface="Segoe UI"/>
              </a:rPr>
              <a:t>Web</a:t>
            </a:r>
            <a:r>
              <a:rPr lang="ja-JP" sz="1200" b="0" i="0" dirty="0">
                <a:solidFill>
                  <a:srgbClr val="FFFFFF"/>
                </a:solidFill>
                <a:ea typeface="Meiryo"/>
              </a:rPr>
              <a:t>、分析、自動化で重視点が異なる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164592" y="941832"/>
            <a:ext cx="2889504" cy="3671315"/>
          </a:xfrm>
          <a:prstGeom prst="rect">
            <a:avLst/>
          </a:prstGeom>
          <a:solidFill>
            <a:srgbClr val="F5F5F5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751" y="1051560"/>
            <a:ext cx="2615184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r>
              <a:rPr lang="en-US" sz="1400" b="1" i="0" dirty="0">
                <a:solidFill>
                  <a:srgbClr val="333333"/>
                </a:solidFill>
                <a:latin typeface="Segoe UI"/>
              </a:rPr>
              <a:t>Web</a:t>
            </a:r>
            <a:r>
              <a:rPr lang="ja-JP" sz="1400" b="1" i="0" dirty="0">
                <a:solidFill>
                  <a:srgbClr val="333333"/>
                </a:solidFill>
                <a:ea typeface="Meiryo"/>
              </a:rPr>
              <a:t>アプリ</a:t>
            </a:r>
          </a:p>
        </p:txBody>
      </p:sp>
      <p:sp>
        <p:nvSpPr>
          <p:cNvPr id="7" name="Rectangle 6"/>
          <p:cNvSpPr/>
          <p:nvPr/>
        </p:nvSpPr>
        <p:spPr>
          <a:xfrm>
            <a:off x="301751" y="1307592"/>
            <a:ext cx="2615184" cy="12700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1751" y="1380744"/>
            <a:ext cx="2615184" cy="3122675"/>
          </a:xfrm>
          <a:prstGeom prst="rect">
            <a:avLst/>
          </a:prstGeom>
          <a:noFill/>
          <a:effectLst/>
        </p:spPr>
        <p:txBody>
          <a:bodyPr wrap="squar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  <a:buNone/>
              <a:lnSpc>
                <a:spcPts val="1980"/>
              </a:lnSpc>
            </a:pPr>
            <a:r>
              <a:rPr lang="en-US" sz="1100" b="0" i="0" dirty="0">
                <a:solidFill>
                  <a:srgbClr val="333333"/>
                </a:solidFill>
                <a:latin typeface="Segoe UI"/>
              </a:rPr>
              <a:t>UI</a:t>
            </a:r>
            <a:r>
              <a:rPr lang="ja-JP" sz="1100" b="0" i="0" dirty="0">
                <a:solidFill>
                  <a:srgbClr val="333333"/>
                </a:solidFill>
                <a:ea typeface="Meiryo"/>
              </a:rPr>
              <a:t>と</a:t>
            </a:r>
            <a:r>
              <a:rPr lang="en-US" sz="1100" b="0" i="0" dirty="0">
                <a:solidFill>
                  <a:srgbClr val="333333"/>
                </a:solidFill>
                <a:latin typeface="Segoe UI"/>
              </a:rPr>
              <a:t>API</a:t>
            </a:r>
            <a:r>
              <a:rPr lang="ja-JP" sz="1100" b="0" i="0" dirty="0">
                <a:solidFill>
                  <a:srgbClr val="333333"/>
                </a:solidFill>
                <a:ea typeface="Meiryo"/>
              </a:rPr>
              <a:t>の境界を明確にする。</a:t>
            </a:r>
          </a:p>
          <a:p>
            <a:pPr marL="228600" indent="-228600">
              <a:spcBef>
                <a:spcPts val="0"/>
              </a:spcBef>
              <a:spcAft>
                <a:spcPts val="400"/>
              </a:spcAft>
              <a:buChar char="•"/>
              <a:lnSpc>
                <a:spcPts val="1980"/>
              </a:lnSpc>
            </a:pPr>
            <a:r>
              <a:rPr lang="en-US" sz="1100" b="0" i="0" dirty="0">
                <a:solidFill>
                  <a:srgbClr val="333333"/>
                </a:solidFill>
                <a:latin typeface="Segoe UI"/>
              </a:rPr>
              <a:t>CSS</a:t>
            </a:r>
            <a:r>
              <a:rPr lang="ja-JP" sz="1100" b="0" i="0" dirty="0">
                <a:solidFill>
                  <a:srgbClr val="333333"/>
                </a:solidFill>
                <a:ea typeface="Meiryo"/>
              </a:rPr>
              <a:t>フレームワークと</a:t>
            </a:r>
            <a:r>
              <a:rPr lang="en-US" sz="1100" b="0" i="0" dirty="0">
                <a:solidFill>
                  <a:srgbClr val="333333"/>
                </a:solidFill>
                <a:latin typeface="Segoe UI"/>
              </a:rPr>
              <a:t>UI</a:t>
            </a:r>
            <a:r>
              <a:rPr lang="ja-JP" sz="1100" b="0" i="0" dirty="0">
                <a:solidFill>
                  <a:srgbClr val="333333"/>
                </a:solidFill>
                <a:ea typeface="Meiryo"/>
              </a:rPr>
              <a:t>ライブラリを指定する。</a:t>
            </a:r>
          </a:p>
          <a:p>
            <a:pPr marL="228600" indent="-228600">
              <a:spcBef>
                <a:spcPts val="0"/>
              </a:spcBef>
              <a:spcAft>
                <a:spcPts val="400"/>
              </a:spcAft>
              <a:buChar char="•"/>
              <a:lnSpc>
                <a:spcPts val="1980"/>
              </a:lnSpc>
            </a:pPr>
            <a:r>
              <a:rPr lang="ja-JP" sz="1100" b="0" i="0" dirty="0">
                <a:solidFill>
                  <a:srgbClr val="333333"/>
                </a:solidFill>
                <a:ea typeface="Meiryo"/>
              </a:rPr>
              <a:t>状態管理と</a:t>
            </a:r>
            <a:r>
              <a:rPr lang="en-US" sz="1100" b="0" i="0" dirty="0">
                <a:solidFill>
                  <a:srgbClr val="333333"/>
                </a:solidFill>
                <a:latin typeface="Segoe UI"/>
              </a:rPr>
              <a:t>API</a:t>
            </a:r>
            <a:r>
              <a:rPr lang="ja-JP" sz="1100" b="0" i="0" dirty="0">
                <a:solidFill>
                  <a:srgbClr val="333333"/>
                </a:solidFill>
                <a:ea typeface="Meiryo"/>
              </a:rPr>
              <a:t>呼び出しの配置を決める。</a:t>
            </a:r>
          </a:p>
          <a:p>
            <a:pPr marL="228600" indent="-228600">
              <a:spcBef>
                <a:spcPts val="0"/>
              </a:spcBef>
              <a:spcAft>
                <a:spcPts val="400"/>
              </a:spcAft>
              <a:buChar char="•"/>
              <a:lnSpc>
                <a:spcPts val="1980"/>
              </a:lnSpc>
            </a:pPr>
            <a:r>
              <a:rPr lang="ja-JP" sz="1100" b="0" i="0" dirty="0">
                <a:solidFill>
                  <a:srgbClr val="333333"/>
                </a:solidFill>
                <a:ea typeface="Meiryo"/>
              </a:rPr>
              <a:t>表示品質と繰り返し作業の効率を両立させる。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3127248" y="941832"/>
            <a:ext cx="2889504" cy="3671315"/>
          </a:xfrm>
          <a:prstGeom prst="rect">
            <a:avLst/>
          </a:prstGeom>
          <a:solidFill>
            <a:srgbClr val="F5F5F5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64408" y="1051560"/>
            <a:ext cx="2615184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r>
              <a:rPr lang="ja-JP" sz="1400" b="1" i="0" dirty="0">
                <a:solidFill>
                  <a:srgbClr val="333333"/>
                </a:solidFill>
                <a:ea typeface="Meiryo"/>
              </a:rPr>
              <a:t>データ分析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64408" y="1307592"/>
            <a:ext cx="2615184" cy="12700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64408" y="1380744"/>
            <a:ext cx="2615184" cy="3122675"/>
          </a:xfrm>
          <a:prstGeom prst="rect">
            <a:avLst/>
          </a:prstGeom>
          <a:noFill/>
          <a:effectLst/>
        </p:spPr>
        <p:txBody>
          <a:bodyPr wrap="squar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  <a:buNone/>
              <a:lnSpc>
                <a:spcPts val="1980"/>
              </a:lnSpc>
            </a:pPr>
            <a:r>
              <a:rPr lang="ja-JP" sz="1100" b="0" i="0" dirty="0">
                <a:solidFill>
                  <a:srgbClr val="333333"/>
                </a:solidFill>
                <a:ea typeface="Meiryo"/>
              </a:rPr>
              <a:t>再現性とデータ管理を優先する。</a:t>
            </a:r>
          </a:p>
          <a:p>
            <a:pPr marL="228600" indent="-228600">
              <a:spcBef>
                <a:spcPts val="0"/>
              </a:spcBef>
              <a:spcAft>
                <a:spcPts val="400"/>
              </a:spcAft>
              <a:buChar char="•"/>
              <a:lnSpc>
                <a:spcPts val="1980"/>
              </a:lnSpc>
            </a:pPr>
            <a:r>
              <a:rPr lang="en-US" sz="1100" b="0" i="0" dirty="0">
                <a:solidFill>
                  <a:srgbClr val="333333"/>
                </a:solidFill>
                <a:latin typeface="Segoe UI"/>
              </a:rPr>
              <a:t>pandas</a:t>
            </a:r>
            <a:r>
              <a:rPr lang="ja-JP" sz="1100" b="0" i="0" dirty="0">
                <a:solidFill>
                  <a:srgbClr val="333333"/>
                </a:solidFill>
                <a:ea typeface="Meiryo"/>
              </a:rPr>
              <a:t>や</a:t>
            </a:r>
            <a:r>
              <a:rPr lang="en-US" sz="1100" b="0" i="0" dirty="0">
                <a:solidFill>
                  <a:srgbClr val="333333"/>
                </a:solidFill>
                <a:latin typeface="Segoe UI"/>
              </a:rPr>
              <a:t>scikit-learn</a:t>
            </a:r>
            <a:r>
              <a:rPr lang="ja-JP" sz="1100" b="0" i="0" dirty="0">
                <a:solidFill>
                  <a:srgbClr val="333333"/>
                </a:solidFill>
                <a:ea typeface="Meiryo"/>
              </a:rPr>
              <a:t>などの標準を固定する。</a:t>
            </a:r>
          </a:p>
          <a:p>
            <a:pPr marL="228600" indent="-228600">
              <a:spcBef>
                <a:spcPts val="0"/>
              </a:spcBef>
              <a:spcAft>
                <a:spcPts val="400"/>
              </a:spcAft>
              <a:buChar char="•"/>
              <a:lnSpc>
                <a:spcPts val="1980"/>
              </a:lnSpc>
            </a:pPr>
            <a:r>
              <a:rPr lang="en-US" sz="1100" b="0" i="0" dirty="0">
                <a:solidFill>
                  <a:srgbClr val="333333"/>
                </a:solidFill>
                <a:latin typeface="Consolas"/>
              </a:rPr>
              <a:t>data/raw</a:t>
            </a:r>
            <a:r>
              <a:rPr lang="ja-JP" sz="1100" b="0" i="0" dirty="0">
                <a:solidFill>
                  <a:srgbClr val="333333"/>
                </a:solidFill>
                <a:ea typeface="Meiryo"/>
              </a:rPr>
              <a:t>と</a:t>
            </a:r>
            <a:r>
              <a:rPr lang="en-US" sz="1100" b="0" i="0" dirty="0">
                <a:solidFill>
                  <a:srgbClr val="333333"/>
                </a:solidFill>
                <a:latin typeface="Consolas"/>
              </a:rPr>
              <a:t>data/processed</a:t>
            </a:r>
            <a:r>
              <a:rPr lang="ja-JP" sz="1100" b="0" i="0" dirty="0">
                <a:solidFill>
                  <a:srgbClr val="333333"/>
                </a:solidFill>
                <a:ea typeface="Meiryo"/>
              </a:rPr>
              <a:t>を分ける。</a:t>
            </a:r>
          </a:p>
          <a:p>
            <a:pPr marL="228600" indent="-228600">
              <a:spcBef>
                <a:spcPts val="0"/>
              </a:spcBef>
              <a:spcAft>
                <a:spcPts val="400"/>
              </a:spcAft>
              <a:buChar char="•"/>
              <a:lnSpc>
                <a:spcPts val="1980"/>
              </a:lnSpc>
            </a:pPr>
            <a:r>
              <a:rPr lang="ja-JP" sz="1100" b="0" i="0" dirty="0">
                <a:solidFill>
                  <a:srgbClr val="333333"/>
                </a:solidFill>
                <a:ea typeface="Meiryo"/>
              </a:rPr>
              <a:t>ランダムシードや処理手順を残す。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89904" y="941832"/>
            <a:ext cx="2889504" cy="3671315"/>
          </a:xfrm>
          <a:prstGeom prst="rect">
            <a:avLst/>
          </a:prstGeom>
          <a:solidFill>
            <a:srgbClr val="F5F5F5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27064" y="1051560"/>
            <a:ext cx="2615184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r>
              <a:rPr lang="ja-JP" sz="1400" b="1" i="0" dirty="0">
                <a:solidFill>
                  <a:srgbClr val="333333"/>
                </a:solidFill>
                <a:ea typeface="Meiryo"/>
              </a:rPr>
              <a:t>自動化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27064" y="1307592"/>
            <a:ext cx="2615184" cy="12700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27064" y="1380744"/>
            <a:ext cx="2615184" cy="3122675"/>
          </a:xfrm>
          <a:prstGeom prst="rect">
            <a:avLst/>
          </a:prstGeom>
          <a:noFill/>
          <a:effectLst/>
        </p:spPr>
        <p:txBody>
          <a:bodyPr wrap="squar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  <a:buNone/>
              <a:lnSpc>
                <a:spcPts val="1980"/>
              </a:lnSpc>
            </a:pPr>
            <a:r>
              <a:rPr lang="ja-JP" sz="1100" b="0" i="0" dirty="0">
                <a:solidFill>
                  <a:srgbClr val="333333"/>
                </a:solidFill>
                <a:ea typeface="Meiryo"/>
              </a:rPr>
              <a:t>操作対象と安全策を最初に縛る。</a:t>
            </a:r>
          </a:p>
          <a:p>
            <a:pPr marL="228600" indent="-228600">
              <a:spcBef>
                <a:spcPts val="0"/>
              </a:spcBef>
              <a:spcAft>
                <a:spcPts val="400"/>
              </a:spcAft>
              <a:buChar char="•"/>
              <a:lnSpc>
                <a:spcPts val="1980"/>
              </a:lnSpc>
            </a:pPr>
            <a:r>
              <a:rPr lang="en-US" sz="1100" b="0" i="0" dirty="0">
                <a:solidFill>
                  <a:srgbClr val="333333"/>
                </a:solidFill>
                <a:latin typeface="Segoe UI"/>
              </a:rPr>
              <a:t>Windows</a:t>
            </a:r>
            <a:r>
              <a:rPr lang="ja-JP" sz="1100" b="0" i="0" dirty="0">
                <a:solidFill>
                  <a:srgbClr val="333333"/>
                </a:solidFill>
                <a:ea typeface="Meiryo"/>
              </a:rPr>
              <a:t>、</a:t>
            </a:r>
            <a:r>
              <a:rPr lang="en-US" sz="1100" b="0" i="0" dirty="0">
                <a:solidFill>
                  <a:srgbClr val="333333"/>
                </a:solidFill>
                <a:latin typeface="Segoe UI"/>
              </a:rPr>
              <a:t>PowerShell</a:t>
            </a:r>
            <a:r>
              <a:rPr lang="ja-JP" sz="1100" b="0" i="0" dirty="0">
                <a:solidFill>
                  <a:srgbClr val="333333"/>
                </a:solidFill>
                <a:ea typeface="Meiryo"/>
              </a:rPr>
              <a:t>、</a:t>
            </a:r>
            <a:r>
              <a:rPr lang="en-US" sz="1100" b="0" i="0" dirty="0">
                <a:solidFill>
                  <a:srgbClr val="333333"/>
                </a:solidFill>
                <a:latin typeface="Segoe UI"/>
              </a:rPr>
              <a:t>WSL</a:t>
            </a:r>
            <a:r>
              <a:rPr lang="ja-JP" sz="1100" b="0" i="0" dirty="0">
                <a:solidFill>
                  <a:srgbClr val="333333"/>
                </a:solidFill>
                <a:ea typeface="Meiryo"/>
              </a:rPr>
              <a:t>などの前提を書く。</a:t>
            </a:r>
          </a:p>
          <a:p>
            <a:pPr marL="228600" indent="-228600">
              <a:spcBef>
                <a:spcPts val="0"/>
              </a:spcBef>
              <a:spcAft>
                <a:spcPts val="400"/>
              </a:spcAft>
              <a:buChar char="•"/>
              <a:lnSpc>
                <a:spcPts val="1980"/>
              </a:lnSpc>
            </a:pPr>
            <a:r>
              <a:rPr lang="en-US" sz="1100" b="0" i="0" dirty="0">
                <a:solidFill>
                  <a:srgbClr val="333333"/>
                </a:solidFill>
                <a:latin typeface="Consolas"/>
              </a:rPr>
              <a:t>dry-run</a:t>
            </a:r>
            <a:r>
              <a:rPr lang="ja-JP" sz="1100" b="0" i="0" dirty="0">
                <a:solidFill>
                  <a:srgbClr val="333333"/>
                </a:solidFill>
                <a:ea typeface="Meiryo"/>
              </a:rPr>
              <a:t>や</a:t>
            </a:r>
            <a:r>
              <a:rPr lang="en-US" sz="1100" b="0" i="0" dirty="0">
                <a:solidFill>
                  <a:srgbClr val="333333"/>
                </a:solidFill>
                <a:latin typeface="Consolas"/>
              </a:rPr>
              <a:t>-WhatIf</a:t>
            </a:r>
            <a:r>
              <a:rPr lang="ja-JP" sz="1100" b="0" i="0" dirty="0">
                <a:solidFill>
                  <a:srgbClr val="333333"/>
                </a:solidFill>
                <a:ea typeface="Meiryo"/>
              </a:rPr>
              <a:t>で破壊的操作を防ぐ。</a:t>
            </a:r>
          </a:p>
          <a:p>
            <a:pPr marL="228600" indent="-228600">
              <a:spcBef>
                <a:spcPts val="0"/>
              </a:spcBef>
              <a:spcAft>
                <a:spcPts val="400"/>
              </a:spcAft>
              <a:buChar char="•"/>
              <a:lnSpc>
                <a:spcPts val="1980"/>
              </a:lnSpc>
            </a:pPr>
            <a:r>
              <a:rPr lang="ja-JP" sz="1100" b="0" i="0" dirty="0">
                <a:solidFill>
                  <a:srgbClr val="333333"/>
                </a:solidFill>
                <a:ea typeface="Meiryo"/>
              </a:rPr>
              <a:t>ログ保存とエラー処理の方針を決める。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4777740"/>
            <a:ext cx="9144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8600" y="4823459"/>
            <a:ext cx="18288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fld id="{A2DD28E6-8D32-46BE-B1E5-1AE75BACB93B}" type="slidenum">
              <a:rPr lang="ja-JP" smtClean="0" sz="1000">
                <a:solidFill>
                  <a:srgbClr val="888888"/>
                </a:solidFill>
              </a:rPr>
              <a:t>&lt;#&gt;</a:t>
            </a:fld>
            <a:r>
              <a:rPr lang="ja-JP" smtClean="0" sz="1000">
                <a:solidFill>
                  <a:srgbClr val="888888"/>
                </a:solidFill>
              </a:rPr>
              <a:t>/</a:t>
            </a:r>
            <a:fld id="{A27C5AE5-F57A-4A01-8CE5-AAF342FF0C98}" type="slidecount">
              <a:rPr lang="ja-JP" smtClean="0" sz="1000">
                <a:solidFill>
                  <a:srgbClr val="888888"/>
                </a:solidFill>
              </a:rPr>
              <a:t>11</a:t>
            </a:fld>
          </a:p>
        </p:txBody>
      </p:sp>
      <p:pic>
        <p:nvPicPr>
          <p:cNvPr id="19" name="Picture 18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4846320"/>
            <a:ext cx="762000" cy="228600"/>
          </a:xfrm>
          <a:prstGeom prst="rect">
            <a:avLst/>
          </a:prstGeom>
          <a:effectLst/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85039"/>
            <a:ext cx="8686800" cy="4114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noAutofit/>
          </a:bodyPr>
          <a:lstStyle/>
          <a:p>
            <a:r>
              <a:rPr lang="en-US" sz="2400" b="1" i="0" dirty="0">
                <a:solidFill>
                  <a:srgbClr val="FFFFFF"/>
                </a:solidFill>
                <a:latin typeface="Segoe UI"/>
              </a:rPr>
              <a:t>CLAUDE.md</a:t>
            </a:r>
            <a:r>
              <a:rPr lang="ja-JP" sz="2400" b="1" i="0" dirty="0">
                <a:solidFill>
                  <a:srgbClr val="FFFFFF"/>
                </a:solidFill>
                <a:ea typeface="Meiryo"/>
              </a:rPr>
              <a:t>は運用で育てる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23036"/>
            <a:ext cx="868680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noAutofit/>
          </a:bodyPr>
          <a:lstStyle/>
          <a:p>
            <a:r>
              <a:rPr lang="ja-JP" sz="1200" b="0" i="0" dirty="0">
                <a:solidFill>
                  <a:srgbClr val="FFFFFF"/>
                </a:solidFill>
                <a:ea typeface="Meiryo"/>
              </a:rPr>
              <a:t>繰り返した注意をルールへ昇格させる</a:t>
            </a:r>
          </a:p>
        </p:txBody>
      </p:sp>
      <p:sp>
        <p:nvSpPr>
          <p:cNvPr id="5" name="Step5"/>
          <p:cNvSpPr/>
          <p:nvPr/>
        </p:nvSpPr>
        <p:spPr>
          <a:xfrm>
            <a:off x="164592" y="941832"/>
            <a:ext cx="2889504" cy="959205"/>
          </a:xfrm>
          <a:custGeom>
            <a:avLst/>
            <a:gdLst/>
            <a:ahLst/>
            <a:cxnLst/>
            <a:rect l="0" t="0" r="r" b="b"/>
            <a:pathLst>
              <a:path w="100000" h="100000">
                <a:moveTo>
                  <a:pt x="0" y="0"/>
                </a:moveTo>
                <a:lnTo>
                  <a:pt x="88000" y="0"/>
                </a:lnTo>
                <a:lnTo>
                  <a:pt x="100000" y="50000"/>
                </a:lnTo>
                <a:lnTo>
                  <a:pt x="88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D0D0D0"/>
          </a:solidFill>
          <a:ln w="9525">
            <a:solidFill>
              <a:srgbClr val="CCCCCC"/>
            </a:solidFill>
          </a:ln>
          <a:effectLst/>
        </p:spPr>
        <p:txBody>
          <a:bodyPr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301751" y="941832"/>
            <a:ext cx="2456078" cy="959205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noAutofit/>
          </a:bodyPr>
          <a:lstStyle/>
          <a:p>
            <a:r>
              <a:rPr lang="en-US" sz="1400" b="1" i="0" dirty="0">
                <a:solidFill>
                  <a:srgbClr val="333333"/>
                </a:solidFill>
                <a:latin typeface="Segoe UI"/>
              </a:rPr>
              <a:t>2</a:t>
            </a:r>
            <a:r>
              <a:rPr lang="ja-JP" sz="1400" b="1" i="0" dirty="0">
                <a:solidFill>
                  <a:srgbClr val="333333"/>
                </a:solidFill>
                <a:ea typeface="Meiryo"/>
              </a:rPr>
              <a:t>回言ったら追加する</a:t>
            </a:r>
          </a:p>
        </p:txBody>
      </p:sp>
      <p:sp>
        <p:nvSpPr>
          <p:cNvPr id="7" name="Step7"/>
          <p:cNvSpPr/>
          <p:nvPr/>
        </p:nvSpPr>
        <p:spPr>
          <a:xfrm>
            <a:off x="3127248" y="941832"/>
            <a:ext cx="2889504" cy="959205"/>
          </a:xfrm>
          <a:custGeom>
            <a:avLst/>
            <a:gdLst/>
            <a:ahLst/>
            <a:cxnLst/>
            <a:rect l="0" t="0" r="r" b="b"/>
            <a:pathLst>
              <a:path w="100000" h="100000">
                <a:moveTo>
                  <a:pt x="0" y="0"/>
                </a:moveTo>
                <a:lnTo>
                  <a:pt x="88000" y="0"/>
                </a:lnTo>
                <a:lnTo>
                  <a:pt x="100000" y="50000"/>
                </a:lnTo>
                <a:lnTo>
                  <a:pt x="88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D0D0D0"/>
          </a:solidFill>
          <a:ln w="9525">
            <a:solidFill>
              <a:srgbClr val="CCCCCC"/>
            </a:solidFill>
          </a:ln>
          <a:effectLst/>
        </p:spPr>
        <p:txBody>
          <a:bodyPr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264408" y="941832"/>
            <a:ext cx="2456078" cy="959205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noAutofit/>
          </a:bodyPr>
          <a:lstStyle/>
          <a:p>
            <a:r>
              <a:rPr lang="ja-JP" sz="1400" b="1" i="0" dirty="0">
                <a:solidFill>
                  <a:srgbClr val="333333"/>
                </a:solidFill>
                <a:ea typeface="Meiryo"/>
              </a:rPr>
              <a:t>古いルールを削る</a:t>
            </a:r>
          </a:p>
        </p:txBody>
      </p:sp>
      <p:sp>
        <p:nvSpPr>
          <p:cNvPr id="9" name="Step9"/>
          <p:cNvSpPr/>
          <p:nvPr/>
        </p:nvSpPr>
        <p:spPr>
          <a:xfrm>
            <a:off x="6089904" y="941832"/>
            <a:ext cx="2889504" cy="959205"/>
          </a:xfrm>
          <a:custGeom>
            <a:avLst/>
            <a:gdLst/>
            <a:ahLst/>
            <a:cxnLst/>
            <a:rect l="0" t="0" r="r" b="b"/>
            <a:pathLst>
              <a:path w="100000" h="100000">
                <a:moveTo>
                  <a:pt x="0" y="0"/>
                </a:moveTo>
                <a:lnTo>
                  <a:pt x="88000" y="0"/>
                </a:lnTo>
                <a:lnTo>
                  <a:pt x="100000" y="50000"/>
                </a:lnTo>
                <a:lnTo>
                  <a:pt x="88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D0D0D0"/>
          </a:solidFill>
          <a:ln w="9525">
            <a:solidFill>
              <a:srgbClr val="CCCCCC"/>
            </a:solidFill>
          </a:ln>
          <a:effectLst/>
        </p:spPr>
        <p:txBody>
          <a:bodyPr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227064" y="941832"/>
            <a:ext cx="2456078" cy="959205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noAutofit/>
          </a:bodyPr>
          <a:lstStyle/>
          <a:p>
            <a:r>
              <a:rPr lang="ja-JP" sz="1400" b="1" i="0" dirty="0">
                <a:solidFill>
                  <a:srgbClr val="333333"/>
                </a:solidFill>
                <a:ea typeface="Meiryo"/>
              </a:rPr>
              <a:t>小さく振る舞いを見る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64592" y="1974189"/>
            <a:ext cx="2889504" cy="2638958"/>
          </a:xfrm>
          <a:prstGeom prst="rect">
            <a:avLst/>
          </a:prstGeom>
          <a:solidFill>
            <a:srgbClr val="F5F5F5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1751" y="2083917"/>
            <a:ext cx="2615184" cy="2419502"/>
          </a:xfrm>
          <a:prstGeom prst="rect">
            <a:avLst/>
          </a:prstGeom>
          <a:noFill/>
          <a:effectLst/>
        </p:spPr>
        <p:txBody>
          <a:bodyPr wrap="squar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  <a:buNone/>
              <a:lnSpc>
                <a:spcPts val="1980"/>
              </a:lnSpc>
            </a:pPr>
            <a:r>
              <a:rPr lang="ja-JP" sz="1100" b="0" i="0" dirty="0">
                <a:solidFill>
                  <a:srgbClr val="333333"/>
                </a:solidFill>
                <a:ea typeface="Meiryo"/>
              </a:rPr>
              <a:t>同じ注意が繰り返されるなら、会話ではなくルールに置くべきサインである。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27248" y="1974189"/>
            <a:ext cx="2889504" cy="2638958"/>
          </a:xfrm>
          <a:prstGeom prst="rect">
            <a:avLst/>
          </a:prstGeom>
          <a:solidFill>
            <a:srgbClr val="F5F5F5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64408" y="2083917"/>
            <a:ext cx="2615184" cy="2419502"/>
          </a:xfrm>
          <a:prstGeom prst="rect">
            <a:avLst/>
          </a:prstGeom>
          <a:noFill/>
          <a:effectLst/>
        </p:spPr>
        <p:txBody>
          <a:bodyPr wrap="squar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  <a:buNone/>
              <a:lnSpc>
                <a:spcPts val="1980"/>
              </a:lnSpc>
            </a:pPr>
            <a:r>
              <a:rPr lang="ja-JP" sz="1100" b="0" i="0" dirty="0">
                <a:solidFill>
                  <a:srgbClr val="333333"/>
                </a:solidFill>
                <a:ea typeface="Meiryo"/>
              </a:rPr>
              <a:t>使わない技術スタックや形だけの制約は、重要ルールを埋もれさせる。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89904" y="1974189"/>
            <a:ext cx="2889504" cy="2638958"/>
          </a:xfrm>
          <a:prstGeom prst="rect">
            <a:avLst/>
          </a:prstGeom>
          <a:solidFill>
            <a:srgbClr val="F5F5F5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27064" y="2083917"/>
            <a:ext cx="2615184" cy="2419502"/>
          </a:xfrm>
          <a:prstGeom prst="rect">
            <a:avLst/>
          </a:prstGeom>
          <a:noFill/>
          <a:effectLst/>
        </p:spPr>
        <p:txBody>
          <a:bodyPr wrap="squar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  <a:buNone/>
              <a:lnSpc>
                <a:spcPts val="1980"/>
              </a:lnSpc>
            </a:pPr>
            <a:r>
              <a:rPr lang="ja-JP" sz="1100" b="0" i="0" dirty="0">
                <a:solidFill>
                  <a:srgbClr val="333333"/>
                </a:solidFill>
                <a:ea typeface="Meiryo"/>
              </a:rPr>
              <a:t>更新後は軽いタスクを投げ、期待どおりに調査、変更、検証するか確認する。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4777740"/>
            <a:ext cx="9144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8600" y="4823459"/>
            <a:ext cx="18288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fld id="{FF3F19A5-1D65-4443-A7B5-6311B0E58479}" type="slidenum">
              <a:rPr lang="ja-JP" smtClean="0" sz="1000">
                <a:solidFill>
                  <a:srgbClr val="888888"/>
                </a:solidFill>
              </a:rPr>
              <a:t>&lt;#&gt;</a:t>
            </a:fld>
            <a:r>
              <a:rPr lang="ja-JP" smtClean="0" sz="1000">
                <a:solidFill>
                  <a:srgbClr val="888888"/>
                </a:solidFill>
              </a:rPr>
              <a:t>/</a:t>
            </a:r>
            <a:fld id="{2D3AB654-D124-4751-8A9E-9A09E74937A2}" type="slidecount">
              <a:rPr lang="ja-JP" smtClean="0" sz="1000">
                <a:solidFill>
                  <a:srgbClr val="888888"/>
                </a:solidFill>
              </a:rPr>
              <a:t>11</a:t>
            </a:fld>
          </a:p>
        </p:txBody>
      </p:sp>
      <p:pic>
        <p:nvPicPr>
          <p:cNvPr id="19" name="Picture 18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4846320"/>
            <a:ext cx="762000" cy="228600"/>
          </a:xfrm>
          <a:prstGeom prst="rect">
            <a:avLst/>
          </a:prstGeom>
          <a:effectLst/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85039"/>
            <a:ext cx="8686800" cy="4114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noAutofit/>
          </a:bodyPr>
          <a:lstStyle/>
          <a:p>
            <a:r>
              <a:rPr lang="en-US" sz="2400" b="1" i="0" dirty="0">
                <a:solidFill>
                  <a:srgbClr val="FFFFFF"/>
                </a:solidFill>
                <a:latin typeface="Segoe UI"/>
              </a:rPr>
              <a:t>3</a:t>
            </a:r>
            <a:r>
              <a:rPr lang="ja-JP" sz="2400" b="1" i="0" dirty="0">
                <a:solidFill>
                  <a:srgbClr val="FFFFFF"/>
                </a:solidFill>
                <a:ea typeface="Meiryo"/>
              </a:rPr>
              <a:t>レイヤーで自分の環境に合わせる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23036"/>
            <a:ext cx="868680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noAutofit/>
          </a:bodyPr>
          <a:lstStyle/>
          <a:p>
            <a:r>
              <a:rPr lang="ja-JP" sz="1200" b="0" i="0" dirty="0">
                <a:solidFill>
                  <a:srgbClr val="FFFFFF"/>
                </a:solidFill>
                <a:ea typeface="Meiryo"/>
              </a:rPr>
              <a:t>共通の好み、プロジェクト制約、局所ルールを分ける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164592" y="941832"/>
            <a:ext cx="2889504" cy="2371725"/>
          </a:xfrm>
          <a:prstGeom prst="rect">
            <a:avLst/>
          </a:prstGeom>
          <a:solidFill>
            <a:srgbClr val="F5F5F5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751" y="1051560"/>
            <a:ext cx="2615184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r>
              <a:rPr lang="ja-JP" sz="1400" b="1" i="0" dirty="0">
                <a:solidFill>
                  <a:srgbClr val="333333"/>
                </a:solidFill>
                <a:ea typeface="Meiryo"/>
              </a:rPr>
              <a:t>グローバル</a:t>
            </a:r>
          </a:p>
        </p:txBody>
      </p:sp>
      <p:sp>
        <p:nvSpPr>
          <p:cNvPr id="7" name="Rectangle 6"/>
          <p:cNvSpPr/>
          <p:nvPr/>
        </p:nvSpPr>
        <p:spPr>
          <a:xfrm>
            <a:off x="301751" y="1307592"/>
            <a:ext cx="2615184" cy="12700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1751" y="1380744"/>
            <a:ext cx="2615184" cy="1823085"/>
          </a:xfrm>
          <a:prstGeom prst="rect">
            <a:avLst/>
          </a:prstGeom>
          <a:noFill/>
          <a:effectLst/>
        </p:spPr>
        <p:txBody>
          <a:bodyPr wrap="squar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  <a:buNone/>
              <a:lnSpc>
                <a:spcPts val="1980"/>
              </a:lnSpc>
            </a:pPr>
            <a:r>
              <a:rPr lang="ja-JP" sz="1100" b="0" i="0" dirty="0">
                <a:solidFill>
                  <a:srgbClr val="333333"/>
                </a:solidFill>
                <a:ea typeface="Meiryo"/>
              </a:rPr>
              <a:t>全プロジェクトで変わらない性格や好みを置く。</a:t>
            </a:r>
          </a:p>
          <a:p>
            <a:pPr marL="228600" indent="-228600">
              <a:spcBef>
                <a:spcPts val="0"/>
              </a:spcBef>
              <a:spcAft>
                <a:spcPts val="400"/>
              </a:spcAft>
              <a:buChar char="•"/>
              <a:lnSpc>
                <a:spcPts val="1980"/>
              </a:lnSpc>
            </a:pPr>
            <a:r>
              <a:rPr lang="ja-JP" sz="1100" b="0" i="0" dirty="0">
                <a:solidFill>
                  <a:srgbClr val="333333"/>
                </a:solidFill>
                <a:ea typeface="Meiryo"/>
              </a:rPr>
              <a:t>日本語回答、テスト重視、説明の粒度などを固定する。</a:t>
            </a:r>
          </a:p>
          <a:p>
            <a:pPr marL="228600" indent="-228600">
              <a:spcBef>
                <a:spcPts val="0"/>
              </a:spcBef>
              <a:spcAft>
                <a:spcPts val="400"/>
              </a:spcAft>
              <a:buChar char="•"/>
              <a:lnSpc>
                <a:spcPts val="1980"/>
              </a:lnSpc>
            </a:pPr>
            <a:r>
              <a:rPr lang="ja-JP" sz="1100" b="0" i="0" dirty="0">
                <a:solidFill>
                  <a:srgbClr val="333333"/>
                </a:solidFill>
                <a:ea typeface="Meiryo"/>
              </a:rPr>
              <a:t>個別技術に依存するルールは置きすぎない。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3127248" y="941832"/>
            <a:ext cx="2889504" cy="2371725"/>
          </a:xfrm>
          <a:prstGeom prst="rect">
            <a:avLst/>
          </a:prstGeom>
          <a:solidFill>
            <a:srgbClr val="F5F5F5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64408" y="1051560"/>
            <a:ext cx="2615184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r>
              <a:rPr lang="ja-JP" sz="1400" b="1" i="0" dirty="0">
                <a:solidFill>
                  <a:srgbClr val="333333"/>
                </a:solidFill>
                <a:ea typeface="Meiryo"/>
              </a:rPr>
              <a:t>プロジェクト単位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64408" y="1307592"/>
            <a:ext cx="2615184" cy="12700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64408" y="1380744"/>
            <a:ext cx="2615184" cy="1823085"/>
          </a:xfrm>
          <a:prstGeom prst="rect">
            <a:avLst/>
          </a:prstGeom>
          <a:noFill/>
          <a:effectLst/>
        </p:spPr>
        <p:txBody>
          <a:bodyPr wrap="squar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  <a:buNone/>
              <a:lnSpc>
                <a:spcPts val="1980"/>
              </a:lnSpc>
            </a:pPr>
            <a:r>
              <a:rPr lang="ja-JP" sz="1100" b="0" i="0" dirty="0">
                <a:solidFill>
                  <a:srgbClr val="333333"/>
                </a:solidFill>
                <a:ea typeface="Meiryo"/>
              </a:rPr>
              <a:t>対象リポジトリの構造と危険操作を制御する。</a:t>
            </a:r>
          </a:p>
          <a:p>
            <a:pPr marL="228600" indent="-228600">
              <a:spcBef>
                <a:spcPts val="0"/>
              </a:spcBef>
              <a:spcAft>
                <a:spcPts val="400"/>
              </a:spcAft>
              <a:buChar char="•"/>
              <a:lnSpc>
                <a:spcPts val="1980"/>
              </a:lnSpc>
            </a:pPr>
            <a:r>
              <a:rPr lang="ja-JP" sz="1100" b="0" i="0" dirty="0">
                <a:solidFill>
                  <a:srgbClr val="333333"/>
                </a:solidFill>
                <a:ea typeface="Meiryo"/>
              </a:rPr>
              <a:t>技術スタック、ディレクトリ構成、コマンドを書く。</a:t>
            </a:r>
          </a:p>
          <a:p>
            <a:pPr marL="228600" indent="-228600">
              <a:spcBef>
                <a:spcPts val="0"/>
              </a:spcBef>
              <a:spcAft>
                <a:spcPts val="400"/>
              </a:spcAft>
              <a:buChar char="•"/>
              <a:lnSpc>
                <a:spcPts val="1980"/>
              </a:lnSpc>
            </a:pPr>
            <a:r>
              <a:rPr lang="ja-JP" sz="1100" b="0" i="0" dirty="0">
                <a:solidFill>
                  <a:srgbClr val="333333"/>
                </a:solidFill>
                <a:ea typeface="Meiryo"/>
              </a:rPr>
              <a:t>本番環境や個人情報などの事故要因を縛る。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89904" y="941832"/>
            <a:ext cx="2889504" cy="2371725"/>
          </a:xfrm>
          <a:prstGeom prst="rect">
            <a:avLst/>
          </a:prstGeom>
          <a:solidFill>
            <a:srgbClr val="F5F5F5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27064" y="1051560"/>
            <a:ext cx="2615184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r>
              <a:rPr lang="ja-JP" sz="1400" b="1" i="0" dirty="0">
                <a:solidFill>
                  <a:srgbClr val="333333"/>
                </a:solidFill>
                <a:ea typeface="Meiryo"/>
              </a:rPr>
              <a:t>ディレクトリ単位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27064" y="1307592"/>
            <a:ext cx="2615184" cy="12700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27064" y="1380744"/>
            <a:ext cx="2615184" cy="1823085"/>
          </a:xfrm>
          <a:prstGeom prst="rect">
            <a:avLst/>
          </a:prstGeom>
          <a:noFill/>
          <a:effectLst/>
        </p:spPr>
        <p:txBody>
          <a:bodyPr wrap="squar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  <a:buNone/>
              <a:lnSpc>
                <a:spcPts val="1980"/>
              </a:lnSpc>
            </a:pPr>
            <a:r>
              <a:rPr lang="ja-JP" sz="1100" b="0" i="0" dirty="0">
                <a:solidFill>
                  <a:srgbClr val="333333"/>
                </a:solidFill>
                <a:ea typeface="Meiryo"/>
              </a:rPr>
              <a:t>専門領域ごとの判断を近い場所に置く。</a:t>
            </a:r>
          </a:p>
          <a:p>
            <a:pPr marL="228600" indent="-228600">
              <a:spcBef>
                <a:spcPts val="0"/>
              </a:spcBef>
              <a:spcAft>
                <a:spcPts val="400"/>
              </a:spcAft>
              <a:buChar char="•"/>
              <a:lnSpc>
                <a:spcPts val="1980"/>
              </a:lnSpc>
            </a:pPr>
            <a:r>
              <a:rPr lang="ja-JP" sz="1100" b="0" i="0" dirty="0">
                <a:solidFill>
                  <a:srgbClr val="333333"/>
                </a:solidFill>
                <a:ea typeface="Meiryo"/>
              </a:rPr>
              <a:t>フロントエンド</a:t>
            </a:r>
            <a:r>
              <a:rPr lang="en-US" sz="1100" b="0" i="0" dirty="0">
                <a:solidFill>
                  <a:srgbClr val="333333"/>
                </a:solidFill>
                <a:latin typeface="Segoe UI"/>
              </a:rPr>
              <a:t>UI</a:t>
            </a:r>
            <a:r>
              <a:rPr lang="ja-JP" sz="1100" b="0" i="0" dirty="0">
                <a:solidFill>
                  <a:srgbClr val="333333"/>
                </a:solidFill>
                <a:ea typeface="Meiryo"/>
              </a:rPr>
              <a:t>と</a:t>
            </a:r>
            <a:r>
              <a:rPr lang="en-US" sz="1100" b="0" i="0" dirty="0">
                <a:solidFill>
                  <a:srgbClr val="333333"/>
                </a:solidFill>
                <a:latin typeface="Segoe UI"/>
              </a:rPr>
              <a:t>PowerShell/Python</a:t>
            </a:r>
            <a:r>
              <a:rPr lang="ja-JP" sz="1100" b="0" i="0" dirty="0">
                <a:solidFill>
                  <a:srgbClr val="333333"/>
                </a:solidFill>
                <a:ea typeface="Meiryo"/>
              </a:rPr>
              <a:t>操作を分離する。</a:t>
            </a:r>
          </a:p>
          <a:p>
            <a:pPr marL="228600" indent="-228600">
              <a:spcBef>
                <a:spcPts val="0"/>
              </a:spcBef>
              <a:spcAft>
                <a:spcPts val="400"/>
              </a:spcAft>
              <a:buChar char="•"/>
              <a:lnSpc>
                <a:spcPts val="1980"/>
              </a:lnSpc>
            </a:pPr>
            <a:r>
              <a:rPr lang="ja-JP" sz="1100" b="0" i="0" dirty="0">
                <a:solidFill>
                  <a:srgbClr val="333333"/>
                </a:solidFill>
                <a:ea typeface="Meiryo"/>
              </a:rPr>
              <a:t>関係する作業だけに濃いルールを効かせる。</a:t>
            </a:r>
          </a:p>
        </p:txBody>
      </p:sp>
      <p:sp>
        <p:nvSpPr>
          <p:cNvPr id="17" name="Arrow17"/>
          <p:cNvSpPr/>
          <p:nvPr/>
        </p:nvSpPr>
        <p:spPr>
          <a:xfrm>
            <a:off x="2147925" y="3415741"/>
            <a:ext cx="4848148" cy="174193"/>
          </a:xfrm>
          <a:custGeom>
            <a:avLst/>
            <a:gdLst/>
            <a:ahLst/>
            <a:cxnLst/>
            <a:rect l="0" t="0" r="r" b="b"/>
            <a:pathLst>
              <a:path w="100000" h="100000">
                <a:moveTo>
                  <a:pt x="0" y="0"/>
                </a:moveTo>
                <a:lnTo>
                  <a:pt x="100000" y="0"/>
                </a:lnTo>
                <a:lnTo>
                  <a:pt x="50000" y="100000"/>
                </a:lnTo>
                <a:close/>
              </a:path>
            </a:pathLst>
          </a:custGeom>
          <a:solidFill>
            <a:srgbClr val="6B7A99"/>
          </a:solidFill>
          <a:ln>
            <a:noFill/>
          </a:ln>
          <a:effectLst/>
        </p:spPr>
        <p:txBody>
          <a:bodyPr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164592" y="3692118"/>
            <a:ext cx="8814816" cy="921029"/>
          </a:xfrm>
          <a:prstGeom prst="rect">
            <a:avLst/>
          </a:prstGeom>
          <a:solidFill>
            <a:srgbClr val="EEF2FF"/>
          </a:solidFill>
          <a:ln w="19050">
            <a:solidFill>
              <a:srgbClr val="6B7A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64592" y="3692118"/>
            <a:ext cx="64008" cy="921029"/>
          </a:xfrm>
          <a:prstGeom prst="rect">
            <a:avLst/>
          </a:prstGeom>
          <a:solidFill>
            <a:srgbClr val="6B7A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3801846"/>
            <a:ext cx="8476488" cy="701573"/>
          </a:xfrm>
          <a:prstGeom prst="rect">
            <a:avLst/>
          </a:prstGeom>
          <a:noFill/>
          <a:effectLst/>
        </p:spPr>
        <p:txBody>
          <a:bodyPr wrap="squar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  <a:buNone/>
              <a:lnSpc>
                <a:spcPts val="2160"/>
              </a:lnSpc>
            </a:pPr>
            <a:r>
              <a:rPr lang="en-US" sz="1200" b="0" i="0" dirty="0">
                <a:solidFill>
                  <a:srgbClr val="1A2A5A"/>
                </a:solidFill>
                <a:latin typeface="Segoe UI"/>
              </a:rPr>
              <a:t>CLAUDE.md</a:t>
            </a:r>
            <a:r>
              <a:rPr lang="ja-JP" sz="1200" b="0" i="0" dirty="0">
                <a:solidFill>
                  <a:srgbClr val="1A2A5A"/>
                </a:solidFill>
                <a:ea typeface="Meiryo"/>
              </a:rPr>
              <a:t>は「全部を書く場所」ではなく、</a:t>
            </a:r>
            <a:r>
              <a:rPr lang="en-US" sz="1200" b="0" i="0" dirty="0">
                <a:solidFill>
                  <a:srgbClr val="1A2A5A"/>
                </a:solidFill>
                <a:latin typeface="Segoe UI"/>
              </a:rPr>
              <a:t>AI</a:t>
            </a:r>
            <a:r>
              <a:rPr lang="ja-JP" sz="1200" b="0" i="0" dirty="0">
                <a:solidFill>
                  <a:srgbClr val="1A2A5A"/>
                </a:solidFill>
                <a:ea typeface="Meiryo"/>
              </a:rPr>
              <a:t>が毎回迷わず動くための設計された文脈である。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4777740"/>
            <a:ext cx="9144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28600" y="4823459"/>
            <a:ext cx="18288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fld id="{EF0B0873-D2A4-44C0-8F5A-F2CE3CAF188A}" type="slidenum">
              <a:rPr lang="ja-JP" smtClean="0" sz="1000">
                <a:solidFill>
                  <a:srgbClr val="888888"/>
                </a:solidFill>
              </a:rPr>
              <a:t>&lt;#&gt;</a:t>
            </a:fld>
            <a:r>
              <a:rPr lang="ja-JP" smtClean="0" sz="1000">
                <a:solidFill>
                  <a:srgbClr val="888888"/>
                </a:solidFill>
              </a:rPr>
              <a:t>/</a:t>
            </a:r>
            <a:fld id="{B35F135E-1ABE-4DF1-93B6-AB2533C4E07B}" type="slidecount">
              <a:rPr lang="ja-JP" smtClean="0" sz="1000">
                <a:solidFill>
                  <a:srgbClr val="888888"/>
                </a:solidFill>
              </a:rPr>
              <a:t>11</a:t>
            </a:fld>
          </a:p>
        </p:txBody>
      </p:sp>
      <p:pic>
        <p:nvPicPr>
          <p:cNvPr id="23" name="Picture 2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4846320"/>
            <a:ext cx="762000" cy="228600"/>
          </a:xfrm>
          <a:prstGeom prst="rect">
            <a:avLst/>
          </a:prstGeom>
          <a:effectLst/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