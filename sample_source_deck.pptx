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今日は、Claude Codeの振る舞いをプロジェクト基準へ安定させるために、CLAUDE.mdをどう設計するかを整理する。単に便利なメモを置く話ではなく、毎回の作業開始時にAIが参照する判断基準を作る話である。最終的には、ルールの書き方、MEMORY.mdとの分担、スコープ分離、運用での育て方までを一つの設計として捉え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全体の道筋を確認する。前半では、CLAUDE.mdが何者で、MEMORY.mdと何が違い、どのくらいの密度で書くべきかを押さえる。後半では、章立て、rulesによるスコープ分離、用途別テンプレート、継続運用へ進む。ここで大事なのは、CLAUDE.mdを一枚の説明文ではなく、AIの判断を支える複数レイヤーの仕組みとして見ることであ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押さえるべき前提は、CLAUDE.mdが単なる備忘録ではなく、セッション開始時に読み込まれる行動基準だという点である。ここにプロジェクトの目的、守るべき制約、作業手順を置くことで、毎回同じ説明を繰り返す必要が減る。曖昧な依頼が来たときも、AIはこの基準線に沿って命名、検証、報告の仕方を選びやすくなる。つまりCLAUDE.mdは、会話のたびに揺れがちな期待値を、プロジェクト標準へ変換する装置であ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混同しやすいのは、CLAUDE.mdとMEMORY.mdをどちらも「文脈」として同じ棚に置いてしまうことである。CLAUDE.mdはユーザーが明示的に書く強制ルールであり、プロジェクトや組織の基準を固定する。一方、MEMORY.mdやAuto memoryは、作業から得た癖や好みを補助的に扱う。両者を分けると、必ず守るべき規約と、参考にするだけの傾向が混線しない。ここを分けることが、長期文脈を安定させる最初の実務判断である。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役割の違いを整理したら、次はCLAUDE.md自体の密度を考える。ルールを増やすほど安心に見えるが、実際には重要な指示が埋もれ、AIが優先順位を取りにくくなる。だからこそ、常に守るものだけを厳選し、1ルール1文で読み切れる粒度にする必要がある。さらに、抽象的なスローガンではなく、実行できるコマンドや完了条件まで書くことで、AIは迷わず作業へ移れる。 --- [nanobanana2 icon prompt] 3つのフラットアイコンを横一列に並べた1枚の画像を生成する。左から順に: アイコン1: 重要ルールを選別するフィルター, アイコン2: 1文の短いルールカード, アイコン3: 実行コマンドを示す端末とチェックマーク。各アイコンは正方形の枠内に収まるシンプルなフラットデザイン。白背景、色統一、ミニマルスタイル、文字なし。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実際に何を書けばAIは迷いにくくなるのか。ここでは章立てを、単なる整理ではなく作業地図として見る。プロジェクト概要は目的地を示し、技術スタックは使う道具を固定する。ディレクトリ構成はファイル探索の手掛かりになり、コマンド集は検証手順へ直結する。さらに作業ルールと落とし穴を入れると、AIは変更前後の判断まで揃えやすくなる。この章立てがあることで、依頼ごとに探すべき情報がぶれにくくな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章立てが整っても、大規模なリポジトリでは一つのCLAUDE.mdにすべてを詰め込むと重くなる。実際に運用へ移すと、全体共通のルールと、frontendやinfraのような領域固有のルールは分けた方がよい。まずルートには安全策や検証基準など全体原則を置く。次に領域別のrulesへ分離する。最後に、作業対象に近いルールを優先して読むことで、関係ない制約の干渉を避けられる。 --- [nanobanana2 icon prompt] 3つのフラットアイコンを横一列に並べた1枚の画像を生成する。左から順に: アイコン1: ルートフォルダと共通ルール, アイコン2: frontendとinfraに分かれたフォルダ, アイコン3: 作業ファイルへ必要なルールだけが流れる矢印。各アイコンは正方形の枠内に収まるシンプルなフラットデザイン。白背景、色統一、ミニマルスタイル、文字なし。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コープを分けたうえで、次に考えるべきなのは用途ごとの差分である。WebアプリではUIライブラリやAPI配置のぶれが品質に直結する。データ分析では、保存場所や再現性が崩れると結果を追えなくなる。スクリプトや自動化では、対象OSや安全策を曖昧にすると事故につながる。つまりCLAUDE.mdのテンプレートは一種類で固定するのではなく、現場で起きやすい失敗に合わせて章の重みを変える必要がある。 --- [nanobanana2 icon prompt] 3つのフラットアイコンを横一列に並べた1枚の画像を生成する。左から順に: アイコン1: Webアプリ画面とUI部品, アイコン2: データ表と分析グラフ, アイコン3: 自動化スクリプトと安全確認。各アイコンは正方形の枠内に収まるシンプルなフラットデザイン。白背景、色統一、ミニマルスタイル、文字なし。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で初期設計の考え方を見てきたが、CLAUDE.mdは一度書いて終わりではない。むしろ、会話の中で同じ注意を2回言ったら、それはルール化の候補である。次に、古くなった技術スタックや形骸化した制約を削らないと、重要な指示が埋もれていく。最後に、小さなタスクでAIの振る舞いを確認すれば、書いたルールが実際に効いているか分かる。運用の中で改善する前提を持つことが、CLAUDE.mdを生きた設計物にする。 --- [nanobanana2 icon prompt] 3つのフラットアイコンを横一列に並べた1枚の画像を生成する。左から順に: アイコン1: 会話の注意が文書へ移る矢印, アイコン2: 古いルールを削る編集ペン, アイコン3: 小さなテストタスクのチェックマーク。各アイコンは正方形の枠内に収まるシンプルなフラットデザイン。白背景、色統一、ミニマルスタイル、文字なし。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Takuyaさんの環境へ引き寄せて考える。全プロジェクト共通の好みはグローバル層へ置くのがよい。プロジェクト固有の技術スタックや危険操作はプロジェクト層へ置く。さらに、frontendやPowerShell、Pythonのような領域ごとの細則はディレクトリ層へ置く。この3レイヤーに分けると、必要な文脈だけを必要な場所で読ませられる。持ち帰るべき判断は、巨大な一枚のルールを書くことではなく、ルールを置く場所そのものを設計することである。 --- [nanobanana2 icon prompt] 3つのフラットアイコンを横一列に並べた1枚の画像を生成する。左から順に: アイコン1: 地球儀と共通設定, アイコン2: プロジェクトフォルダと歯車, アイコン3: 階層化されたディレクトリとルール札。各アイコンは正方形の枠内に収まるシンプルなフラットデザイン。白背景、色統一、ミニマルスタイル、文字なし。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457200" y="1243584"/>
            <a:ext cx="5029200" cy="1234440"/>
          </a:xfrm>
          <a:prstGeom prst="rect">
            <a:avLst/>
          </a:prstGeom>
          <a:noFill/>
          <a:effectLst/>
        </p:spPr>
        <p:txBody>
          <a:bodyPr wrap="none" lIns="0" rIns="0" tIns="0" bIns="0" anchor="b">
            <a:noAutofit/>
          </a:bodyPr>
          <a:lstStyle/>
          <a:p>
            <a:pPr>
              <a:lnSpc>
                <a:spcPts val="3919"/>
              </a:lnSpc>
            </a:pPr>
            <a:r>
              <a:rPr lang="en-US" sz="2800" b="1" i="0" dirty="0">
                <a:solidFill>
                  <a:srgbClr val="000000"/>
                </a:solidFill>
                <a:latin typeface="Segoe UI"/>
              </a:rPr>
              <a:t>CLAUDE.md</a:t>
            </a:r>
            <a:r>
              <a:rPr lang="ja-JP" sz="2800" b="1" i="0" dirty="0">
                <a:solidFill>
                  <a:srgbClr val="000000"/>
                </a:solidFill>
                <a:ea typeface="Meiryo"/>
              </a:rPr>
              <a:t>設計ガイド</a:t>
            </a:r>
          </a:p>
          <a:p>
            <a:pPr>
              <a:lnSpc>
                <a:spcPts val="3919"/>
              </a:lnSpc>
            </a:pPr>
            <a:r>
              <a:rPr lang="ja-JP" sz="2800" b="1" i="0" dirty="0">
                <a:solidFill>
                  <a:srgbClr val="000000"/>
                </a:solidFill>
                <a:ea typeface="Meiryo"/>
              </a:rPr>
              <a:t>長期文脈を安定させるルールブックの作り方</a:t>
            </a:r>
          </a:p>
        </p:txBody>
      </p:sp>
      <p:sp>
        <p:nvSpPr>
          <p:cNvPr id="4" name="Rectangle 3"/>
          <p:cNvSpPr/>
          <p:nvPr/>
        </p:nvSpPr>
        <p:spPr>
          <a:xfrm>
            <a:off x="457200" y="2569464"/>
            <a:ext cx="3657600"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752344"/>
            <a:ext cx="5029200" cy="320040"/>
          </a:xfrm>
          <a:prstGeom prst="rect">
            <a:avLst/>
          </a:prstGeom>
          <a:noFill/>
          <a:effectLst/>
        </p:spPr>
        <p:txBody>
          <a:bodyPr wrap="square" lIns="0" rIns="0" tIns="0" bIns="0" anchor="ctr">
            <a:noAutofit/>
          </a:bodyPr>
          <a:lstStyle/>
          <a:p>
            <a:r>
              <a:rPr lang="en-US" sz="1600" b="0" i="0" dirty="0">
                <a:solidFill>
                  <a:srgbClr val="333333"/>
                </a:solidFill>
                <a:latin typeface="Segoe UI"/>
              </a:rPr>
              <a:t>Project Knowledge Design</a:t>
            </a:r>
          </a:p>
        </p:txBody>
      </p:sp>
      <p:sp>
        <p:nvSpPr>
          <p:cNvPr id="6" name="TextBox 5"/>
          <p:cNvSpPr txBox="1"/>
          <p:nvPr/>
        </p:nvSpPr>
        <p:spPr>
          <a:xfrm>
            <a:off x="457200" y="3072384"/>
            <a:ext cx="5029200" cy="320040"/>
          </a:xfrm>
          <a:prstGeom prst="rect">
            <a:avLst/>
          </a:prstGeom>
          <a:noFill/>
          <a:effectLst/>
        </p:spPr>
        <p:txBody>
          <a:bodyPr wrap="square" lIns="0" rIns="0" tIns="0" bIns="0" anchor="ctr">
            <a:noAutofit/>
          </a:bodyPr>
          <a:lstStyle/>
          <a:p>
            <a:r>
              <a:rPr lang="ja-JP" sz="1600" b="0" i="0" dirty="0">
                <a:solidFill>
                  <a:srgbClr val="333333"/>
                </a:solidFill>
                <a:ea typeface="Meiryo"/>
              </a:rPr>
              <a:t>山田</a:t>
            </a:r>
            <a:r>
              <a:rPr lang="en-US" sz="1600" b="0" i="0" dirty="0">
                <a:solidFill>
                  <a:srgbClr val="333333"/>
                </a:solidFill>
                <a:latin typeface="Segoe UI"/>
              </a:rPr>
              <a:t> </a:t>
            </a:r>
            <a:r>
              <a:rPr lang="ja-JP" sz="1600" b="0" i="0" dirty="0">
                <a:solidFill>
                  <a:srgbClr val="333333"/>
                </a:solidFill>
                <a:ea typeface="Meiryo"/>
              </a:rPr>
              <a:t>花子</a:t>
            </a:r>
          </a:p>
        </p:txBody>
      </p:sp>
      <p:sp>
        <p:nvSpPr>
          <p:cNvPr id="7" name="TextBox 6"/>
          <p:cNvSpPr txBox="1"/>
          <p:nvPr/>
        </p:nvSpPr>
        <p:spPr>
          <a:xfrm>
            <a:off x="457200" y="3392424"/>
            <a:ext cx="5029200" cy="320040"/>
          </a:xfrm>
          <a:prstGeom prst="rect">
            <a:avLst/>
          </a:prstGeom>
          <a:noFill/>
          <a:effectLst/>
        </p:spPr>
        <p:txBody>
          <a:bodyPr wrap="square" lIns="0" rIns="0" tIns="0" bIns="0" anchor="ctr">
            <a:noAutofit/>
          </a:bodyPr>
          <a:lstStyle/>
          <a:p>
            <a:r>
              <a:rPr lang="en-US" sz="1600" b="0" i="0" dirty="0">
                <a:solidFill>
                  <a:srgbClr val="333333"/>
                </a:solidFill>
                <a:latin typeface="Segoe UI"/>
              </a:rPr>
              <a:t>2026-04-28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目次</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役割理解から運用設計までを段階的に把握する</a:t>
            </a:r>
          </a:p>
        </p:txBody>
      </p:sp>
      <p:sp>
        <p:nvSpPr>
          <p:cNvPr id="5" name="TextBox 4"/>
          <p:cNvSpPr txBox="1"/>
          <p:nvPr/>
        </p:nvSpPr>
        <p:spPr>
          <a:xfrm>
            <a:off x="393192"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基礎理解</a:t>
            </a:r>
          </a:p>
          <a:p>
            <a:pPr marL="228600" indent="-228600">
              <a:spcBef>
                <a:spcPts val="0"/>
              </a:spcBef>
              <a:spcAft>
                <a:spcPts val="400"/>
              </a:spcAft>
              <a:buChar char="•"/>
              <a:lnSpc>
                <a:spcPts val="2160"/>
              </a:lnSpc>
            </a:pPr>
            <a:r>
              <a:rPr lang="en-US" sz="1200" b="0" i="0" dirty="0">
                <a:solidFill>
                  <a:srgbClr val="333333"/>
                </a:solidFill>
                <a:latin typeface="Segoe UI"/>
              </a:rPr>
              <a:t>CLAUDE.md</a:t>
            </a:r>
            <a:r>
              <a:rPr lang="ja-JP" sz="1200" b="0" i="0" dirty="0">
                <a:solidFill>
                  <a:srgbClr val="333333"/>
                </a:solidFill>
                <a:ea typeface="Meiryo"/>
              </a:rPr>
              <a:t>はセッションのルールブックである</a:t>
            </a:r>
          </a:p>
          <a:p>
            <a:pPr marL="228600" indent="-228600">
              <a:spcBef>
                <a:spcPts val="0"/>
              </a:spcBef>
              <a:spcAft>
                <a:spcPts val="400"/>
              </a:spcAft>
              <a:buChar char="•"/>
              <a:lnSpc>
                <a:spcPts val="2160"/>
              </a:lnSpc>
            </a:pPr>
            <a:r>
              <a:rPr lang="en-US" sz="1200" b="0" i="0" dirty="0">
                <a:solidFill>
                  <a:srgbClr val="333333"/>
                </a:solidFill>
                <a:latin typeface="Segoe UI"/>
              </a:rPr>
              <a:t>MEMORY.md</a:t>
            </a:r>
            <a:r>
              <a:rPr lang="ja-JP" sz="1200" b="0" i="0" dirty="0">
                <a:solidFill>
                  <a:srgbClr val="333333"/>
                </a:solidFill>
                <a:ea typeface="Meiryo"/>
              </a:rPr>
              <a:t>とは強制力と用途が異なる</a:t>
            </a:r>
          </a:p>
          <a:p>
            <a:pPr>
              <a:spcBef>
                <a:spcPts val="800"/>
              </a:spcBef>
              <a:spcAft>
                <a:spcPts val="300"/>
              </a:spcAft>
              <a:buNone/>
              <a:lnSpc>
                <a:spcPts val="1679"/>
              </a:lnSpc>
            </a:pPr>
            <a:r>
              <a:rPr lang="ja-JP" sz="1200" b="1" i="0" dirty="0">
                <a:solidFill>
                  <a:srgbClr val="333333"/>
                </a:solidFill>
                <a:ea typeface="Meiryo"/>
              </a:rPr>
              <a:t>設計原則</a:t>
            </a:r>
          </a:p>
          <a:p>
            <a:pPr marL="228600" indent="-228600">
              <a:spcBef>
                <a:spcPts val="0"/>
              </a:spcBef>
              <a:spcAft>
                <a:spcPts val="400"/>
              </a:spcAft>
              <a:buChar char="•"/>
              <a:lnSpc>
                <a:spcPts val="2160"/>
              </a:lnSpc>
            </a:pPr>
            <a:r>
              <a:rPr lang="ja-JP" sz="1200" b="0" i="0" dirty="0">
                <a:solidFill>
                  <a:srgbClr val="333333"/>
                </a:solidFill>
                <a:ea typeface="Meiryo"/>
              </a:rPr>
              <a:t>重要ルールを厳選し、守れる密度にする</a:t>
            </a:r>
          </a:p>
          <a:p>
            <a:pPr marL="228600" indent="-228600">
              <a:spcBef>
                <a:spcPts val="0"/>
              </a:spcBef>
              <a:spcAft>
                <a:spcPts val="400"/>
              </a:spcAft>
              <a:buChar char="•"/>
              <a:lnSpc>
                <a:spcPts val="2160"/>
              </a:lnSpc>
            </a:pPr>
            <a:r>
              <a:rPr lang="ja-JP" sz="1200" b="0" i="0" dirty="0">
                <a:solidFill>
                  <a:srgbClr val="333333"/>
                </a:solidFill>
                <a:ea typeface="Meiryo"/>
              </a:rPr>
              <a:t>章立ては</a:t>
            </a:r>
            <a:r>
              <a:rPr lang="en-US" sz="1200" b="0" i="0" dirty="0">
                <a:solidFill>
                  <a:srgbClr val="333333"/>
                </a:solidFill>
                <a:latin typeface="Segoe UI"/>
              </a:rPr>
              <a:t>AI</a:t>
            </a:r>
            <a:r>
              <a:rPr lang="ja-JP" sz="1200" b="0" i="0" dirty="0">
                <a:solidFill>
                  <a:srgbClr val="333333"/>
                </a:solidFill>
                <a:ea typeface="Meiryo"/>
              </a:rPr>
              <a:t>の探索と判断を助ける地図になる</a:t>
            </a:r>
          </a:p>
        </p:txBody>
      </p:sp>
      <p:sp>
        <p:nvSpPr>
          <p:cNvPr id="6" name="TextBox 5"/>
          <p:cNvSpPr txBox="1"/>
          <p:nvPr/>
        </p:nvSpPr>
        <p:spPr>
          <a:xfrm>
            <a:off x="4837176"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適用範囲</a:t>
            </a:r>
          </a:p>
          <a:p>
            <a:pPr marL="228600" indent="-228600">
              <a:spcBef>
                <a:spcPts val="0"/>
              </a:spcBef>
              <a:spcAft>
                <a:spcPts val="400"/>
              </a:spcAft>
              <a:buChar char="•"/>
              <a:lnSpc>
                <a:spcPts val="2160"/>
              </a:lnSpc>
            </a:pPr>
            <a:r>
              <a:rPr lang="en-US" sz="1200" b="0" i="0" dirty="0">
                <a:solidFill>
                  <a:srgbClr val="333333"/>
                </a:solidFill>
                <a:latin typeface="Segoe UI"/>
              </a:rPr>
              <a:t>rules</a:t>
            </a:r>
            <a:r>
              <a:rPr lang="ja-JP" sz="1200" b="0" i="0" dirty="0">
                <a:solidFill>
                  <a:srgbClr val="333333"/>
                </a:solidFill>
                <a:ea typeface="Meiryo"/>
              </a:rPr>
              <a:t>でスコープを分け、文脈ノイズを減らす</a:t>
            </a:r>
          </a:p>
          <a:p>
            <a:pPr marL="228600" indent="-228600">
              <a:spcBef>
                <a:spcPts val="0"/>
              </a:spcBef>
              <a:spcAft>
                <a:spcPts val="400"/>
              </a:spcAft>
              <a:buChar char="•"/>
              <a:lnSpc>
                <a:spcPts val="2160"/>
              </a:lnSpc>
            </a:pPr>
            <a:r>
              <a:rPr lang="ja-JP" sz="1200" b="0" i="0" dirty="0">
                <a:solidFill>
                  <a:srgbClr val="333333"/>
                </a:solidFill>
                <a:ea typeface="Meiryo"/>
              </a:rPr>
              <a:t>用途別テンプレートで現場差分を吸収する</a:t>
            </a:r>
          </a:p>
          <a:p>
            <a:pPr>
              <a:spcBef>
                <a:spcPts val="800"/>
              </a:spcBef>
              <a:spcAft>
                <a:spcPts val="300"/>
              </a:spcAft>
              <a:buNone/>
              <a:lnSpc>
                <a:spcPts val="1679"/>
              </a:lnSpc>
            </a:pPr>
            <a:r>
              <a:rPr lang="ja-JP" sz="1200" b="1" i="0" dirty="0">
                <a:solidFill>
                  <a:srgbClr val="333333"/>
                </a:solidFill>
                <a:ea typeface="Meiryo"/>
              </a:rPr>
              <a:t>運用</a:t>
            </a:r>
          </a:p>
          <a:p>
            <a:pPr marL="228600" indent="-228600">
              <a:spcBef>
                <a:spcPts val="0"/>
              </a:spcBef>
              <a:spcAft>
                <a:spcPts val="400"/>
              </a:spcAft>
              <a:buChar char="•"/>
              <a:lnSpc>
                <a:spcPts val="2160"/>
              </a:lnSpc>
            </a:pPr>
            <a:r>
              <a:rPr lang="en-US" sz="1200" b="0" i="0" dirty="0">
                <a:solidFill>
                  <a:srgbClr val="333333"/>
                </a:solidFill>
                <a:latin typeface="Segoe UI"/>
              </a:rPr>
              <a:t>CLAUDE.md</a:t>
            </a:r>
            <a:r>
              <a:rPr lang="ja-JP" sz="1200" b="0" i="0" dirty="0">
                <a:solidFill>
                  <a:srgbClr val="333333"/>
                </a:solidFill>
                <a:ea typeface="Meiryo"/>
              </a:rPr>
              <a:t>は会話から育てる対象である</a:t>
            </a:r>
          </a:p>
          <a:p>
            <a:pPr marL="228600" indent="-228600">
              <a:spcBef>
                <a:spcPts val="0"/>
              </a:spcBef>
              <a:spcAft>
                <a:spcPts val="400"/>
              </a:spcAft>
              <a:buChar char="•"/>
              <a:lnSpc>
                <a:spcPts val="2160"/>
              </a:lnSpc>
            </a:pPr>
            <a:r>
              <a:rPr lang="en-US" sz="1200" b="0" i="0" dirty="0">
                <a:solidFill>
                  <a:srgbClr val="333333"/>
                </a:solidFill>
                <a:latin typeface="Segoe UI"/>
              </a:rPr>
              <a:t>Takuya</a:t>
            </a:r>
            <a:r>
              <a:rPr lang="ja-JP" sz="1200" b="0" i="0" dirty="0">
                <a:solidFill>
                  <a:srgbClr val="333333"/>
                </a:solidFill>
                <a:ea typeface="Meiryo"/>
              </a:rPr>
              <a:t>さんの環境は</a:t>
            </a:r>
            <a:r>
              <a:rPr lang="en-US" sz="1200" b="0" i="0" dirty="0">
                <a:solidFill>
                  <a:srgbClr val="333333"/>
                </a:solidFill>
                <a:latin typeface="Segoe UI"/>
              </a:rPr>
              <a:t>3</a:t>
            </a:r>
            <a:r>
              <a:rPr lang="ja-JP" sz="1200" b="0" i="0" dirty="0">
                <a:solidFill>
                  <a:srgbClr val="333333"/>
                </a:solidFill>
                <a:ea typeface="Meiryo"/>
              </a:rPr>
              <a:t>レイヤー設計が有効である</a:t>
            </a:r>
          </a:p>
        </p:txBody>
      </p:sp>
      <p:sp>
        <p:nvSpPr>
          <p:cNvPr id="7" name="Rectangle 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 y="4823459"/>
            <a:ext cx="1828800" cy="274320"/>
          </a:xfrm>
          <a:prstGeom prst="rect">
            <a:avLst/>
          </a:prstGeom>
          <a:noFill/>
        </p:spPr>
        <p:txBody>
          <a:bodyPr wrap="none" anchor="ctr" lIns="0" rIns="0" tIns="0" bIns="0">
            <a:spAutoFit/>
          </a:bodyPr>
          <a:lstStyle/>
          <a:p>
            <a:fld id="{F842B008-B136-4DC8-A7E2-111CCC20933B}" type="slidenum">
              <a:rPr lang="ja-JP" smtClean="0" sz="1000">
                <a:solidFill>
                  <a:srgbClr val="888888"/>
                </a:solidFill>
              </a:rPr>
              <a:t>&lt;#&gt;</a:t>
            </a:fld>
            <a:r>
              <a:rPr lang="ja-JP" smtClean="0" sz="1000">
                <a:solidFill>
                  <a:srgbClr val="888888"/>
                </a:solidFill>
              </a:rPr>
              <a:t>/</a:t>
            </a:r>
            <a:fld id="{E8709B93-E730-42E2-BAAE-34A06EFE8A82}" type="slidecount">
              <a:rPr lang="ja-JP" smtClean="0" sz="1000">
                <a:solidFill>
                  <a:srgbClr val="888888"/>
                </a:solidFill>
              </a:rPr>
              <a:t>10</a:t>
            </a:fld>
          </a:p>
        </p:txBody>
      </p:sp>
      <p:pic>
        <p:nvPicPr>
          <p:cNvPr id="9" name="Picture 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CLAUDE.md</a:t>
            </a:r>
            <a:r>
              <a:rPr lang="ja-JP" sz="2400" b="1" i="0" dirty="0">
                <a:solidFill>
                  <a:srgbClr val="FFFFFF"/>
                </a:solidFill>
                <a:ea typeface="Meiryo"/>
              </a:rPr>
              <a:t>はセッションのルールブックである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毎回の説明をプロジェクト標準の振る舞いへ変換する</a:t>
            </a:r>
          </a:p>
        </p:txBody>
      </p:sp>
      <p:sp>
        <p:nvSpPr>
          <p:cNvPr id="5" name="TextBox 4"/>
          <p:cNvSpPr txBox="1"/>
          <p:nvPr/>
        </p:nvSpPr>
        <p:spPr>
          <a:xfrm>
            <a:off x="393192"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開始時の基準線</a:t>
            </a:r>
          </a:p>
          <a:p>
            <a:pPr>
              <a:spcBef>
                <a:spcPts val="0"/>
              </a:spcBef>
              <a:spcAft>
                <a:spcPts val="400"/>
              </a:spcAft>
              <a:buNone/>
              <a:lnSpc>
                <a:spcPts val="2160"/>
              </a:lnSpc>
            </a:pPr>
            <a:r>
              <a:rPr lang="en-US" sz="1200" b="0" i="0" dirty="0">
                <a:solidFill>
                  <a:srgbClr val="333333"/>
                </a:solidFill>
                <a:latin typeface="Segoe UI"/>
              </a:rPr>
              <a:t>CLAUDE.md</a:t>
            </a:r>
            <a:r>
              <a:rPr lang="ja-JP" sz="1200" b="0" i="0" dirty="0">
                <a:solidFill>
                  <a:srgbClr val="333333"/>
                </a:solidFill>
                <a:ea typeface="Meiryo"/>
              </a:rPr>
              <a:t>は、</a:t>
            </a:r>
            <a:r>
              <a:rPr lang="en-US" sz="1200" b="0" i="0" dirty="0">
                <a:solidFill>
                  <a:srgbClr val="333333"/>
                </a:solidFill>
                <a:latin typeface="Segoe UI"/>
              </a:rPr>
              <a:t>AI</a:t>
            </a:r>
            <a:r>
              <a:rPr lang="ja-JP" sz="1200" b="0" i="0" dirty="0">
                <a:solidFill>
                  <a:srgbClr val="333333"/>
                </a:solidFill>
                <a:ea typeface="Meiryo"/>
              </a:rPr>
              <a:t>が「この現場ではどう振る舞うか」を判断するための基準である。</a:t>
            </a:r>
          </a:p>
          <a:p>
            <a:pPr marL="228600" indent="-228600">
              <a:spcBef>
                <a:spcPts val="0"/>
              </a:spcBef>
              <a:spcAft>
                <a:spcPts val="400"/>
              </a:spcAft>
              <a:buNone/>
              <a:lnSpc>
                <a:spcPts val="2160"/>
              </a:lnSpc>
            </a:pPr>
            <a:r>
              <a:rPr lang="en-US" sz="1200" b="0" i="0" dirty="0">
                <a:solidFill>
                  <a:srgbClr val="333333"/>
                </a:solidFill>
                <a:latin typeface="Segoe UI"/>
              </a:rPr>
              <a:t>1. </a:t>
            </a:r>
            <a:r>
              <a:rPr lang="ja-JP" sz="1200" b="1" i="0" dirty="0">
                <a:solidFill>
                  <a:srgbClr val="333333"/>
                </a:solidFill>
                <a:ea typeface="Meiryo"/>
              </a:rPr>
              <a:t>前提固定</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プロジェクトの目的や制約を毎回読み込ませる</a:t>
            </a:r>
          </a:p>
          <a:p>
            <a:pPr marL="228600" indent="-228600">
              <a:spcBef>
                <a:spcPts val="0"/>
              </a:spcBef>
              <a:spcAft>
                <a:spcPts val="400"/>
              </a:spcAft>
              <a:buNone/>
              <a:lnSpc>
                <a:spcPts val="2160"/>
              </a:lnSpc>
            </a:pPr>
            <a:r>
              <a:rPr lang="en-US" sz="1200" b="0" i="0" dirty="0">
                <a:solidFill>
                  <a:srgbClr val="333333"/>
                </a:solidFill>
                <a:latin typeface="Segoe UI"/>
              </a:rPr>
              <a:t>2. </a:t>
            </a:r>
            <a:r>
              <a:rPr lang="ja-JP" sz="1200" b="1" i="0" dirty="0">
                <a:solidFill>
                  <a:srgbClr val="333333"/>
                </a:solidFill>
                <a:ea typeface="Meiryo"/>
              </a:rPr>
              <a:t>手順共有</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調査、変更、検証、報告の流れを揃える</a:t>
            </a:r>
          </a:p>
          <a:p>
            <a:pPr marL="228600" indent="-228600">
              <a:spcBef>
                <a:spcPts val="0"/>
              </a:spcBef>
              <a:spcAft>
                <a:spcPts val="400"/>
              </a:spcAft>
              <a:buNone/>
              <a:lnSpc>
                <a:spcPts val="2160"/>
              </a:lnSpc>
            </a:pPr>
            <a:r>
              <a:rPr lang="en-US" sz="1200" b="0" i="0" dirty="0">
                <a:solidFill>
                  <a:srgbClr val="333333"/>
                </a:solidFill>
                <a:latin typeface="Segoe UI"/>
              </a:rPr>
              <a:t>3. </a:t>
            </a:r>
            <a:r>
              <a:rPr lang="ja-JP" sz="1200" b="1" i="0" dirty="0">
                <a:solidFill>
                  <a:srgbClr val="333333"/>
                </a:solidFill>
                <a:ea typeface="Meiryo"/>
              </a:rPr>
              <a:t>判断補正</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曖昧な依頼でも、現場の流儀に寄せて動ける</a:t>
            </a:r>
          </a:p>
          <a:p>
            <a:pPr>
              <a:spcBef>
                <a:spcPts val="800"/>
              </a:spcBef>
              <a:spcAft>
                <a:spcPts val="300"/>
              </a:spcAft>
              <a:buNone/>
              <a:lnSpc>
                <a:spcPts val="1679"/>
              </a:lnSpc>
            </a:pPr>
            <a:r>
              <a:rPr lang="ja-JP" sz="1200" b="1" i="0" dirty="0">
                <a:solidFill>
                  <a:srgbClr val="333333"/>
                </a:solidFill>
                <a:ea typeface="Meiryo"/>
              </a:rPr>
              <a:t>設計上の意味</a:t>
            </a:r>
          </a:p>
          <a:p>
            <a:pPr>
              <a:spcBef>
                <a:spcPts val="0"/>
              </a:spcBef>
              <a:spcAft>
                <a:spcPts val="400"/>
              </a:spcAft>
              <a:buNone/>
              <a:lnSpc>
                <a:spcPts val="2160"/>
              </a:lnSpc>
            </a:pPr>
            <a:r>
              <a:rPr lang="ja-JP" sz="1200" b="0" i="0" dirty="0">
                <a:solidFill>
                  <a:srgbClr val="333333"/>
                </a:solidFill>
                <a:ea typeface="Meiryo"/>
              </a:rPr>
              <a:t>単発指示を積み重ねるより、繰り返し使う前提を文書化する方が安定する。</a:t>
            </a:r>
          </a:p>
        </p:txBody>
      </p:sp>
      <p:sp>
        <p:nvSpPr>
          <p:cNvPr id="6" name="TextBox 5"/>
          <p:cNvSpPr txBox="1"/>
          <p:nvPr/>
        </p:nvSpPr>
        <p:spPr>
          <a:xfrm>
            <a:off x="4608576" y="941832"/>
            <a:ext cx="4370832" cy="3671315"/>
          </a:xfrm>
          <a:prstGeom prst="rect">
            <a:avLst/>
          </a:prstGeom>
          <a:noFill/>
          <a:effectLst/>
        </p:spPr>
        <p:txBody>
          <a:bodyPr wrap="square" lIns="0" rIns="0" tIns="0" bIns="0" anchor="ctr">
            <a:noAutofit/>
          </a:bodyPr>
          <a:lstStyle/>
          <a:p>
            <a:pPr algn="ctr"/>
            <a:r>
              <a:rPr lang="en-US" sz="1200" b="0" i="0" dirty="0">
                <a:solidFill>
                  <a:srgbClr val="888888"/>
                </a:solidFill>
                <a:latin typeface="Segoe UI"/>
              </a:rPr>
              <a:t>CLAUDE.md</a:t>
            </a:r>
            <a:r>
              <a:rPr lang="ja-JP" sz="1200" b="0" i="0" dirty="0">
                <a:solidFill>
                  <a:srgbClr val="888888"/>
                </a:solidFill>
                <a:ea typeface="Meiryo"/>
              </a:rPr>
              <a:t>が</a:t>
            </a:r>
            <a:r>
              <a:rPr lang="en-US" sz="1200" b="0" i="0" dirty="0">
                <a:solidFill>
                  <a:srgbClr val="888888"/>
                </a:solidFill>
                <a:latin typeface="Segoe UI"/>
              </a:rPr>
              <a:t>AI</a:t>
            </a:r>
            <a:r>
              <a:rPr lang="ja-JP" sz="1200" b="0" i="0" dirty="0">
                <a:solidFill>
                  <a:srgbClr val="888888"/>
                </a:solidFill>
                <a:ea typeface="Meiryo"/>
              </a:rPr>
              <a:t>の行動基準をプロジェクト標準へ揃える様子を表すシンプルなイラスト。フラットデザイン、ミニマルアイコン風、ビジネス向け、白背景。</a:t>
            </a:r>
            <a:r>
              <a:rPr lang="en-US" sz="1200" b="0" i="0" dirty="0">
                <a:solidFill>
                  <a:srgbClr val="888888"/>
                </a:solidFill>
                <a:latin typeface="Segoe UI"/>
              </a:rPr>
              <a:t>6:5</a:t>
            </a:r>
            <a:r>
              <a:rPr lang="ja-JP" sz="1200" b="0" i="0" dirty="0">
                <a:solidFill>
                  <a:srgbClr val="888888"/>
                </a:solidFill>
                <a:ea typeface="Meiryo"/>
              </a:rPr>
              <a:t>の比率で、開いたルール文書、チェックリスト、</a:t>
            </a:r>
            <a:r>
              <a:rPr lang="en-US" sz="1200" b="0" i="0" dirty="0">
                <a:solidFill>
                  <a:srgbClr val="888888"/>
                </a:solidFill>
                <a:latin typeface="Segoe UI"/>
              </a:rPr>
              <a:t>AI</a:t>
            </a:r>
            <a:r>
              <a:rPr lang="ja-JP" sz="1200" b="0" i="0" dirty="0">
                <a:solidFill>
                  <a:srgbClr val="888888"/>
                </a:solidFill>
                <a:ea typeface="Meiryo"/>
              </a:rPr>
              <a:t>アシスタント、プロジェクトフォルダを</a:t>
            </a:r>
            <a:r>
              <a:rPr lang="en-US" sz="1200" b="0" i="0" dirty="0">
                <a:solidFill>
                  <a:srgbClr val="888888"/>
                </a:solidFill>
                <a:latin typeface="Segoe UI"/>
              </a:rPr>
              <a:t>1</a:t>
            </a:r>
            <a:r>
              <a:rPr lang="ja-JP" sz="1200" b="0" i="0" dirty="0">
                <a:solidFill>
                  <a:srgbClr val="888888"/>
                </a:solidFill>
                <a:ea typeface="Meiryo"/>
              </a:rPr>
              <a:t>枚のビジュアルで表現する。文字なし。</a:t>
            </a:r>
          </a:p>
        </p:txBody>
      </p:sp>
      <p:sp>
        <p:nvSpPr>
          <p:cNvPr id="7" name="Rectangle 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 y="4823459"/>
            <a:ext cx="1828800" cy="274320"/>
          </a:xfrm>
          <a:prstGeom prst="rect">
            <a:avLst/>
          </a:prstGeom>
          <a:noFill/>
        </p:spPr>
        <p:txBody>
          <a:bodyPr wrap="none" anchor="ctr" lIns="0" rIns="0" tIns="0" bIns="0">
            <a:spAutoFit/>
          </a:bodyPr>
          <a:lstStyle/>
          <a:p>
            <a:fld id="{26F9DEAD-9B63-4F54-92C4-8B44E616D8BD}" type="slidenum">
              <a:rPr lang="ja-JP" smtClean="0" sz="1000">
                <a:solidFill>
                  <a:srgbClr val="888888"/>
                </a:solidFill>
              </a:rPr>
              <a:t>&lt;#&gt;</a:t>
            </a:fld>
            <a:r>
              <a:rPr lang="ja-JP" smtClean="0" sz="1000">
                <a:solidFill>
                  <a:srgbClr val="888888"/>
                </a:solidFill>
              </a:rPr>
              <a:t>/</a:t>
            </a:r>
            <a:fld id="{296DFDBE-51F1-4E3A-BC5C-2D7E80C79576}" type="slidecount">
              <a:rPr lang="ja-JP" smtClean="0" sz="1000">
                <a:solidFill>
                  <a:srgbClr val="888888"/>
                </a:solidFill>
              </a:rPr>
              <a:t>10</a:t>
            </a:fld>
          </a:p>
        </p:txBody>
      </p:sp>
      <p:pic>
        <p:nvPicPr>
          <p:cNvPr id="9" name="Picture 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CLAUDE.md</a:t>
            </a:r>
            <a:r>
              <a:rPr lang="ja-JP" sz="2400" b="1" i="0" dirty="0">
                <a:solidFill>
                  <a:srgbClr val="FFFFFF"/>
                </a:solidFill>
                <a:ea typeface="Meiryo"/>
              </a:rPr>
              <a:t>と</a:t>
            </a:r>
            <a:r>
              <a:rPr lang="en-US" sz="2400" b="1" i="0" dirty="0">
                <a:solidFill>
                  <a:srgbClr val="FFFFFF"/>
                </a:solidFill>
                <a:latin typeface="Segoe UI"/>
              </a:rPr>
              <a:t>MEMORY.md</a:t>
            </a:r>
            <a:r>
              <a:rPr lang="ja-JP" sz="2400" b="1" i="0" dirty="0">
                <a:solidFill>
                  <a:srgbClr val="FFFFFF"/>
                </a:solidFill>
                <a:ea typeface="Meiryo"/>
              </a:rPr>
              <a:t>は役割が異なる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強制ルールと学習メモを混ぜないことが安定性を生む</a:t>
            </a:r>
          </a:p>
        </p:txBody>
      </p:sp>
      <p:sp>
        <p:nvSpPr>
          <p:cNvPr id="5" name="Rectangle 4"/>
          <p:cNvSpPr/>
          <p:nvPr/>
        </p:nvSpPr>
        <p:spPr>
          <a:xfrm>
            <a:off x="3027970" y="941832"/>
            <a:ext cx="2808514" cy="876680"/>
          </a:xfrm>
          <a:prstGeom prst="rect">
            <a:avLst/>
          </a:prstGeom>
          <a:solidFill>
            <a:srgbClr val="6B7A99"/>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en-US" sz="1200" b="1" i="0" dirty="0">
                <a:solidFill>
                  <a:srgbClr val="FFFFFF"/>
                </a:solidFill>
                <a:latin typeface="Segoe UI"/>
              </a:rPr>
              <a:t>CLAUDE.md</a:t>
            </a:r>
          </a:p>
        </p:txBody>
      </p:sp>
      <p:sp>
        <p:nvSpPr>
          <p:cNvPr id="6" name="Rectangle 5"/>
          <p:cNvSpPr/>
          <p:nvPr/>
        </p:nvSpPr>
        <p:spPr>
          <a:xfrm>
            <a:off x="6170893" y="941832"/>
            <a:ext cx="2808514" cy="876680"/>
          </a:xfrm>
          <a:prstGeom prst="rect">
            <a:avLst/>
          </a:prstGeom>
          <a:solidFill>
            <a:srgbClr val="6B7A99"/>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en-US" sz="1200" b="1" i="0" dirty="0">
                <a:solidFill>
                  <a:srgbClr val="FFFFFF"/>
                </a:solidFill>
                <a:latin typeface="Segoe UI"/>
              </a:rPr>
              <a:t>MEMORY.md / Auto memory</a:t>
            </a:r>
          </a:p>
        </p:txBody>
      </p:sp>
      <p:sp>
        <p:nvSpPr>
          <p:cNvPr id="7" name="Rectangle 6"/>
          <p:cNvSpPr/>
          <p:nvPr/>
        </p:nvSpPr>
        <p:spPr>
          <a:xfrm>
            <a:off x="164592" y="1873377"/>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作成者</a:t>
            </a:r>
          </a:p>
        </p:txBody>
      </p:sp>
      <p:sp>
        <p:nvSpPr>
          <p:cNvPr id="8" name="Rectangle 7"/>
          <p:cNvSpPr/>
          <p:nvPr/>
        </p:nvSpPr>
        <p:spPr>
          <a:xfrm>
            <a:off x="3027970" y="1873377"/>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ユーザーが意図して明示する</a:t>
            </a:r>
          </a:p>
        </p:txBody>
      </p:sp>
      <p:sp>
        <p:nvSpPr>
          <p:cNvPr id="9" name="Rectangle 8"/>
          <p:cNvSpPr/>
          <p:nvPr/>
        </p:nvSpPr>
        <p:spPr>
          <a:xfrm>
            <a:off x="6170893" y="1873377"/>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en-US" sz="1200" b="0" i="0" dirty="0">
                <a:solidFill>
                  <a:srgbClr val="333333"/>
                </a:solidFill>
                <a:latin typeface="Segoe UI"/>
              </a:rPr>
              <a:t>AI</a:t>
            </a:r>
            <a:r>
              <a:rPr lang="ja-JP" sz="1200" b="0" i="0" dirty="0">
                <a:solidFill>
                  <a:srgbClr val="333333"/>
                </a:solidFill>
                <a:ea typeface="Meiryo"/>
              </a:rPr>
              <a:t>が作業から自動的に学習する</a:t>
            </a:r>
          </a:p>
        </p:txBody>
      </p:sp>
      <p:sp>
        <p:nvSpPr>
          <p:cNvPr id="10" name="Rectangle 9"/>
          <p:cNvSpPr/>
          <p:nvPr/>
        </p:nvSpPr>
        <p:spPr>
          <a:xfrm>
            <a:off x="164592" y="2804922"/>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内容</a:t>
            </a:r>
          </a:p>
        </p:txBody>
      </p:sp>
      <p:sp>
        <p:nvSpPr>
          <p:cNvPr id="11" name="Rectangle 10"/>
          <p:cNvSpPr/>
          <p:nvPr/>
        </p:nvSpPr>
        <p:spPr>
          <a:xfrm>
            <a:off x="3027970" y="2804922"/>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規約、前提、手順、禁止事項</a:t>
            </a:r>
          </a:p>
        </p:txBody>
      </p:sp>
      <p:sp>
        <p:nvSpPr>
          <p:cNvPr id="12" name="Rectangle 11"/>
          <p:cNvSpPr/>
          <p:nvPr/>
        </p:nvSpPr>
        <p:spPr>
          <a:xfrm>
            <a:off x="6170893" y="2804922"/>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好み、癖、最近の対処パターン</a:t>
            </a:r>
          </a:p>
        </p:txBody>
      </p:sp>
      <p:sp>
        <p:nvSpPr>
          <p:cNvPr id="13" name="Rectangle 12"/>
          <p:cNvSpPr/>
          <p:nvPr/>
        </p:nvSpPr>
        <p:spPr>
          <a:xfrm>
            <a:off x="164592" y="3736466"/>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扱い方</a:t>
            </a:r>
          </a:p>
        </p:txBody>
      </p:sp>
      <p:sp>
        <p:nvSpPr>
          <p:cNvPr id="14" name="Rectangle 13"/>
          <p:cNvSpPr/>
          <p:nvPr/>
        </p:nvSpPr>
        <p:spPr>
          <a:xfrm>
            <a:off x="3027970" y="3736466"/>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守るべき基準として参照する</a:t>
            </a:r>
          </a:p>
        </p:txBody>
      </p:sp>
      <p:sp>
        <p:nvSpPr>
          <p:cNvPr id="15" name="Rectangle 14"/>
          <p:cNvSpPr/>
          <p:nvPr/>
        </p:nvSpPr>
        <p:spPr>
          <a:xfrm>
            <a:off x="6170893" y="3736466"/>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判断を補助するヒントとして使う</a:t>
            </a:r>
          </a:p>
        </p:txBody>
      </p:sp>
      <p:sp>
        <p:nvSpPr>
          <p:cNvPr id="16" name="CmpArrow16"/>
          <p:cNvSpPr/>
          <p:nvPr/>
        </p:nvSpPr>
        <p:spPr>
          <a:xfrm>
            <a:off x="5891348" y="1873377"/>
            <a:ext cx="224681" cy="2739771"/>
          </a:xfrm>
          <a:custGeom>
            <a:avLst/>
            <a:gdLst/>
            <a:ahLst/>
            <a:cxnLst/>
            <a:rect l="0" t="0" r="r" b="b"/>
            <a:pathLst>
              <a:path w="100000" h="100000">
                <a:moveTo>
                  <a:pt x="0" y="50000"/>
                </a:moveTo>
                <a:lnTo>
                  <a:pt x="35000" y="20000"/>
                </a:lnTo>
                <a:lnTo>
                  <a:pt x="35000" y="40000"/>
                </a:lnTo>
                <a:lnTo>
                  <a:pt x="65000" y="40000"/>
                </a:lnTo>
                <a:lnTo>
                  <a:pt x="65000" y="20000"/>
                </a:lnTo>
                <a:lnTo>
                  <a:pt x="100000" y="50000"/>
                </a:lnTo>
                <a:lnTo>
                  <a:pt x="65000" y="80000"/>
                </a:lnTo>
                <a:lnTo>
                  <a:pt x="65000" y="60000"/>
                </a:lnTo>
                <a:lnTo>
                  <a:pt x="35000" y="60000"/>
                </a:lnTo>
                <a:lnTo>
                  <a:pt x="35000" y="80000"/>
                </a:lnTo>
                <a:close/>
              </a:path>
            </a:pathLst>
          </a:custGeom>
          <a:solidFill>
            <a:srgbClr val="CCCCCC"/>
          </a:solidFill>
          <a:ln w="9525">
            <a:solidFill>
              <a:srgbClr val="CCCCCC"/>
            </a:solidFill>
          </a:ln>
          <a:effectLst/>
        </p:spPr>
        <p:txBody>
          <a:bodyPr/>
          <a:lstStyle/>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046AD0EE-CF68-4B00-B980-2972104C5A75}" type="slidenum">
              <a:rPr lang="ja-JP" smtClean="0" sz="1000">
                <a:solidFill>
                  <a:srgbClr val="888888"/>
                </a:solidFill>
              </a:rPr>
              <a:t>&lt;#&gt;</a:t>
            </a:fld>
            <a:r>
              <a:rPr lang="ja-JP" smtClean="0" sz="1000">
                <a:solidFill>
                  <a:srgbClr val="888888"/>
                </a:solidFill>
              </a:rPr>
              <a:t>/</a:t>
            </a:r>
            <a:fld id="{F75F4FDB-DA2D-4950-923B-CCF3F6E05A3D}" type="slidecount">
              <a:rPr lang="ja-JP" smtClean="0" sz="1000">
                <a:solidFill>
                  <a:srgbClr val="888888"/>
                </a:solidFill>
              </a:rPr>
              <a:t>10</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重要ルールを厳選し、守れる密度にする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長く書くより、</a:t>
            </a:r>
            <a:r>
              <a:rPr lang="en-US" sz="1200" b="0" i="0" dirty="0">
                <a:solidFill>
                  <a:srgbClr val="FFFFFF"/>
                </a:solidFill>
                <a:latin typeface="Segoe UI"/>
              </a:rPr>
              <a:t>AI</a:t>
            </a:r>
            <a:r>
              <a:rPr lang="ja-JP" sz="1200" b="0" i="0" dirty="0">
                <a:solidFill>
                  <a:srgbClr val="FFFFFF"/>
                </a:solidFill>
                <a:ea typeface="Meiryo"/>
              </a:rPr>
              <a:t>が実行できる粒度へ落とす</a:t>
            </a:r>
          </a:p>
        </p:txBody>
      </p:sp>
      <p:sp>
        <p:nvSpPr>
          <p:cNvPr id="5" name="Rectangle 4"/>
          <p:cNvSpPr/>
          <p:nvPr/>
        </p:nvSpPr>
        <p:spPr>
          <a:xfrm>
            <a:off x="164592" y="941832"/>
            <a:ext cx="8814816" cy="844677"/>
          </a:xfrm>
          <a:prstGeom prst="rect">
            <a:avLst/>
          </a:prstGeom>
          <a:solidFill>
            <a:srgbClr val="E8EDF2"/>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8540496" cy="625221"/>
          </a:xfrm>
          <a:prstGeom prst="rect">
            <a:avLst/>
          </a:prstGeom>
          <a:noFill/>
          <a:effectLst/>
        </p:spPr>
        <p:txBody>
          <a:bodyPr wrap="square" lIns="0" rIns="0" tIns="0" bIns="0">
            <a:noAutofit/>
          </a:bodyPr>
          <a:lstStyle/>
          <a:p>
            <a:pPr>
              <a:spcBef>
                <a:spcPts val="0"/>
              </a:spcBef>
              <a:spcAft>
                <a:spcPts val="400"/>
              </a:spcAft>
              <a:buNone/>
              <a:lnSpc>
                <a:spcPts val="2160"/>
              </a:lnSpc>
            </a:pPr>
            <a:r>
              <a:rPr lang="ja-JP" sz="1200" b="0" i="0" dirty="0">
                <a:solidFill>
                  <a:srgbClr val="333333"/>
                </a:solidFill>
                <a:ea typeface="Meiryo"/>
              </a:rPr>
              <a:t>ルールを増やすほど安心に見えるが、実際には重要な指示が埋もれやすくなる。</a:t>
            </a:r>
          </a:p>
        </p:txBody>
      </p:sp>
      <p:sp>
        <p:nvSpPr>
          <p:cNvPr id="7" name="Rectangle 6"/>
          <p:cNvSpPr/>
          <p:nvPr/>
        </p:nvSpPr>
        <p:spPr>
          <a:xfrm>
            <a:off x="164592"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厳選</a:t>
            </a:r>
          </a:p>
        </p:txBody>
      </p:sp>
      <p:sp>
        <p:nvSpPr>
          <p:cNvPr id="9" name="Rectangle 8"/>
          <p:cNvSpPr/>
          <p:nvPr/>
        </p:nvSpPr>
        <p:spPr>
          <a:xfrm>
            <a:off x="301751"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1"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常に守るものだけを残す。</a:t>
            </a:r>
          </a:p>
          <a:p>
            <a:pPr marL="228600" indent="-228600">
              <a:spcBef>
                <a:spcPts val="0"/>
              </a:spcBef>
              <a:spcAft>
                <a:spcPts val="400"/>
              </a:spcAft>
              <a:buChar char="•"/>
              <a:lnSpc>
                <a:spcPts val="1980"/>
              </a:lnSpc>
            </a:pPr>
            <a:r>
              <a:rPr lang="ja-JP" sz="1100" b="0" i="0" dirty="0">
                <a:solidFill>
                  <a:srgbClr val="333333"/>
                </a:solidFill>
                <a:ea typeface="Meiryo"/>
              </a:rPr>
              <a:t>単発の依頼は会話で処理する</a:t>
            </a:r>
          </a:p>
          <a:p>
            <a:pPr marL="228600" indent="-228600">
              <a:spcBef>
                <a:spcPts val="0"/>
              </a:spcBef>
              <a:spcAft>
                <a:spcPts val="400"/>
              </a:spcAft>
              <a:buChar char="•"/>
              <a:lnSpc>
                <a:spcPts val="1980"/>
              </a:lnSpc>
            </a:pPr>
            <a:r>
              <a:rPr lang="ja-JP" sz="1100" b="0" i="0" dirty="0">
                <a:solidFill>
                  <a:srgbClr val="333333"/>
                </a:solidFill>
                <a:ea typeface="Meiryo"/>
              </a:rPr>
              <a:t>古い技術前提や重複を削る</a:t>
            </a:r>
          </a:p>
          <a:p>
            <a:pPr marL="228600" indent="-228600">
              <a:spcBef>
                <a:spcPts val="0"/>
              </a:spcBef>
              <a:spcAft>
                <a:spcPts val="400"/>
              </a:spcAft>
              <a:buChar char="•"/>
              <a:lnSpc>
                <a:spcPts val="1980"/>
              </a:lnSpc>
            </a:pPr>
            <a:r>
              <a:rPr lang="ja-JP" sz="1100" b="0" i="0" dirty="0">
                <a:solidFill>
                  <a:srgbClr val="333333"/>
                </a:solidFill>
                <a:ea typeface="Meiryo"/>
              </a:rPr>
              <a:t>重要度の低い好みは</a:t>
            </a:r>
            <a:r>
              <a:rPr lang="en-US" sz="1100" b="0" i="0" dirty="0">
                <a:solidFill>
                  <a:srgbClr val="333333"/>
                </a:solidFill>
                <a:latin typeface="Segoe UI"/>
              </a:rPr>
              <a:t>MEMORY</a:t>
            </a:r>
            <a:r>
              <a:rPr lang="ja-JP" sz="1100" b="0" i="0" dirty="0">
                <a:solidFill>
                  <a:srgbClr val="333333"/>
                </a:solidFill>
                <a:ea typeface="Meiryo"/>
              </a:rPr>
              <a:t>側へ逃がす</a:t>
            </a:r>
          </a:p>
        </p:txBody>
      </p:sp>
      <p:sp>
        <p:nvSpPr>
          <p:cNvPr id="11" name="Rectangle 10"/>
          <p:cNvSpPr/>
          <p:nvPr/>
        </p:nvSpPr>
        <p:spPr>
          <a:xfrm>
            <a:off x="3127248"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粒度</a:t>
            </a:r>
          </a:p>
        </p:txBody>
      </p:sp>
      <p:sp>
        <p:nvSpPr>
          <p:cNvPr id="13" name="Rectangle 12"/>
          <p:cNvSpPr/>
          <p:nvPr/>
        </p:nvSpPr>
        <p:spPr>
          <a:xfrm>
            <a:off x="3264408"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4408"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en-US" sz="1100" b="0" i="0" dirty="0">
                <a:solidFill>
                  <a:srgbClr val="333333"/>
                </a:solidFill>
                <a:latin typeface="Segoe UI"/>
              </a:rPr>
              <a:t>1</a:t>
            </a:r>
            <a:r>
              <a:rPr lang="ja-JP" sz="1100" b="0" i="0" dirty="0">
                <a:solidFill>
                  <a:srgbClr val="333333"/>
                </a:solidFill>
                <a:ea typeface="Meiryo"/>
              </a:rPr>
              <a:t>ルール</a:t>
            </a:r>
            <a:r>
              <a:rPr lang="en-US" sz="1100" b="0" i="0" dirty="0">
                <a:solidFill>
                  <a:srgbClr val="333333"/>
                </a:solidFill>
                <a:latin typeface="Segoe UI"/>
              </a:rPr>
              <a:t>1</a:t>
            </a:r>
            <a:r>
              <a:rPr lang="ja-JP" sz="1100" b="0" i="0" dirty="0">
                <a:solidFill>
                  <a:srgbClr val="333333"/>
                </a:solidFill>
                <a:ea typeface="Meiryo"/>
              </a:rPr>
              <a:t>文で読める形にする。</a:t>
            </a:r>
          </a:p>
          <a:p>
            <a:pPr marL="228600" indent="-228600">
              <a:spcBef>
                <a:spcPts val="0"/>
              </a:spcBef>
              <a:spcAft>
                <a:spcPts val="400"/>
              </a:spcAft>
              <a:buChar char="•"/>
              <a:lnSpc>
                <a:spcPts val="1980"/>
              </a:lnSpc>
            </a:pPr>
            <a:r>
              <a:rPr lang="ja-JP" sz="1100" b="0" i="0" dirty="0">
                <a:solidFill>
                  <a:srgbClr val="333333"/>
                </a:solidFill>
                <a:ea typeface="Meiryo"/>
              </a:rPr>
              <a:t>長い説明より判断条件を明確にする</a:t>
            </a:r>
          </a:p>
          <a:p>
            <a:pPr marL="228600" indent="-228600">
              <a:spcBef>
                <a:spcPts val="0"/>
              </a:spcBef>
              <a:spcAft>
                <a:spcPts val="400"/>
              </a:spcAft>
              <a:buChar char="•"/>
              <a:lnSpc>
                <a:spcPts val="1980"/>
              </a:lnSpc>
            </a:pPr>
            <a:r>
              <a:rPr lang="ja-JP" sz="1100" b="0" i="0" dirty="0">
                <a:solidFill>
                  <a:srgbClr val="333333"/>
                </a:solidFill>
                <a:ea typeface="Meiryo"/>
              </a:rPr>
              <a:t>例外がある場合は条件を添える</a:t>
            </a:r>
          </a:p>
          <a:p>
            <a:pPr marL="228600" indent="-228600">
              <a:spcBef>
                <a:spcPts val="0"/>
              </a:spcBef>
              <a:spcAft>
                <a:spcPts val="400"/>
              </a:spcAft>
              <a:buChar char="•"/>
              <a:lnSpc>
                <a:spcPts val="1980"/>
              </a:lnSpc>
            </a:pPr>
            <a:r>
              <a:rPr lang="ja-JP" sz="1100" b="0" i="0" dirty="0">
                <a:solidFill>
                  <a:srgbClr val="333333"/>
                </a:solidFill>
                <a:ea typeface="Meiryo"/>
              </a:rPr>
              <a:t>抽象語だけで終わらせない</a:t>
            </a:r>
          </a:p>
        </p:txBody>
      </p:sp>
      <p:sp>
        <p:nvSpPr>
          <p:cNvPr id="15" name="Rectangle 14"/>
          <p:cNvSpPr/>
          <p:nvPr/>
        </p:nvSpPr>
        <p:spPr>
          <a:xfrm>
            <a:off x="6089904"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実行性</a:t>
            </a:r>
          </a:p>
        </p:txBody>
      </p:sp>
      <p:sp>
        <p:nvSpPr>
          <p:cNvPr id="17" name="Rectangle 16"/>
          <p:cNvSpPr/>
          <p:nvPr/>
        </p:nvSpPr>
        <p:spPr>
          <a:xfrm>
            <a:off x="6227064"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27064"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行動へ移せる指示にする。</a:t>
            </a:r>
          </a:p>
          <a:p>
            <a:pPr marL="228600" indent="-228600">
              <a:spcBef>
                <a:spcPts val="0"/>
              </a:spcBef>
              <a:spcAft>
                <a:spcPts val="400"/>
              </a:spcAft>
              <a:buChar char="•"/>
              <a:lnSpc>
                <a:spcPts val="1980"/>
              </a:lnSpc>
            </a:pPr>
            <a:r>
              <a:rPr lang="ja-JP" sz="1100" b="0" i="0" dirty="0">
                <a:solidFill>
                  <a:srgbClr val="333333"/>
                </a:solidFill>
                <a:ea typeface="Meiryo"/>
              </a:rPr>
              <a:t>「しっかりテスト」では弱い</a:t>
            </a:r>
          </a:p>
          <a:p>
            <a:pPr marL="228600" indent="-228600">
              <a:spcBef>
                <a:spcPts val="0"/>
              </a:spcBef>
              <a:spcAft>
                <a:spcPts val="400"/>
              </a:spcAft>
              <a:buChar char="•"/>
              <a:lnSpc>
                <a:spcPts val="1980"/>
              </a:lnSpc>
            </a:pPr>
            <a:r>
              <a:rPr lang="en-US" sz="1100" b="0" i="0" dirty="0">
                <a:solidFill>
                  <a:srgbClr val="333333"/>
                </a:solidFill>
                <a:latin typeface="Consolas"/>
              </a:rPr>
              <a:t>pnpm test</a:t>
            </a:r>
            <a:r>
              <a:rPr lang="en-US" sz="1100" b="0" i="0" dirty="0">
                <a:solidFill>
                  <a:srgbClr val="333333"/>
                </a:solidFill>
                <a:latin typeface="Segoe UI"/>
              </a:rPr>
              <a:t> </a:t>
            </a:r>
            <a:r>
              <a:rPr lang="ja-JP" sz="1100" b="0" i="0" dirty="0">
                <a:solidFill>
                  <a:srgbClr val="333333"/>
                </a:solidFill>
                <a:ea typeface="Meiryo"/>
              </a:rPr>
              <a:t>のようにコマンドまで書く</a:t>
            </a:r>
          </a:p>
          <a:p>
            <a:pPr marL="228600" indent="-228600">
              <a:spcBef>
                <a:spcPts val="0"/>
              </a:spcBef>
              <a:spcAft>
                <a:spcPts val="400"/>
              </a:spcAft>
              <a:buChar char="•"/>
              <a:lnSpc>
                <a:spcPts val="1980"/>
              </a:lnSpc>
            </a:pPr>
            <a:r>
              <a:rPr lang="ja-JP" sz="1100" b="0" i="0" dirty="0">
                <a:solidFill>
                  <a:srgbClr val="333333"/>
                </a:solidFill>
                <a:ea typeface="Meiryo"/>
              </a:rPr>
              <a:t>成功条件や修正対象を明示する</a:t>
            </a:r>
          </a:p>
        </p:txBody>
      </p:sp>
      <p:sp>
        <p:nvSpPr>
          <p:cNvPr id="19" name="Rectangle 18"/>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4823459"/>
            <a:ext cx="1828800" cy="274320"/>
          </a:xfrm>
          <a:prstGeom prst="rect">
            <a:avLst/>
          </a:prstGeom>
          <a:noFill/>
        </p:spPr>
        <p:txBody>
          <a:bodyPr wrap="none" anchor="ctr" lIns="0" rIns="0" tIns="0" bIns="0">
            <a:spAutoFit/>
          </a:bodyPr>
          <a:lstStyle/>
          <a:p>
            <a:fld id="{49DF6B02-DBC5-41E7-A2BA-9C7669701261}" type="slidenum">
              <a:rPr lang="ja-JP" smtClean="0" sz="1000">
                <a:solidFill>
                  <a:srgbClr val="888888"/>
                </a:solidFill>
              </a:rPr>
              <a:t>&lt;#&gt;</a:t>
            </a:fld>
            <a:r>
              <a:rPr lang="ja-JP" smtClean="0" sz="1000">
                <a:solidFill>
                  <a:srgbClr val="888888"/>
                </a:solidFill>
              </a:rPr>
              <a:t>/</a:t>
            </a:r>
            <a:fld id="{1570EF08-0277-4ABF-8EB7-463DCA06C7B8}" type="slidecount">
              <a:rPr lang="ja-JP" smtClean="0" sz="1000">
                <a:solidFill>
                  <a:srgbClr val="888888"/>
                </a:solidFill>
              </a:rPr>
              <a:t>10</a:t>
            </a:fld>
          </a:p>
        </p:txBody>
      </p:sp>
      <p:pic>
        <p:nvPicPr>
          <p:cNvPr id="21" name="Picture 20"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推奨章立ては</a:t>
            </a:r>
            <a:r>
              <a:rPr lang="en-US" sz="2400" b="1" i="0" dirty="0">
                <a:solidFill>
                  <a:srgbClr val="FFFFFF"/>
                </a:solidFill>
                <a:latin typeface="Segoe UI"/>
              </a:rPr>
              <a:t>AI</a:t>
            </a:r>
            <a:r>
              <a:rPr lang="ja-JP" sz="2400" b="1" i="0" dirty="0">
                <a:solidFill>
                  <a:srgbClr val="FFFFFF"/>
                </a:solidFill>
                <a:ea typeface="Meiryo"/>
              </a:rPr>
              <a:t>の探索と判断を助ける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en-US" sz="1200" b="0" i="0" dirty="0">
                <a:solidFill>
                  <a:srgbClr val="FFFFFF"/>
                </a:solidFill>
                <a:latin typeface="Segoe UI"/>
              </a:rPr>
              <a:t>What</a:t>
            </a:r>
            <a:r>
              <a:rPr lang="ja-JP" sz="1200" b="0" i="0" dirty="0">
                <a:solidFill>
                  <a:srgbClr val="FFFFFF"/>
                </a:solidFill>
                <a:ea typeface="Meiryo"/>
              </a:rPr>
              <a:t>、</a:t>
            </a:r>
            <a:r>
              <a:rPr lang="en-US" sz="1200" b="0" i="0" dirty="0">
                <a:solidFill>
                  <a:srgbClr val="FFFFFF"/>
                </a:solidFill>
                <a:latin typeface="Segoe UI"/>
              </a:rPr>
              <a:t>How</a:t>
            </a:r>
            <a:r>
              <a:rPr lang="ja-JP" sz="1200" b="0" i="0" dirty="0">
                <a:solidFill>
                  <a:srgbClr val="FFFFFF"/>
                </a:solidFill>
                <a:ea typeface="Meiryo"/>
              </a:rPr>
              <a:t>、</a:t>
            </a:r>
            <a:r>
              <a:rPr lang="en-US" sz="1200" b="0" i="0" dirty="0">
                <a:solidFill>
                  <a:srgbClr val="FFFFFF"/>
                </a:solidFill>
                <a:latin typeface="Segoe UI"/>
              </a:rPr>
              <a:t>Workflow</a:t>
            </a:r>
            <a:r>
              <a:rPr lang="ja-JP" sz="1200" b="0" i="0" dirty="0">
                <a:solidFill>
                  <a:srgbClr val="FFFFFF"/>
                </a:solidFill>
                <a:ea typeface="Meiryo"/>
              </a:rPr>
              <a:t>、</a:t>
            </a:r>
            <a:r>
              <a:rPr lang="en-US" sz="1200" b="0" i="0" dirty="0">
                <a:solidFill>
                  <a:srgbClr val="FFFFFF"/>
                </a:solidFill>
                <a:latin typeface="Segoe UI"/>
              </a:rPr>
              <a:t>Gotchas</a:t>
            </a:r>
            <a:r>
              <a:rPr lang="ja-JP" sz="1200" b="0" i="0" dirty="0">
                <a:solidFill>
                  <a:srgbClr val="FFFFFF"/>
                </a:solidFill>
                <a:ea typeface="Meiryo"/>
              </a:rPr>
              <a:t>を地図として渡す</a:t>
            </a:r>
          </a:p>
        </p:txBody>
      </p:sp>
      <p:graphicFrame>
        <p:nvGraphicFramePr>
          <p:cNvPr id="5" name="Table 4"/>
          <p:cNvGraphicFramePr>
            <a:graphicFrameLocks noGrp="1"/>
          </p:cNvGraphicFramePr>
          <p:nvPr/>
        </p:nvGraphicFramePr>
        <p:xfrm>
          <a:off x="164592" y="941832"/>
          <a:ext cx="8814816" cy="2753485"/>
        </p:xfrm>
        <a:graphic>
          <a:graphicData uri="http://schemas.openxmlformats.org/drawingml/2006/table">
            <a:tbl>
              <a:tblPr>
                <a:tableStyleId>{5C22544A-7EE6-4342-B048-85BDC9FD1C3A}</a:tableStyleId>
              </a:tblPr>
              <a:tblGrid>
                <a:gridCol w="2938272"/>
                <a:gridCol w="2938272"/>
                <a:gridCol w="2938272"/>
              </a:tblGrid>
              <a:tr h="393355">
                <a:tc>
                  <a:txBody>
                    <a:bodyPr lIns="88900" rIns="88900" tIns="38100" bIns="38100" wrap="square" anchor="ctr"/>
                    <a:lstStyle/>
                    <a:p>
                      <a:r>
                        <a:rPr lang="ja-JP" sz="1200" b="1" i="0" dirty="0">
                          <a:solidFill>
                            <a:srgbClr val="FFFFFF"/>
                          </a:solidFill>
                          <a:ea typeface="Meiryo"/>
                        </a:rPr>
                        <a:t>章</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役割</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入れるべき情報</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393355">
                <a:tc>
                  <a:txBody>
                    <a:bodyPr lIns="88900" rIns="88900" tIns="38100" bIns="38100" wrap="square" anchor="ctr"/>
                    <a:lstStyle/>
                    <a:p>
                      <a:r>
                        <a:rPr lang="ja-JP" sz="1200" b="1" i="0" dirty="0">
                          <a:solidFill>
                            <a:srgbClr val="FFFFFF"/>
                          </a:solidFill>
                          <a:ea typeface="Meiryo"/>
                        </a:rPr>
                        <a:t>プロジェクト概要</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何を作るかを理解させる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目的、ユーザー、重要ユースケース</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393355">
                <a:tc>
                  <a:txBody>
                    <a:bodyPr lIns="88900" rIns="88900" tIns="38100" bIns="38100" wrap="square" anchor="ctr"/>
                    <a:lstStyle/>
                    <a:p>
                      <a:r>
                        <a:rPr lang="ja-JP" sz="1200" b="1" i="0" dirty="0">
                          <a:solidFill>
                            <a:srgbClr val="FFFFFF"/>
                          </a:solidFill>
                          <a:ea typeface="Meiryo"/>
                        </a:rPr>
                        <a:t>技術スタック</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提案の前提を揃える</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言語、</a:t>
                      </a:r>
                      <a:r>
                        <a:rPr lang="en-US" sz="1200" b="0" i="0" dirty="0">
                          <a:solidFill>
                            <a:srgbClr val="333333"/>
                          </a:solidFill>
                          <a:latin typeface="Segoe UI"/>
                        </a:rPr>
                        <a:t>FW</a:t>
                      </a:r>
                      <a:r>
                        <a:rPr lang="ja-JP" sz="1200" b="0" i="0" dirty="0">
                          <a:solidFill>
                            <a:srgbClr val="333333"/>
                          </a:solidFill>
                          <a:ea typeface="Meiryo"/>
                        </a:rPr>
                        <a:t>、</a:t>
                      </a:r>
                      <a:r>
                        <a:rPr lang="en-US" sz="1200" b="0" i="0" dirty="0">
                          <a:solidFill>
                            <a:srgbClr val="333333"/>
                          </a:solidFill>
                          <a:latin typeface="Segoe UI"/>
                        </a:rPr>
                        <a:t>UI</a:t>
                      </a:r>
                      <a:r>
                        <a:rPr lang="ja-JP" sz="1200" b="0" i="0" dirty="0">
                          <a:solidFill>
                            <a:srgbClr val="333333"/>
                          </a:solidFill>
                          <a:ea typeface="Meiryo"/>
                        </a:rPr>
                        <a:t>ライブラリ、禁止ライブラリ</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393355">
                <a:tc>
                  <a:txBody>
                    <a:bodyPr lIns="88900" rIns="88900" tIns="38100" bIns="38100" wrap="square" anchor="ctr"/>
                    <a:lstStyle/>
                    <a:p>
                      <a:r>
                        <a:rPr lang="ja-JP" sz="1200" b="1" i="0" dirty="0">
                          <a:solidFill>
                            <a:srgbClr val="FFFFFF"/>
                          </a:solidFill>
                          <a:ea typeface="Meiryo"/>
                        </a:rPr>
                        <a:t>ディレクトリ構成</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ファイル探索の地図にする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主要フォルダの役割、隔離ルール</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393355">
                <a:tc>
                  <a:txBody>
                    <a:bodyPr lIns="88900" rIns="88900" tIns="38100" bIns="38100" wrap="square" anchor="ctr"/>
                    <a:lstStyle/>
                    <a:p>
                      <a:r>
                        <a:rPr lang="ja-JP" sz="1200" b="1" i="0" dirty="0">
                          <a:solidFill>
                            <a:srgbClr val="FFFFFF"/>
                          </a:solidFill>
                          <a:ea typeface="Meiryo"/>
                        </a:rPr>
                        <a:t>コマンド集</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実行計画へ組み込ませる</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en-US" sz="1200" b="0" i="0" dirty="0">
                          <a:solidFill>
                            <a:srgbClr val="333333"/>
                          </a:solidFill>
                          <a:latin typeface="Consolas"/>
                        </a:rPr>
                        <a:t>dev</a:t>
                      </a:r>
                      <a:r>
                        <a:rPr lang="ja-JP" sz="1200" b="0" i="0" dirty="0">
                          <a:solidFill>
                            <a:srgbClr val="333333"/>
                          </a:solidFill>
                          <a:ea typeface="Meiryo"/>
                        </a:rPr>
                        <a:t>、</a:t>
                      </a:r>
                      <a:r>
                        <a:rPr lang="en-US" sz="1200" b="0" i="0" dirty="0">
                          <a:solidFill>
                            <a:srgbClr val="333333"/>
                          </a:solidFill>
                          <a:latin typeface="Consolas"/>
                        </a:rPr>
                        <a:t>test</a:t>
                      </a:r>
                      <a:r>
                        <a:rPr lang="ja-JP" sz="1200" b="0" i="0" dirty="0">
                          <a:solidFill>
                            <a:srgbClr val="333333"/>
                          </a:solidFill>
                          <a:ea typeface="Meiryo"/>
                        </a:rPr>
                        <a:t>、</a:t>
                      </a:r>
                      <a:r>
                        <a:rPr lang="en-US" sz="1200" b="0" i="0" dirty="0">
                          <a:solidFill>
                            <a:srgbClr val="333333"/>
                          </a:solidFill>
                          <a:latin typeface="Consolas"/>
                        </a:rPr>
                        <a:t>lint</a:t>
                      </a:r>
                      <a:r>
                        <a:rPr lang="ja-JP" sz="1200" b="0" i="0" dirty="0">
                          <a:solidFill>
                            <a:srgbClr val="333333"/>
                          </a:solidFill>
                          <a:ea typeface="Meiryo"/>
                        </a:rPr>
                        <a:t>、</a:t>
                      </a:r>
                      <a:r>
                        <a:rPr lang="en-US" sz="1200" b="0" i="0" dirty="0">
                          <a:solidFill>
                            <a:srgbClr val="333333"/>
                          </a:solidFill>
                          <a:latin typeface="Consolas"/>
                        </a:rPr>
                        <a:t>typecheck</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393355">
                <a:tc>
                  <a:txBody>
                    <a:bodyPr lIns="88900" rIns="88900" tIns="38100" bIns="38100" wrap="square" anchor="ctr"/>
                    <a:lstStyle/>
                    <a:p>
                      <a:r>
                        <a:rPr lang="ja-JP" sz="1200" b="1" i="0" dirty="0">
                          <a:solidFill>
                            <a:srgbClr val="FFFFFF"/>
                          </a:solidFill>
                          <a:ea typeface="Meiryo"/>
                        </a:rPr>
                        <a:t>作業ルール</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en-US" sz="1200" b="0" i="0" dirty="0">
                          <a:solidFill>
                            <a:srgbClr val="333333"/>
                          </a:solidFill>
                          <a:latin typeface="Segoe UI"/>
                        </a:rPr>
                        <a:t>AI</a:t>
                      </a:r>
                      <a:r>
                        <a:rPr lang="ja-JP" sz="1200" b="0" i="0" dirty="0">
                          <a:solidFill>
                            <a:srgbClr val="333333"/>
                          </a:solidFill>
                          <a:ea typeface="Meiryo"/>
                        </a:rPr>
                        <a:t>の行動を制御する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調査、計画、検証、要約時の保持事項</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393355">
                <a:tc>
                  <a:txBody>
                    <a:bodyPr lIns="88900" rIns="88900" tIns="38100" bIns="38100" wrap="square" anchor="ctr"/>
                    <a:lstStyle/>
                    <a:p>
                      <a:r>
                        <a:rPr lang="ja-JP" sz="1200" b="1" i="0" dirty="0">
                          <a:solidFill>
                            <a:srgbClr val="FFFFFF"/>
                          </a:solidFill>
                          <a:ea typeface="Meiryo"/>
                        </a:rPr>
                        <a:t>落とし穴</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現場固有の事故を防ぐ</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本番環境、個人情報、シェル差分</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bl>
          </a:graphicData>
        </a:graphic>
      </p:graphicFrame>
      <p:sp>
        <p:nvSpPr>
          <p:cNvPr id="6" name="Rectangle 5"/>
          <p:cNvSpPr/>
          <p:nvPr/>
        </p:nvSpPr>
        <p:spPr>
          <a:xfrm>
            <a:off x="164592" y="3768471"/>
            <a:ext cx="8814816" cy="844677"/>
          </a:xfrm>
          <a:prstGeom prst="rect">
            <a:avLst/>
          </a:prstGeom>
          <a:solidFill>
            <a:srgbClr val="EEF2FF"/>
          </a:solidFill>
          <a:ln w="19050">
            <a:solidFill>
              <a:srgbClr val="6B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3768471"/>
            <a:ext cx="64008" cy="844677"/>
          </a:xfrm>
          <a:prstGeom prst="rect">
            <a:avLst/>
          </a:prstGeom>
          <a:solidFill>
            <a:srgbClr val="6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878199"/>
            <a:ext cx="8476488" cy="625221"/>
          </a:xfrm>
          <a:prstGeom prst="rect">
            <a:avLst/>
          </a:prstGeom>
          <a:noFill/>
          <a:effectLst/>
        </p:spPr>
        <p:txBody>
          <a:bodyPr wrap="square" lIns="0" rIns="0" tIns="0" bIns="0">
            <a:noAutofit/>
          </a:bodyPr>
          <a:lstStyle/>
          <a:p>
            <a:pPr>
              <a:spcBef>
                <a:spcPts val="0"/>
              </a:spcBef>
              <a:spcAft>
                <a:spcPts val="400"/>
              </a:spcAft>
              <a:buNone/>
              <a:lnSpc>
                <a:spcPts val="2160"/>
              </a:lnSpc>
            </a:pPr>
            <a:r>
              <a:rPr lang="ja-JP" sz="1200" b="0" i="0" dirty="0">
                <a:solidFill>
                  <a:srgbClr val="1A2A5A"/>
                </a:solidFill>
                <a:ea typeface="Meiryo"/>
              </a:rPr>
              <a:t>章立ては情報分類ではなく、</a:t>
            </a:r>
            <a:r>
              <a:rPr lang="en-US" sz="1200" b="0" i="0" dirty="0">
                <a:solidFill>
                  <a:srgbClr val="1A2A5A"/>
                </a:solidFill>
                <a:latin typeface="Segoe UI"/>
              </a:rPr>
              <a:t>AI</a:t>
            </a:r>
            <a:r>
              <a:rPr lang="ja-JP" sz="1200" b="0" i="0" dirty="0">
                <a:solidFill>
                  <a:srgbClr val="1A2A5A"/>
                </a:solidFill>
                <a:ea typeface="Meiryo"/>
              </a:rPr>
              <a:t>が次に何を読むべきかを迷わないための作業地図である。</a:t>
            </a:r>
          </a:p>
        </p:txBody>
      </p:sp>
      <p:sp>
        <p:nvSpPr>
          <p:cNvPr id="9" name="Rectangle 8"/>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4823459"/>
            <a:ext cx="1828800" cy="274320"/>
          </a:xfrm>
          <a:prstGeom prst="rect">
            <a:avLst/>
          </a:prstGeom>
          <a:noFill/>
        </p:spPr>
        <p:txBody>
          <a:bodyPr wrap="none" anchor="ctr" lIns="0" rIns="0" tIns="0" bIns="0">
            <a:spAutoFit/>
          </a:bodyPr>
          <a:lstStyle/>
          <a:p>
            <a:fld id="{DA4EDF9D-3E91-461D-BE75-F2CF29D794D3}" type="slidenum">
              <a:rPr lang="ja-JP" smtClean="0" sz="1000">
                <a:solidFill>
                  <a:srgbClr val="888888"/>
                </a:solidFill>
              </a:rPr>
              <a:t>&lt;#&gt;</a:t>
            </a:fld>
            <a:r>
              <a:rPr lang="ja-JP" smtClean="0" sz="1000">
                <a:solidFill>
                  <a:srgbClr val="888888"/>
                </a:solidFill>
              </a:rPr>
              <a:t>/</a:t>
            </a:r>
            <a:fld id="{7C2613E8-B310-4DB6-9CD6-CEF4E9EF7746}" type="slidecount">
              <a:rPr lang="ja-JP" smtClean="0" sz="1000">
                <a:solidFill>
                  <a:srgbClr val="888888"/>
                </a:solidFill>
              </a:rPr>
              <a:t>10</a:t>
            </a:fld>
          </a:p>
        </p:txBody>
      </p:sp>
      <p:pic>
        <p:nvPicPr>
          <p:cNvPr id="11" name="Picture 10"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rules</a:t>
            </a:r>
            <a:r>
              <a:rPr lang="ja-JP" sz="2400" b="1" i="0" dirty="0">
                <a:solidFill>
                  <a:srgbClr val="FFFFFF"/>
                </a:solidFill>
                <a:ea typeface="Meiryo"/>
              </a:rPr>
              <a:t>でスコープを分け、文脈ノイズを減らす</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全体ルールと領域別ルールを分離して必要な情報だけを読ませる</a:t>
            </a:r>
          </a:p>
        </p:txBody>
      </p:sp>
      <p:sp>
        <p:nvSpPr>
          <p:cNvPr id="5" name="Step5"/>
          <p:cNvSpPr/>
          <p:nvPr/>
        </p:nvSpPr>
        <p:spPr>
          <a:xfrm>
            <a:off x="164592"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6" name="TextBox 5"/>
          <p:cNvSpPr txBox="1"/>
          <p:nvPr/>
        </p:nvSpPr>
        <p:spPr>
          <a:xfrm>
            <a:off x="301751"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1. </a:t>
            </a:r>
            <a:r>
              <a:rPr lang="ja-JP" sz="1400" b="1" i="0" dirty="0">
                <a:solidFill>
                  <a:srgbClr val="333333"/>
                </a:solidFill>
                <a:ea typeface="Meiryo"/>
              </a:rPr>
              <a:t>共通</a:t>
            </a:r>
          </a:p>
        </p:txBody>
      </p:sp>
      <p:sp>
        <p:nvSpPr>
          <p:cNvPr id="7" name="Step7"/>
          <p:cNvSpPr/>
          <p:nvPr/>
        </p:nvSpPr>
        <p:spPr>
          <a:xfrm>
            <a:off x="3127248"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8" name="TextBox 7"/>
          <p:cNvSpPr txBox="1"/>
          <p:nvPr/>
        </p:nvSpPr>
        <p:spPr>
          <a:xfrm>
            <a:off x="3264408"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2. </a:t>
            </a:r>
            <a:r>
              <a:rPr lang="ja-JP" sz="1400" b="1" i="0" dirty="0">
                <a:solidFill>
                  <a:srgbClr val="333333"/>
                </a:solidFill>
                <a:ea typeface="Meiryo"/>
              </a:rPr>
              <a:t>分離</a:t>
            </a:r>
          </a:p>
        </p:txBody>
      </p:sp>
      <p:sp>
        <p:nvSpPr>
          <p:cNvPr id="9" name="Step9"/>
          <p:cNvSpPr/>
          <p:nvPr/>
        </p:nvSpPr>
        <p:spPr>
          <a:xfrm>
            <a:off x="6089904"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10" name="TextBox 9"/>
          <p:cNvSpPr txBox="1"/>
          <p:nvPr/>
        </p:nvSpPr>
        <p:spPr>
          <a:xfrm>
            <a:off x="6227064"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3. </a:t>
            </a:r>
            <a:r>
              <a:rPr lang="ja-JP" sz="1400" b="1" i="0" dirty="0">
                <a:solidFill>
                  <a:srgbClr val="333333"/>
                </a:solidFill>
                <a:ea typeface="Meiryo"/>
              </a:rPr>
              <a:t>近傍</a:t>
            </a:r>
          </a:p>
        </p:txBody>
      </p:sp>
      <p:sp>
        <p:nvSpPr>
          <p:cNvPr id="11" name="Rectangle 10"/>
          <p:cNvSpPr/>
          <p:nvPr/>
        </p:nvSpPr>
        <p:spPr>
          <a:xfrm>
            <a:off x="164592"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1"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ルート</a:t>
            </a:r>
            <a:r>
              <a:rPr lang="en-US" sz="1100" b="0" i="0" dirty="0">
                <a:solidFill>
                  <a:srgbClr val="333333"/>
                </a:solidFill>
                <a:latin typeface="Segoe UI"/>
              </a:rPr>
              <a:t>CLAUDE.md</a:t>
            </a:r>
            <a:r>
              <a:rPr lang="ja-JP" sz="1100" b="0" i="0" dirty="0">
                <a:solidFill>
                  <a:srgbClr val="333333"/>
                </a:solidFill>
                <a:ea typeface="Meiryo"/>
              </a:rPr>
              <a:t>に全体原則を置く。</a:t>
            </a:r>
          </a:p>
          <a:p>
            <a:pPr marL="228600" indent="-228600">
              <a:spcBef>
                <a:spcPts val="0"/>
              </a:spcBef>
              <a:spcAft>
                <a:spcPts val="400"/>
              </a:spcAft>
              <a:buChar char="•"/>
              <a:lnSpc>
                <a:spcPts val="1980"/>
              </a:lnSpc>
            </a:pPr>
            <a:r>
              <a:rPr lang="ja-JP" sz="1100" b="0" i="0" dirty="0">
                <a:solidFill>
                  <a:srgbClr val="333333"/>
                </a:solidFill>
                <a:ea typeface="Meiryo"/>
              </a:rPr>
              <a:t>安全策、回答言語、検証基準を固定する</a:t>
            </a:r>
          </a:p>
          <a:p>
            <a:pPr marL="228600" indent="-228600">
              <a:spcBef>
                <a:spcPts val="0"/>
              </a:spcBef>
              <a:spcAft>
                <a:spcPts val="400"/>
              </a:spcAft>
              <a:buChar char="•"/>
              <a:lnSpc>
                <a:spcPts val="1980"/>
              </a:lnSpc>
            </a:pPr>
            <a:r>
              <a:rPr lang="ja-JP" sz="1100" b="0" i="0" dirty="0">
                <a:solidFill>
                  <a:srgbClr val="333333"/>
                </a:solidFill>
                <a:ea typeface="Meiryo"/>
              </a:rPr>
              <a:t>すべての領域に効くルールだけを残す</a:t>
            </a:r>
          </a:p>
        </p:txBody>
      </p:sp>
      <p:sp>
        <p:nvSpPr>
          <p:cNvPr id="13" name="Rectangle 12"/>
          <p:cNvSpPr/>
          <p:nvPr/>
        </p:nvSpPr>
        <p:spPr>
          <a:xfrm>
            <a:off x="3127248"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4408"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領域別のルールへ分ける。</a:t>
            </a:r>
          </a:p>
          <a:p>
            <a:pPr marL="228600" indent="-228600">
              <a:spcBef>
                <a:spcPts val="0"/>
              </a:spcBef>
              <a:spcAft>
                <a:spcPts val="400"/>
              </a:spcAft>
              <a:buChar char="•"/>
              <a:lnSpc>
                <a:spcPts val="1980"/>
              </a:lnSpc>
            </a:pPr>
            <a:r>
              <a:rPr lang="en-US" sz="1100" b="0" i="0" dirty="0">
                <a:solidFill>
                  <a:srgbClr val="333333"/>
                </a:solidFill>
                <a:latin typeface="Segoe UI"/>
              </a:rPr>
              <a:t>UI</a:t>
            </a:r>
            <a:r>
              <a:rPr lang="ja-JP" sz="1100" b="0" i="0" dirty="0">
                <a:solidFill>
                  <a:srgbClr val="333333"/>
                </a:solidFill>
                <a:ea typeface="Meiryo"/>
              </a:rPr>
              <a:t>なら</a:t>
            </a:r>
            <a:r>
              <a:rPr lang="en-US" sz="1100" b="0" i="0" dirty="0">
                <a:solidFill>
                  <a:srgbClr val="333333"/>
                </a:solidFill>
                <a:latin typeface="Segoe UI"/>
              </a:rPr>
              <a:t>frontend.md</a:t>
            </a:r>
            <a:r>
              <a:rPr lang="ja-JP" sz="1100" b="0" i="0" dirty="0">
                <a:solidFill>
                  <a:srgbClr val="333333"/>
                </a:solidFill>
                <a:ea typeface="Meiryo"/>
              </a:rPr>
              <a:t>に寄せる</a:t>
            </a:r>
          </a:p>
          <a:p>
            <a:pPr marL="228600" indent="-228600">
              <a:spcBef>
                <a:spcPts val="0"/>
              </a:spcBef>
              <a:spcAft>
                <a:spcPts val="400"/>
              </a:spcAft>
              <a:buChar char="•"/>
              <a:lnSpc>
                <a:spcPts val="1980"/>
              </a:lnSpc>
            </a:pPr>
            <a:r>
              <a:rPr lang="ja-JP" sz="1100" b="0" i="0" dirty="0">
                <a:solidFill>
                  <a:srgbClr val="333333"/>
                </a:solidFill>
                <a:ea typeface="Meiryo"/>
              </a:rPr>
              <a:t>スクリプトやインフラは</a:t>
            </a:r>
            <a:r>
              <a:rPr lang="en-US" sz="1100" b="0" i="0" dirty="0">
                <a:solidFill>
                  <a:srgbClr val="333333"/>
                </a:solidFill>
                <a:latin typeface="Segoe UI"/>
              </a:rPr>
              <a:t>infra.md</a:t>
            </a:r>
            <a:r>
              <a:rPr lang="ja-JP" sz="1100" b="0" i="0" dirty="0">
                <a:solidFill>
                  <a:srgbClr val="333333"/>
                </a:solidFill>
                <a:ea typeface="Meiryo"/>
              </a:rPr>
              <a:t>に寄せる</a:t>
            </a:r>
          </a:p>
        </p:txBody>
      </p:sp>
      <p:sp>
        <p:nvSpPr>
          <p:cNvPr id="15" name="Rectangle 14"/>
          <p:cNvSpPr/>
          <p:nvPr/>
        </p:nvSpPr>
        <p:spPr>
          <a:xfrm>
            <a:off x="6089904"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作業対象に近いルールを優先する。</a:t>
            </a:r>
          </a:p>
          <a:p>
            <a:pPr marL="228600" indent="-228600">
              <a:spcBef>
                <a:spcPts val="0"/>
              </a:spcBef>
              <a:spcAft>
                <a:spcPts val="400"/>
              </a:spcAft>
              <a:buChar char="•"/>
              <a:lnSpc>
                <a:spcPts val="1980"/>
              </a:lnSpc>
            </a:pPr>
            <a:r>
              <a:rPr lang="ja-JP" sz="1100" b="0" i="0" dirty="0">
                <a:solidFill>
                  <a:srgbClr val="333333"/>
                </a:solidFill>
                <a:ea typeface="Meiryo"/>
              </a:rPr>
              <a:t>関係ない制約の干渉を避ける</a:t>
            </a:r>
          </a:p>
          <a:p>
            <a:pPr marL="228600" indent="-228600">
              <a:spcBef>
                <a:spcPts val="0"/>
              </a:spcBef>
              <a:spcAft>
                <a:spcPts val="400"/>
              </a:spcAft>
              <a:buChar char="•"/>
              <a:lnSpc>
                <a:spcPts val="1980"/>
              </a:lnSpc>
            </a:pPr>
            <a:r>
              <a:rPr lang="ja-JP" sz="1100" b="0" i="0" dirty="0">
                <a:solidFill>
                  <a:srgbClr val="333333"/>
                </a:solidFill>
                <a:ea typeface="Meiryo"/>
              </a:rPr>
              <a:t>読む量を減らし判断速度を上げる</a:t>
            </a:r>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B527DC13-D241-4E78-8805-DE44463528D5}" type="slidenum">
              <a:rPr lang="ja-JP" smtClean="0" sz="1000">
                <a:solidFill>
                  <a:srgbClr val="888888"/>
                </a:solidFill>
              </a:rPr>
              <a:t>&lt;#&gt;</a:t>
            </a:fld>
            <a:r>
              <a:rPr lang="ja-JP" smtClean="0" sz="1000">
                <a:solidFill>
                  <a:srgbClr val="888888"/>
                </a:solidFill>
              </a:rPr>
              <a:t>/</a:t>
            </a:r>
            <a:fld id="{94D94019-38C3-49D4-B5D5-890FE3E6CAA2}" type="slidecount">
              <a:rPr lang="ja-JP" smtClean="0" sz="1000">
                <a:solidFill>
                  <a:srgbClr val="888888"/>
                </a:solidFill>
              </a:rPr>
              <a:t>10</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用途別テンプレートで現場差分を吸収する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en-US" sz="1200" b="0" i="0" dirty="0">
                <a:solidFill>
                  <a:srgbClr val="FFFFFF"/>
                </a:solidFill>
                <a:latin typeface="Segoe UI"/>
              </a:rPr>
              <a:t>Web</a:t>
            </a:r>
            <a:r>
              <a:rPr lang="ja-JP" sz="1200" b="0" i="0" dirty="0">
                <a:solidFill>
                  <a:srgbClr val="FFFFFF"/>
                </a:solidFill>
                <a:ea typeface="Meiryo"/>
              </a:rPr>
              <a:t>、分析、自動化では失敗しやすい場所が違う</a:t>
            </a:r>
          </a:p>
        </p:txBody>
      </p:sp>
      <p:sp>
        <p:nvSpPr>
          <p:cNvPr id="5" name="Rectangle 4"/>
          <p:cNvSpPr/>
          <p:nvPr/>
        </p:nvSpPr>
        <p:spPr>
          <a:xfrm>
            <a:off x="164592"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2615184" cy="320040"/>
          </a:xfrm>
          <a:prstGeom prst="rect">
            <a:avLst/>
          </a:prstGeom>
          <a:noFill/>
          <a:effectLst/>
        </p:spPr>
        <p:txBody>
          <a:bodyPr wrap="square" lIns="0" rIns="0" tIns="0" bIns="0" anchor="t">
            <a:noAutofit/>
          </a:bodyPr>
          <a:lstStyle/>
          <a:p>
            <a:r>
              <a:rPr lang="en-US" sz="1400" b="1" i="0" dirty="0">
                <a:solidFill>
                  <a:srgbClr val="333333"/>
                </a:solidFill>
                <a:latin typeface="Segoe UI"/>
              </a:rPr>
              <a:t>Web</a:t>
            </a:r>
            <a:r>
              <a:rPr lang="ja-JP" sz="1400" b="1" i="0" dirty="0">
                <a:solidFill>
                  <a:srgbClr val="333333"/>
                </a:solidFill>
                <a:ea typeface="Meiryo"/>
              </a:rPr>
              <a:t>アプリ</a:t>
            </a:r>
          </a:p>
        </p:txBody>
      </p:sp>
      <p:sp>
        <p:nvSpPr>
          <p:cNvPr id="7" name="Rectangle 6"/>
          <p:cNvSpPr/>
          <p:nvPr/>
        </p:nvSpPr>
        <p:spPr>
          <a:xfrm>
            <a:off x="301751"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en-US" sz="1100" b="0" i="0" dirty="0">
                <a:solidFill>
                  <a:srgbClr val="333333"/>
                </a:solidFill>
                <a:latin typeface="Segoe UI"/>
              </a:rPr>
              <a:t>UI</a:t>
            </a:r>
            <a:r>
              <a:rPr lang="ja-JP" sz="1100" b="0" i="0" dirty="0">
                <a:solidFill>
                  <a:srgbClr val="333333"/>
                </a:solidFill>
                <a:ea typeface="Meiryo"/>
              </a:rPr>
              <a:t>と状態管理の選択を固定する領域である。</a:t>
            </a:r>
          </a:p>
          <a:p>
            <a:pPr marL="228600" indent="-228600">
              <a:spcBef>
                <a:spcPts val="0"/>
              </a:spcBef>
              <a:spcAft>
                <a:spcPts val="400"/>
              </a:spcAft>
              <a:buChar char="•"/>
              <a:lnSpc>
                <a:spcPts val="1980"/>
              </a:lnSpc>
            </a:pPr>
            <a:r>
              <a:rPr lang="en-US" sz="1100" b="0" i="0" dirty="0">
                <a:solidFill>
                  <a:srgbClr val="333333"/>
                </a:solidFill>
                <a:latin typeface="Segoe UI"/>
              </a:rPr>
              <a:t>CSS</a:t>
            </a:r>
            <a:r>
              <a:rPr lang="ja-JP" sz="1100" b="0" i="0" dirty="0">
                <a:solidFill>
                  <a:srgbClr val="333333"/>
                </a:solidFill>
                <a:ea typeface="Meiryo"/>
              </a:rPr>
              <a:t>や</a:t>
            </a:r>
            <a:r>
              <a:rPr lang="en-US" sz="1100" b="0" i="0" dirty="0">
                <a:solidFill>
                  <a:srgbClr val="333333"/>
                </a:solidFill>
                <a:latin typeface="Segoe UI"/>
              </a:rPr>
              <a:t>UI</a:t>
            </a:r>
            <a:r>
              <a:rPr lang="ja-JP" sz="1100" b="0" i="0" dirty="0">
                <a:solidFill>
                  <a:srgbClr val="333333"/>
                </a:solidFill>
                <a:ea typeface="Meiryo"/>
              </a:rPr>
              <a:t>ライブラリの採用基準を明示する</a:t>
            </a:r>
          </a:p>
          <a:p>
            <a:pPr marL="228600" indent="-228600">
              <a:spcBef>
                <a:spcPts val="0"/>
              </a:spcBef>
              <a:spcAft>
                <a:spcPts val="400"/>
              </a:spcAft>
              <a:buChar char="•"/>
              <a:lnSpc>
                <a:spcPts val="1980"/>
              </a:lnSpc>
            </a:pPr>
            <a:r>
              <a:rPr lang="en-US" sz="1100" b="0" i="0" dirty="0">
                <a:solidFill>
                  <a:srgbClr val="333333"/>
                </a:solidFill>
                <a:latin typeface="Segoe UI"/>
              </a:rPr>
              <a:t>API</a:t>
            </a:r>
            <a:r>
              <a:rPr lang="ja-JP" sz="1100" b="0" i="0" dirty="0">
                <a:solidFill>
                  <a:srgbClr val="333333"/>
                </a:solidFill>
                <a:ea typeface="Meiryo"/>
              </a:rPr>
              <a:t>呼び出しの配置を決める</a:t>
            </a:r>
          </a:p>
          <a:p>
            <a:pPr marL="228600" indent="-228600">
              <a:spcBef>
                <a:spcPts val="0"/>
              </a:spcBef>
              <a:spcAft>
                <a:spcPts val="400"/>
              </a:spcAft>
              <a:buChar char="•"/>
              <a:lnSpc>
                <a:spcPts val="1980"/>
              </a:lnSpc>
            </a:pPr>
            <a:r>
              <a:rPr lang="ja-JP" sz="1100" b="0" i="0" dirty="0">
                <a:solidFill>
                  <a:srgbClr val="333333"/>
                </a:solidFill>
                <a:ea typeface="Meiryo"/>
              </a:rPr>
              <a:t>禁止ライブラリを先に書く</a:t>
            </a:r>
          </a:p>
        </p:txBody>
      </p:sp>
      <p:sp>
        <p:nvSpPr>
          <p:cNvPr id="9" name="Rectangle 8"/>
          <p:cNvSpPr/>
          <p:nvPr/>
        </p:nvSpPr>
        <p:spPr>
          <a:xfrm>
            <a:off x="3127248"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4408"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データ分析</a:t>
            </a:r>
          </a:p>
        </p:txBody>
      </p:sp>
      <p:sp>
        <p:nvSpPr>
          <p:cNvPr id="11" name="Rectangle 10"/>
          <p:cNvSpPr/>
          <p:nvPr/>
        </p:nvSpPr>
        <p:spPr>
          <a:xfrm>
            <a:off x="3264408"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再現性と保存場所が品質を左右する。</a:t>
            </a:r>
          </a:p>
          <a:p>
            <a:pPr marL="228600" indent="-228600">
              <a:spcBef>
                <a:spcPts val="0"/>
              </a:spcBef>
              <a:spcAft>
                <a:spcPts val="400"/>
              </a:spcAft>
              <a:buChar char="•"/>
              <a:lnSpc>
                <a:spcPts val="1980"/>
              </a:lnSpc>
            </a:pPr>
            <a:r>
              <a:rPr lang="en-US" sz="1100" b="0" i="0" dirty="0">
                <a:solidFill>
                  <a:srgbClr val="333333"/>
                </a:solidFill>
                <a:latin typeface="Consolas"/>
              </a:rPr>
              <a:t>data/raw</a:t>
            </a:r>
            <a:r>
              <a:rPr lang="en-US" sz="1100" b="0" i="0" dirty="0">
                <a:solidFill>
                  <a:srgbClr val="333333"/>
                </a:solidFill>
                <a:latin typeface="Segoe UI"/>
              </a:rPr>
              <a:t> </a:t>
            </a:r>
            <a:r>
              <a:rPr lang="ja-JP" sz="1100" b="0" i="0" dirty="0">
                <a:solidFill>
                  <a:srgbClr val="333333"/>
                </a:solidFill>
                <a:ea typeface="Meiryo"/>
              </a:rPr>
              <a:t>と</a:t>
            </a:r>
            <a:r>
              <a:rPr lang="en-US" sz="1100" b="0" i="0" dirty="0">
                <a:solidFill>
                  <a:srgbClr val="333333"/>
                </a:solidFill>
                <a:latin typeface="Segoe UI"/>
              </a:rPr>
              <a:t> </a:t>
            </a:r>
            <a:r>
              <a:rPr lang="en-US" sz="1100" b="0" i="0" dirty="0">
                <a:solidFill>
                  <a:srgbClr val="333333"/>
                </a:solidFill>
                <a:latin typeface="Consolas"/>
              </a:rPr>
              <a:t>data/processed</a:t>
            </a:r>
            <a:r>
              <a:rPr lang="en-US" sz="1100" b="0" i="0" dirty="0">
                <a:solidFill>
                  <a:srgbClr val="333333"/>
                </a:solidFill>
                <a:latin typeface="Segoe UI"/>
              </a:rPr>
              <a:t> </a:t>
            </a:r>
            <a:r>
              <a:rPr lang="ja-JP" sz="1100" b="0" i="0" dirty="0">
                <a:solidFill>
                  <a:srgbClr val="333333"/>
                </a:solidFill>
                <a:ea typeface="Meiryo"/>
              </a:rPr>
              <a:t>を分ける</a:t>
            </a:r>
          </a:p>
          <a:p>
            <a:pPr marL="228600" indent="-228600">
              <a:spcBef>
                <a:spcPts val="0"/>
              </a:spcBef>
              <a:spcAft>
                <a:spcPts val="400"/>
              </a:spcAft>
              <a:buChar char="•"/>
              <a:lnSpc>
                <a:spcPts val="1980"/>
              </a:lnSpc>
            </a:pPr>
            <a:r>
              <a:rPr lang="ja-JP" sz="1100" b="0" i="0" dirty="0">
                <a:solidFill>
                  <a:srgbClr val="333333"/>
                </a:solidFill>
                <a:ea typeface="Meiryo"/>
              </a:rPr>
              <a:t>ランダムシードを固定する</a:t>
            </a:r>
          </a:p>
          <a:p>
            <a:pPr marL="228600" indent="-228600">
              <a:spcBef>
                <a:spcPts val="0"/>
              </a:spcBef>
              <a:spcAft>
                <a:spcPts val="400"/>
              </a:spcAft>
              <a:buChar char="•"/>
              <a:lnSpc>
                <a:spcPts val="1980"/>
              </a:lnSpc>
            </a:pPr>
            <a:r>
              <a:rPr lang="ja-JP" sz="1100" b="0" i="0" dirty="0">
                <a:solidFill>
                  <a:srgbClr val="333333"/>
                </a:solidFill>
                <a:ea typeface="Meiryo"/>
              </a:rPr>
              <a:t>出力物の保存先を明確にする</a:t>
            </a:r>
          </a:p>
        </p:txBody>
      </p:sp>
      <p:sp>
        <p:nvSpPr>
          <p:cNvPr id="13" name="Rectangle 12"/>
          <p:cNvSpPr/>
          <p:nvPr/>
        </p:nvSpPr>
        <p:spPr>
          <a:xfrm>
            <a:off x="6089904"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自動化</a:t>
            </a:r>
          </a:p>
        </p:txBody>
      </p:sp>
      <p:sp>
        <p:nvSpPr>
          <p:cNvPr id="15" name="Rectangle 14"/>
          <p:cNvSpPr/>
          <p:nvPr/>
        </p:nvSpPr>
        <p:spPr>
          <a:xfrm>
            <a:off x="6227064"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実行環境と安全策を先に縛る。</a:t>
            </a:r>
          </a:p>
          <a:p>
            <a:pPr marL="228600" indent="-228600">
              <a:spcBef>
                <a:spcPts val="0"/>
              </a:spcBef>
              <a:spcAft>
                <a:spcPts val="400"/>
              </a:spcAft>
              <a:buChar char="•"/>
              <a:lnSpc>
                <a:spcPts val="1980"/>
              </a:lnSpc>
            </a:pPr>
            <a:r>
              <a:rPr lang="en-US" sz="1100" b="0" i="0" dirty="0">
                <a:solidFill>
                  <a:srgbClr val="333333"/>
                </a:solidFill>
                <a:latin typeface="Segoe UI"/>
              </a:rPr>
              <a:t>Windows</a:t>
            </a:r>
            <a:r>
              <a:rPr lang="ja-JP" sz="1100" b="0" i="0" dirty="0">
                <a:solidFill>
                  <a:srgbClr val="333333"/>
                </a:solidFill>
                <a:ea typeface="Meiryo"/>
              </a:rPr>
              <a:t>、</a:t>
            </a:r>
            <a:r>
              <a:rPr lang="en-US" sz="1100" b="0" i="0" dirty="0">
                <a:solidFill>
                  <a:srgbClr val="333333"/>
                </a:solidFill>
                <a:latin typeface="Segoe UI"/>
              </a:rPr>
              <a:t>PowerShell</a:t>
            </a:r>
            <a:r>
              <a:rPr lang="ja-JP" sz="1100" b="0" i="0" dirty="0">
                <a:solidFill>
                  <a:srgbClr val="333333"/>
                </a:solidFill>
                <a:ea typeface="Meiryo"/>
              </a:rPr>
              <a:t>、</a:t>
            </a:r>
            <a:r>
              <a:rPr lang="en-US" sz="1100" b="0" i="0" dirty="0">
                <a:solidFill>
                  <a:srgbClr val="333333"/>
                </a:solidFill>
                <a:latin typeface="Segoe UI"/>
              </a:rPr>
              <a:t>WSL</a:t>
            </a:r>
            <a:r>
              <a:rPr lang="ja-JP" sz="1100" b="0" i="0" dirty="0">
                <a:solidFill>
                  <a:srgbClr val="333333"/>
                </a:solidFill>
                <a:ea typeface="Meiryo"/>
              </a:rPr>
              <a:t>などを明示する</a:t>
            </a:r>
          </a:p>
          <a:p>
            <a:pPr marL="228600" indent="-228600">
              <a:spcBef>
                <a:spcPts val="0"/>
              </a:spcBef>
              <a:spcAft>
                <a:spcPts val="400"/>
              </a:spcAft>
              <a:buChar char="•"/>
              <a:lnSpc>
                <a:spcPts val="1980"/>
              </a:lnSpc>
            </a:pPr>
            <a:r>
              <a:rPr lang="ja-JP" sz="1100" b="0" i="0" dirty="0">
                <a:solidFill>
                  <a:srgbClr val="333333"/>
                </a:solidFill>
                <a:ea typeface="Meiryo"/>
              </a:rPr>
              <a:t>破壊的操作は</a:t>
            </a:r>
            <a:r>
              <a:rPr lang="en-US" sz="1100" b="0" i="0" dirty="0">
                <a:solidFill>
                  <a:srgbClr val="333333"/>
                </a:solidFill>
                <a:latin typeface="Segoe UI"/>
              </a:rPr>
              <a:t>dry-run</a:t>
            </a:r>
            <a:r>
              <a:rPr lang="ja-JP" sz="1100" b="0" i="0" dirty="0">
                <a:solidFill>
                  <a:srgbClr val="333333"/>
                </a:solidFill>
                <a:ea typeface="Meiryo"/>
              </a:rPr>
              <a:t>や</a:t>
            </a:r>
            <a:r>
              <a:rPr lang="en-US" sz="1100" b="0" i="0" dirty="0">
                <a:solidFill>
                  <a:srgbClr val="333333"/>
                </a:solidFill>
                <a:latin typeface="Segoe UI"/>
              </a:rPr>
              <a:t>WhatIf</a:t>
            </a:r>
            <a:r>
              <a:rPr lang="ja-JP" sz="1100" b="0" i="0" dirty="0">
                <a:solidFill>
                  <a:srgbClr val="333333"/>
                </a:solidFill>
                <a:ea typeface="Meiryo"/>
              </a:rPr>
              <a:t>を挟む</a:t>
            </a:r>
          </a:p>
          <a:p>
            <a:pPr marL="228600" indent="-228600">
              <a:spcBef>
                <a:spcPts val="0"/>
              </a:spcBef>
              <a:spcAft>
                <a:spcPts val="400"/>
              </a:spcAft>
              <a:buChar char="•"/>
              <a:lnSpc>
                <a:spcPts val="1980"/>
              </a:lnSpc>
            </a:pPr>
            <a:r>
              <a:rPr lang="ja-JP" sz="1100" b="0" i="0" dirty="0">
                <a:solidFill>
                  <a:srgbClr val="333333"/>
                </a:solidFill>
                <a:ea typeface="Meiryo"/>
              </a:rPr>
              <a:t>ログ出力とエラー処理を標準化する</a:t>
            </a:r>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0C0CB77C-9FAA-4B75-BA4F-92541925B55A}" type="slidenum">
              <a:rPr lang="ja-JP" smtClean="0" sz="1000">
                <a:solidFill>
                  <a:srgbClr val="888888"/>
                </a:solidFill>
              </a:rPr>
              <a:t>&lt;#&gt;</a:t>
            </a:fld>
            <a:r>
              <a:rPr lang="ja-JP" smtClean="0" sz="1000">
                <a:solidFill>
                  <a:srgbClr val="888888"/>
                </a:solidFill>
              </a:rPr>
              <a:t>/</a:t>
            </a:r>
            <a:fld id="{EA291D86-29D1-4C1F-9AA4-23358FE348E4}" type="slidecount">
              <a:rPr lang="ja-JP" smtClean="0" sz="1000">
                <a:solidFill>
                  <a:srgbClr val="888888"/>
                </a:solidFill>
              </a:rPr>
              <a:t>10</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CLAUDE.md</a:t>
            </a:r>
            <a:r>
              <a:rPr lang="ja-JP" sz="2400" b="1" i="0" dirty="0">
                <a:solidFill>
                  <a:srgbClr val="FFFFFF"/>
                </a:solidFill>
                <a:ea typeface="Meiryo"/>
              </a:rPr>
              <a:t>は会話から育てる対象である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en-US" sz="1200" b="0" i="0" dirty="0">
                <a:solidFill>
                  <a:srgbClr val="FFFFFF"/>
                </a:solidFill>
                <a:latin typeface="Segoe UI"/>
              </a:rPr>
              <a:t>2</a:t>
            </a:r>
            <a:r>
              <a:rPr lang="ja-JP" sz="1200" b="0" i="0" dirty="0">
                <a:solidFill>
                  <a:srgbClr val="FFFFFF"/>
                </a:solidFill>
                <a:ea typeface="Meiryo"/>
              </a:rPr>
              <a:t>回言った注意をルールへ昇格させ、古い前提を削る</a:t>
            </a:r>
          </a:p>
        </p:txBody>
      </p:sp>
      <p:sp>
        <p:nvSpPr>
          <p:cNvPr id="5" name="Step5"/>
          <p:cNvSpPr/>
          <p:nvPr/>
        </p:nvSpPr>
        <p:spPr>
          <a:xfrm>
            <a:off x="164592"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6" name="TextBox 5"/>
          <p:cNvSpPr txBox="1"/>
          <p:nvPr/>
        </p:nvSpPr>
        <p:spPr>
          <a:xfrm>
            <a:off x="301751"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1. </a:t>
            </a:r>
            <a:r>
              <a:rPr lang="ja-JP" sz="1400" b="1" i="0" dirty="0">
                <a:solidFill>
                  <a:srgbClr val="333333"/>
                </a:solidFill>
                <a:ea typeface="Meiryo"/>
              </a:rPr>
              <a:t>昇格</a:t>
            </a:r>
          </a:p>
        </p:txBody>
      </p:sp>
      <p:sp>
        <p:nvSpPr>
          <p:cNvPr id="7" name="Step7"/>
          <p:cNvSpPr/>
          <p:nvPr/>
        </p:nvSpPr>
        <p:spPr>
          <a:xfrm>
            <a:off x="3127248"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8" name="TextBox 7"/>
          <p:cNvSpPr txBox="1"/>
          <p:nvPr/>
        </p:nvSpPr>
        <p:spPr>
          <a:xfrm>
            <a:off x="3264408"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2. </a:t>
            </a:r>
            <a:r>
              <a:rPr lang="ja-JP" sz="1400" b="1" i="0" dirty="0">
                <a:solidFill>
                  <a:srgbClr val="333333"/>
                </a:solidFill>
                <a:ea typeface="Meiryo"/>
              </a:rPr>
              <a:t>削除</a:t>
            </a:r>
          </a:p>
        </p:txBody>
      </p:sp>
      <p:sp>
        <p:nvSpPr>
          <p:cNvPr id="9" name="Step9"/>
          <p:cNvSpPr/>
          <p:nvPr/>
        </p:nvSpPr>
        <p:spPr>
          <a:xfrm>
            <a:off x="6089904"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10" name="TextBox 9"/>
          <p:cNvSpPr txBox="1"/>
          <p:nvPr/>
        </p:nvSpPr>
        <p:spPr>
          <a:xfrm>
            <a:off x="6227064"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3. </a:t>
            </a:r>
            <a:r>
              <a:rPr lang="ja-JP" sz="1400" b="1" i="0" dirty="0">
                <a:solidFill>
                  <a:srgbClr val="333333"/>
                </a:solidFill>
                <a:ea typeface="Meiryo"/>
              </a:rPr>
              <a:t>確認</a:t>
            </a:r>
          </a:p>
        </p:txBody>
      </p:sp>
      <p:sp>
        <p:nvSpPr>
          <p:cNvPr id="11" name="Rectangle 10"/>
          <p:cNvSpPr/>
          <p:nvPr/>
        </p:nvSpPr>
        <p:spPr>
          <a:xfrm>
            <a:off x="164592"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1"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同じ注意を</a:t>
            </a:r>
            <a:r>
              <a:rPr lang="en-US" sz="1100" b="0" i="0" dirty="0">
                <a:solidFill>
                  <a:srgbClr val="333333"/>
                </a:solidFill>
                <a:latin typeface="Segoe UI"/>
              </a:rPr>
              <a:t>2</a:t>
            </a:r>
            <a:r>
              <a:rPr lang="ja-JP" sz="1100" b="0" i="0" dirty="0">
                <a:solidFill>
                  <a:srgbClr val="333333"/>
                </a:solidFill>
                <a:ea typeface="Meiryo"/>
              </a:rPr>
              <a:t>回言ったらルール化する。</a:t>
            </a:r>
          </a:p>
          <a:p>
            <a:pPr marL="228600" indent="-228600">
              <a:spcBef>
                <a:spcPts val="0"/>
              </a:spcBef>
              <a:spcAft>
                <a:spcPts val="400"/>
              </a:spcAft>
              <a:buChar char="•"/>
              <a:lnSpc>
                <a:spcPts val="1980"/>
              </a:lnSpc>
            </a:pPr>
            <a:r>
              <a:rPr lang="ja-JP" sz="1100" b="0" i="0" dirty="0">
                <a:solidFill>
                  <a:srgbClr val="333333"/>
                </a:solidFill>
                <a:ea typeface="Meiryo"/>
              </a:rPr>
              <a:t>会話で繰り返す負担を減らす</a:t>
            </a:r>
          </a:p>
          <a:p>
            <a:pPr marL="228600" indent="-228600">
              <a:spcBef>
                <a:spcPts val="0"/>
              </a:spcBef>
              <a:spcAft>
                <a:spcPts val="400"/>
              </a:spcAft>
              <a:buChar char="•"/>
              <a:lnSpc>
                <a:spcPts val="1980"/>
              </a:lnSpc>
            </a:pPr>
            <a:r>
              <a:rPr lang="ja-JP" sz="1100" b="0" i="0" dirty="0">
                <a:solidFill>
                  <a:srgbClr val="333333"/>
                </a:solidFill>
                <a:ea typeface="Meiryo"/>
              </a:rPr>
              <a:t>属人的な注意を標準へ変える</a:t>
            </a:r>
          </a:p>
        </p:txBody>
      </p:sp>
      <p:sp>
        <p:nvSpPr>
          <p:cNvPr id="13" name="Rectangle 12"/>
          <p:cNvSpPr/>
          <p:nvPr/>
        </p:nvSpPr>
        <p:spPr>
          <a:xfrm>
            <a:off x="3127248"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4408"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古い前提や重複を定期的に消す。</a:t>
            </a:r>
          </a:p>
          <a:p>
            <a:pPr marL="228600" indent="-228600">
              <a:spcBef>
                <a:spcPts val="0"/>
              </a:spcBef>
              <a:spcAft>
                <a:spcPts val="400"/>
              </a:spcAft>
              <a:buChar char="•"/>
              <a:lnSpc>
                <a:spcPts val="1980"/>
              </a:lnSpc>
            </a:pPr>
            <a:r>
              <a:rPr lang="ja-JP" sz="1100" b="0" i="0" dirty="0">
                <a:solidFill>
                  <a:srgbClr val="333333"/>
                </a:solidFill>
                <a:ea typeface="Meiryo"/>
              </a:rPr>
              <a:t>使わない技術スタックを残さない</a:t>
            </a:r>
          </a:p>
          <a:p>
            <a:pPr marL="228600" indent="-228600">
              <a:spcBef>
                <a:spcPts val="0"/>
              </a:spcBef>
              <a:spcAft>
                <a:spcPts val="400"/>
              </a:spcAft>
              <a:buChar char="•"/>
              <a:lnSpc>
                <a:spcPts val="1980"/>
              </a:lnSpc>
            </a:pPr>
            <a:r>
              <a:rPr lang="ja-JP" sz="1100" b="0" i="0" dirty="0">
                <a:solidFill>
                  <a:srgbClr val="333333"/>
                </a:solidFill>
                <a:ea typeface="Meiryo"/>
              </a:rPr>
              <a:t>重要ルールが埋もれる状態を避ける</a:t>
            </a:r>
          </a:p>
        </p:txBody>
      </p:sp>
      <p:sp>
        <p:nvSpPr>
          <p:cNvPr id="15" name="Rectangle 14"/>
          <p:cNvSpPr/>
          <p:nvPr/>
        </p:nvSpPr>
        <p:spPr>
          <a:xfrm>
            <a:off x="6089904"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小さなタスクで振る舞いを試す。</a:t>
            </a:r>
          </a:p>
          <a:p>
            <a:pPr marL="228600" indent="-228600">
              <a:spcBef>
                <a:spcPts val="0"/>
              </a:spcBef>
              <a:spcAft>
                <a:spcPts val="400"/>
              </a:spcAft>
              <a:buChar char="•"/>
              <a:lnSpc>
                <a:spcPts val="1980"/>
              </a:lnSpc>
            </a:pPr>
            <a:r>
              <a:rPr lang="ja-JP" sz="1100" b="0" i="0" dirty="0">
                <a:solidFill>
                  <a:srgbClr val="333333"/>
                </a:solidFill>
                <a:ea typeface="Meiryo"/>
              </a:rPr>
              <a:t>ルールが効いているか観察する</a:t>
            </a:r>
          </a:p>
          <a:p>
            <a:pPr marL="228600" indent="-228600">
              <a:spcBef>
                <a:spcPts val="0"/>
              </a:spcBef>
              <a:spcAft>
                <a:spcPts val="400"/>
              </a:spcAft>
              <a:buChar char="•"/>
              <a:lnSpc>
                <a:spcPts val="1980"/>
              </a:lnSpc>
            </a:pPr>
            <a:r>
              <a:rPr lang="ja-JP" sz="1100" b="0" i="0" dirty="0">
                <a:solidFill>
                  <a:srgbClr val="333333"/>
                </a:solidFill>
                <a:ea typeface="Meiryo"/>
              </a:rPr>
              <a:t>期待と違う出力を次の改善材料にする</a:t>
            </a:r>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E19523F7-04D2-4D3A-A46B-606C3E2FECBA}" type="slidenum">
              <a:rPr lang="ja-JP" smtClean="0" sz="1000">
                <a:solidFill>
                  <a:srgbClr val="888888"/>
                </a:solidFill>
              </a:rPr>
              <a:t>&lt;#&gt;</a:t>
            </a:fld>
            <a:r>
              <a:rPr lang="ja-JP" smtClean="0" sz="1000">
                <a:solidFill>
                  <a:srgbClr val="888888"/>
                </a:solidFill>
              </a:rPr>
              <a:t>/</a:t>
            </a:r>
            <a:fld id="{77EE441F-D6B9-437E-AE47-3F588910BAA5}" type="slidecount">
              <a:rPr lang="ja-JP" smtClean="0" sz="1000">
                <a:solidFill>
                  <a:srgbClr val="888888"/>
                </a:solidFill>
              </a:rPr>
              <a:t>10</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Takuya</a:t>
            </a:r>
            <a:r>
              <a:rPr lang="ja-JP" sz="2400" b="1" i="0" dirty="0">
                <a:solidFill>
                  <a:srgbClr val="FFFFFF"/>
                </a:solidFill>
                <a:ea typeface="Meiryo"/>
              </a:rPr>
              <a:t>さんの環境は</a:t>
            </a:r>
            <a:r>
              <a:rPr lang="en-US" sz="2400" b="1" i="0" dirty="0">
                <a:solidFill>
                  <a:srgbClr val="FFFFFF"/>
                </a:solidFill>
                <a:latin typeface="Segoe UI"/>
              </a:rPr>
              <a:t>3</a:t>
            </a:r>
            <a:r>
              <a:rPr lang="ja-JP" sz="2400" b="1" i="0" dirty="0">
                <a:solidFill>
                  <a:srgbClr val="FFFFFF"/>
                </a:solidFill>
                <a:ea typeface="Meiryo"/>
              </a:rPr>
              <a:t>レイヤー設計が有効である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全体の好み、プロジェクト制約、ディレクトリ規約を分けて管理する</a:t>
            </a:r>
          </a:p>
        </p:txBody>
      </p:sp>
      <p:sp>
        <p:nvSpPr>
          <p:cNvPr id="5" name="Rectangle 4"/>
          <p:cNvSpPr/>
          <p:nvPr/>
        </p:nvSpPr>
        <p:spPr>
          <a:xfrm>
            <a:off x="164592"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グローバル</a:t>
            </a:r>
          </a:p>
        </p:txBody>
      </p:sp>
      <p:sp>
        <p:nvSpPr>
          <p:cNvPr id="7" name="Rectangle 6"/>
          <p:cNvSpPr/>
          <p:nvPr/>
        </p:nvSpPr>
        <p:spPr>
          <a:xfrm>
            <a:off x="301751"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全プロジェクト共通の好みを置く。</a:t>
            </a:r>
          </a:p>
          <a:p>
            <a:pPr marL="228600" indent="-228600">
              <a:spcBef>
                <a:spcPts val="0"/>
              </a:spcBef>
              <a:spcAft>
                <a:spcPts val="400"/>
              </a:spcAft>
              <a:buChar char="•"/>
              <a:lnSpc>
                <a:spcPts val="1980"/>
              </a:lnSpc>
            </a:pPr>
            <a:r>
              <a:rPr lang="ja-JP" sz="1100" b="0" i="0" dirty="0">
                <a:solidFill>
                  <a:srgbClr val="333333"/>
                </a:solidFill>
                <a:ea typeface="Meiryo"/>
              </a:rPr>
              <a:t>日本語回答や検証重視を固定する</a:t>
            </a:r>
          </a:p>
          <a:p>
            <a:pPr marL="228600" indent="-228600">
              <a:spcBef>
                <a:spcPts val="0"/>
              </a:spcBef>
              <a:spcAft>
                <a:spcPts val="400"/>
              </a:spcAft>
              <a:buChar char="•"/>
              <a:lnSpc>
                <a:spcPts val="1980"/>
              </a:lnSpc>
            </a:pPr>
            <a:r>
              <a:rPr lang="ja-JP" sz="1100" b="0" i="0" dirty="0">
                <a:solidFill>
                  <a:srgbClr val="333333"/>
                </a:solidFill>
                <a:ea typeface="Meiryo"/>
              </a:rPr>
              <a:t>個人の作業スタイルを反映する</a:t>
            </a:r>
          </a:p>
        </p:txBody>
      </p:sp>
      <p:sp>
        <p:nvSpPr>
          <p:cNvPr id="9" name="Rectangle 8"/>
          <p:cNvSpPr/>
          <p:nvPr/>
        </p:nvSpPr>
        <p:spPr>
          <a:xfrm>
            <a:off x="3127248"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4408"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プロジェクト</a:t>
            </a:r>
          </a:p>
        </p:txBody>
      </p:sp>
      <p:sp>
        <p:nvSpPr>
          <p:cNvPr id="11" name="Rectangle 10"/>
          <p:cNvSpPr/>
          <p:nvPr/>
        </p:nvSpPr>
        <p:spPr>
          <a:xfrm>
            <a:off x="3264408"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対象技術と危険操作を管理する。</a:t>
            </a:r>
          </a:p>
          <a:p>
            <a:pPr marL="228600" indent="-228600">
              <a:spcBef>
                <a:spcPts val="0"/>
              </a:spcBef>
              <a:spcAft>
                <a:spcPts val="400"/>
              </a:spcAft>
              <a:buChar char="•"/>
              <a:lnSpc>
                <a:spcPts val="1980"/>
              </a:lnSpc>
            </a:pPr>
            <a:r>
              <a:rPr lang="ja-JP" sz="1100" b="0" i="0" dirty="0">
                <a:solidFill>
                  <a:srgbClr val="333333"/>
                </a:solidFill>
                <a:ea typeface="Meiryo"/>
              </a:rPr>
              <a:t>技術スタックとコマンドを明示する</a:t>
            </a:r>
          </a:p>
          <a:p>
            <a:pPr marL="228600" indent="-228600">
              <a:spcBef>
                <a:spcPts val="0"/>
              </a:spcBef>
              <a:spcAft>
                <a:spcPts val="400"/>
              </a:spcAft>
              <a:buChar char="•"/>
              <a:lnSpc>
                <a:spcPts val="1980"/>
              </a:lnSpc>
            </a:pPr>
            <a:r>
              <a:rPr lang="ja-JP" sz="1100" b="0" i="0" dirty="0">
                <a:solidFill>
                  <a:srgbClr val="333333"/>
                </a:solidFill>
                <a:ea typeface="Meiryo"/>
              </a:rPr>
              <a:t>本番環境や秘密情報を守る</a:t>
            </a:r>
          </a:p>
        </p:txBody>
      </p:sp>
      <p:sp>
        <p:nvSpPr>
          <p:cNvPr id="13" name="Rectangle 12"/>
          <p:cNvSpPr/>
          <p:nvPr/>
        </p:nvSpPr>
        <p:spPr>
          <a:xfrm>
            <a:off x="6089904"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ディレクトリ</a:t>
            </a:r>
          </a:p>
        </p:txBody>
      </p:sp>
      <p:sp>
        <p:nvSpPr>
          <p:cNvPr id="15" name="Rectangle 14"/>
          <p:cNvSpPr/>
          <p:nvPr/>
        </p:nvSpPr>
        <p:spPr>
          <a:xfrm>
            <a:off x="6227064"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領域ごとの細則を近くに置く。</a:t>
            </a:r>
          </a:p>
          <a:p>
            <a:pPr marL="228600" indent="-228600">
              <a:spcBef>
                <a:spcPts val="0"/>
              </a:spcBef>
              <a:spcAft>
                <a:spcPts val="400"/>
              </a:spcAft>
              <a:buChar char="•"/>
              <a:lnSpc>
                <a:spcPts val="1980"/>
              </a:lnSpc>
            </a:pPr>
            <a:r>
              <a:rPr lang="en-US" sz="1100" b="0" i="0" dirty="0">
                <a:solidFill>
                  <a:srgbClr val="333333"/>
                </a:solidFill>
                <a:latin typeface="Segoe UI"/>
              </a:rPr>
              <a:t>frontend</a:t>
            </a:r>
            <a:r>
              <a:rPr lang="ja-JP" sz="1100" b="0" i="0" dirty="0">
                <a:solidFill>
                  <a:srgbClr val="333333"/>
                </a:solidFill>
                <a:ea typeface="Meiryo"/>
              </a:rPr>
              <a:t>と</a:t>
            </a:r>
            <a:r>
              <a:rPr lang="en-US" sz="1100" b="0" i="0" dirty="0">
                <a:solidFill>
                  <a:srgbClr val="333333"/>
                </a:solidFill>
                <a:latin typeface="Segoe UI"/>
              </a:rPr>
              <a:t>infra</a:t>
            </a:r>
            <a:r>
              <a:rPr lang="ja-JP" sz="1100" b="0" i="0" dirty="0">
                <a:solidFill>
                  <a:srgbClr val="333333"/>
                </a:solidFill>
                <a:ea typeface="Meiryo"/>
              </a:rPr>
              <a:t>の規約を分ける</a:t>
            </a:r>
          </a:p>
          <a:p>
            <a:pPr marL="228600" indent="-228600">
              <a:spcBef>
                <a:spcPts val="0"/>
              </a:spcBef>
              <a:spcAft>
                <a:spcPts val="400"/>
              </a:spcAft>
              <a:buChar char="•"/>
              <a:lnSpc>
                <a:spcPts val="1980"/>
              </a:lnSpc>
            </a:pPr>
            <a:r>
              <a:rPr lang="ja-JP" sz="1100" b="0" i="0" dirty="0">
                <a:solidFill>
                  <a:srgbClr val="333333"/>
                </a:solidFill>
                <a:ea typeface="Meiryo"/>
              </a:rPr>
              <a:t>関係ない制約の混入を防ぐ</a:t>
            </a:r>
          </a:p>
        </p:txBody>
      </p:sp>
      <p:sp>
        <p:nvSpPr>
          <p:cNvPr id="17" name="Arrow17"/>
          <p:cNvSpPr/>
          <p:nvPr/>
        </p:nvSpPr>
        <p:spPr>
          <a:xfrm>
            <a:off x="2147925" y="3415741"/>
            <a:ext cx="4848148" cy="174193"/>
          </a:xfrm>
          <a:custGeom>
            <a:avLst/>
            <a:gdLst/>
            <a:ahLst/>
            <a:cxnLst/>
            <a:rect l="0" t="0" r="r" b="b"/>
            <a:pathLst>
              <a:path w="100000" h="100000">
                <a:moveTo>
                  <a:pt x="0" y="0"/>
                </a:moveTo>
                <a:lnTo>
                  <a:pt x="100000" y="0"/>
                </a:lnTo>
                <a:lnTo>
                  <a:pt x="50000" y="100000"/>
                </a:lnTo>
                <a:close/>
              </a:path>
            </a:pathLst>
          </a:custGeom>
          <a:solidFill>
            <a:srgbClr val="6B7A99"/>
          </a:solidFill>
          <a:ln>
            <a:noFill/>
          </a:ln>
          <a:effectLst/>
        </p:spPr>
        <p:txBody>
          <a:bodyPr/>
          <a:lstStyle/>
          <a:p/>
        </p:txBody>
      </p:sp>
      <p:sp>
        <p:nvSpPr>
          <p:cNvPr id="18" name="Rectangle 17"/>
          <p:cNvSpPr/>
          <p:nvPr/>
        </p:nvSpPr>
        <p:spPr>
          <a:xfrm>
            <a:off x="164592" y="3692118"/>
            <a:ext cx="8814816" cy="921029"/>
          </a:xfrm>
          <a:prstGeom prst="rect">
            <a:avLst/>
          </a:prstGeom>
          <a:solidFill>
            <a:srgbClr val="EEF2FF"/>
          </a:solidFill>
          <a:ln w="19050">
            <a:solidFill>
              <a:srgbClr val="6B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4592" y="3692118"/>
            <a:ext cx="64008" cy="921029"/>
          </a:xfrm>
          <a:prstGeom prst="rect">
            <a:avLst/>
          </a:prstGeom>
          <a:solidFill>
            <a:srgbClr val="6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3801846"/>
            <a:ext cx="8476488" cy="701573"/>
          </a:xfrm>
          <a:prstGeom prst="rect">
            <a:avLst/>
          </a:prstGeom>
          <a:noFill/>
          <a:effectLst/>
        </p:spPr>
        <p:txBody>
          <a:bodyPr wrap="square" lIns="0" rIns="0" tIns="0" bIns="0">
            <a:noAutofit/>
          </a:bodyPr>
          <a:lstStyle/>
          <a:p>
            <a:pPr>
              <a:spcBef>
                <a:spcPts val="0"/>
              </a:spcBef>
              <a:spcAft>
                <a:spcPts val="400"/>
              </a:spcAft>
              <a:buNone/>
              <a:lnSpc>
                <a:spcPts val="2160"/>
              </a:lnSpc>
            </a:pPr>
            <a:r>
              <a:rPr lang="ja-JP" sz="1200" b="0" i="0" dirty="0">
                <a:solidFill>
                  <a:srgbClr val="1A2A5A"/>
                </a:solidFill>
                <a:ea typeface="Meiryo"/>
              </a:rPr>
              <a:t>長期文脈は、</a:t>
            </a:r>
            <a:r>
              <a:rPr lang="en-US" sz="1200" b="0" i="0" dirty="0">
                <a:solidFill>
                  <a:srgbClr val="1A2A5A"/>
                </a:solidFill>
                <a:latin typeface="Segoe UI"/>
              </a:rPr>
              <a:t>1</a:t>
            </a:r>
            <a:r>
              <a:rPr lang="ja-JP" sz="1200" b="0" i="0" dirty="0">
                <a:solidFill>
                  <a:srgbClr val="1A2A5A"/>
                </a:solidFill>
                <a:ea typeface="Meiryo"/>
              </a:rPr>
              <a:t>枚の巨大なルールではなく、必要な場所へ必要な密度で置く設計によって安定する。</a:t>
            </a:r>
          </a:p>
        </p:txBody>
      </p:sp>
      <p:sp>
        <p:nvSpPr>
          <p:cNvPr id="21" name="Rectangle 20"/>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4823459"/>
            <a:ext cx="1828800" cy="274320"/>
          </a:xfrm>
          <a:prstGeom prst="rect">
            <a:avLst/>
          </a:prstGeom>
          <a:noFill/>
        </p:spPr>
        <p:txBody>
          <a:bodyPr wrap="none" anchor="ctr" lIns="0" rIns="0" tIns="0" bIns="0">
            <a:spAutoFit/>
          </a:bodyPr>
          <a:lstStyle/>
          <a:p>
            <a:fld id="{2AC3A56A-D914-4FB1-84DF-D87123AF999C}" type="slidenum">
              <a:rPr lang="ja-JP" smtClean="0" sz="1000">
                <a:solidFill>
                  <a:srgbClr val="888888"/>
                </a:solidFill>
              </a:rPr>
              <a:t>&lt;#&gt;</a:t>
            </a:fld>
            <a:r>
              <a:rPr lang="ja-JP" smtClean="0" sz="1000">
                <a:solidFill>
                  <a:srgbClr val="888888"/>
                </a:solidFill>
              </a:rPr>
              <a:t>/</a:t>
            </a:r>
            <a:fld id="{A866A214-76B1-43C7-9109-C320B4CA88A4}" type="slidecount">
              <a:rPr lang="ja-JP" smtClean="0" sz="1000">
                <a:solidFill>
                  <a:srgbClr val="888888"/>
                </a:solidFill>
              </a:rPr>
              <a:t>10</a:t>
            </a:fld>
          </a:p>
        </p:txBody>
      </p:sp>
      <p:pic>
        <p:nvPicPr>
          <p:cNvPr id="23" name="Picture 22"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