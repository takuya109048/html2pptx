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この資料は、CLAUDE.mdを単なるメモではなく、Claude Codeの初動を揃えるルールブックとして設計するための実務ガイドである。Auto memoryやMEMORY.mdとの役割差、適切な長さ、章立て、スコープ設計、運用改善までを一連の判断として扱う。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まず全体像として、CLAUDE.mdをどの粒度で設計し、どこまでを書き、何をAuto memoryへ任せるかを順に確認する。目次は単なるタイトル一覧ではなく、前提、分担、構成、運用という判断の流れを示すための地図である。左側から順番に読み進めれば、最後にTakuyaさんの環境へ落とし込む設計指針までつな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押さえるべき前提は、CLAUDE.mdが単なる便利メモではなく、セッション開始時の振る舞いを揃える基準である点である。毎回の会話で同じ注意を繰り返すと、指示の漏れや解釈の揺れが起きる。そこで、常に守ってほしいルールだけをCLAUDE.mdへ置き、単発の相談や一時的な好みは会話側に残す。この分離により、AIは最初からプロジェクトの前提に沿って作業できる。</a:t>
            </a:r>
          </a:p>
          <a:p/>
          <a:p>
            <a:r>
              <a:t>---</a:t>
            </a:r>
          </a:p>
          <a:p/>
          <a:p>
            <a:r>
              <a:t>[nanobanana2 icon prompt]</a:t>
            </a:r>
          </a:p>
          <a:p>
            <a:r>
              <a:t>6:5 aspect ratio. Three flat minimal business icons in one horizontal row, white background, no text. Left icon: rulebook with checkmark and bookmark. Center icon: startup switch powering a workflow line. Right icon: project folder connected to a target. Unified blue and teal palette, simple geometric shapes, equal square icon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混同しやすいのは、CLAUDE.mdもMEMORY.mdもコンテキストに見えるため、同じ置き場として扱ってしまう点である。CLAUDE.mdはユーザーが明示的に書く強制指示であり、Claudeに守らせたい規約や手順を置く。一方でMEMORY.mdやAuto memoryは、作業から学んだ傾向や好みを蓄積する場所である。強制したいことはCLAUDE.md、観察から育つ好みはMEMORY.mdという切り分けにすると、指示の重みが安定する。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表は行数の目安そのものよりも、守れる情報量へ絞るという判断を示している。CLAUDE.mdは、書けるだけ書けばよいファイルではない。長くなるほど、AIが重要な禁止事項や実行コマンドを見失うリスクが増える。短くする時も、抽象的なスローガンだけにすると行動へ変換できない。したがって、1ルール1文、宣言調、実行可能な指示という形で、少ない文字数でも判断に使える密度を作ることが重要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.mdを作る時に困りやすいのは、何を書けばよいかではなく、どの順番で置けばAIが迷わないかである。推奨される7章立ては、プロジェクト概要から始まり、技術スタック、ディレクトリ構成、コマンド、規約、作業ルール、落とし穴へ進む。これは人間向けの説明というより、AIが作業前に確認するチェックリストである。上流の目的から下流の実行手順まで並べることで、ファイル探索や検証の無駄を減らせる。</a:t>
            </a:r>
          </a:p>
          <a:p/>
          <a:p>
            <a:r>
              <a:t>---</a:t>
            </a:r>
          </a:p>
          <a:p/>
          <a:p>
            <a:r>
              <a:t>[nanobanana2 icon prompt]</a:t>
            </a:r>
          </a:p>
          <a:p>
            <a:r>
              <a:t>6:5 aspect ratio. Three flat minimal business icons in one horizontal row, white background, no text. Left icon: product map with user silhouette and target. Center icon: layered architecture blocks with code brackets. Right icon: terminal window with checklist and shield. Unified navy, teal, and green palette, simple geometric shapes, equal square icon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きなリポジトリでは、全領域のルールを毎回同じ重さで読ませると、関係のない制約まで判断に混ざる。たとえばUI作業中にインフラ専用の注意ばかり強く効くと、提案が過剰に慎重になったり、逆に必要なUI規約が埋もれたりする。そこで、ルートのCLAUDE.mdには共通ルールを置き、frontendやinfraなどのrulesファイルへ領域固有のルールを分ける。読む範囲を狭めることは、情報を減らすのではなく、今の作業に必要な前提を濃くする設計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途別テンプレートを用意する意味は、文章量を増やすことではなく、作業領域ごとの判断を先に固定することにある。WebアプリではUIやAPI配置、データ分析ではライブラリと再現性、自動化ではOSやシェル、安全策が重要になる。右側のプロンプトは、このスライドに対応するnanobanana2用の画像生成指示であり、読み上げ原稿ではない。本文側では、用途ごとの違いが実務判断へどう効くかを明示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運用する時は、CLAUDE.mdを完成品として固定しすぎないことが大切である。プロジェクトの技術スタックや作業習慣は変わるため、古いルールを残し続けると逆にノイズになる。会話で同じ注意を二度繰り返したらCLAUDE.mdへ昇格させ、古い制約は定期的に削る。さらに、小さなタスクでAIの振る舞いを確認すれば、ルールが本当に効いているかを早い段階で見つけられる。</a:t>
            </a:r>
          </a:p>
          <a:p/>
          <a:p>
            <a:r>
              <a:t>---</a:t>
            </a:r>
          </a:p>
          <a:p/>
          <a:p>
            <a:r>
              <a:t>[nanobanana2 icon prompt]</a:t>
            </a:r>
          </a:p>
          <a:p>
            <a:r>
              <a:t>6:5 aspect ratio. Three flat minimal business icons in one horizontal row, white background, no text. Left icon: speech bubbles turning into a rule document. Center icon: document with refresh arrows and eraser. Right icon: small test task card with checkmark and magnifying glass. Unified blue, teal, and lime palette, equal square icon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Takuyaさんの環境へ落とし込むなら、全プロジェクト共通、プロジェクト単位、ディレクトリ単位の三層で考えるのが扱いやすい。グローバルには日本語回答やテスト重視などの普遍的な好みを置く。プロジェクト単位には技術スタック、禁止操作、ディレクトリ構成を置く。さらにUIとPowerShellやPythonのインフラ操作をrulesで分ければ、作業場所に合った制約だけが効きやすくなる。CLAUDE.mdはAIを縛るためではなく、迷わず安全に動かすための設計面である。</a:t>
            </a:r>
          </a:p>
          <a:p/>
          <a:p>
            <a:r>
              <a:t>---</a:t>
            </a:r>
          </a:p>
          <a:p/>
          <a:p>
            <a:r>
              <a:t>[nanobanana2 icon prompt]</a:t>
            </a:r>
          </a:p>
          <a:p>
            <a:r>
              <a:t>6:5 aspect ratio. Three flat minimal business icons in one horizontal row, white background, no text. Left icon: globe with preference sliders. Center icon: project folder with technology blocks and warning shield. Right icon: split directory tree with UI panel and terminal panel. Unified blue, teal, and green palette, equal square icon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243584"/>
            <a:ext cx="5029200" cy="1234440"/>
          </a:xfrm>
          <a:prstGeom prst="rect">
            <a:avLst/>
          </a:prstGeom>
          <a:noFill/>
          <a:effectLst/>
        </p:spPr>
        <p:txBody>
          <a:bodyPr wrap="none" lIns="0" rIns="0" tIns="0" bIns="0" anchor="b">
            <a:noAutofit/>
          </a:bodyPr>
          <a:lstStyle/>
          <a:p>
            <a:pPr>
              <a:lnSpc>
                <a:spcPts val="3919"/>
              </a:lnSpc>
            </a:pPr>
            <a:r>
              <a:rPr lang="en-US" sz="2800" b="1" i="0" dirty="0">
                <a:solidFill>
                  <a:srgbClr val="000000"/>
                </a:solidFill>
                <a:latin typeface="Segoe UI"/>
              </a:rPr>
              <a:t>CLAUDE.md</a:t>
            </a:r>
            <a:r>
              <a:rPr lang="ja-JP" sz="2800" b="1" i="0" dirty="0">
                <a:solidFill>
                  <a:srgbClr val="000000"/>
                </a:solidFill>
                <a:ea typeface="Meiryo"/>
              </a:rPr>
              <a:t>設計の実務ガイド</a:t>
            </a:r>
          </a:p>
          <a:p>
            <a:pPr>
              <a:lnSpc>
                <a:spcPts val="3919"/>
              </a:lnSpc>
            </a:pPr>
            <a:r>
              <a:rPr lang="ja-JP" sz="2800" b="1" i="0" dirty="0">
                <a:solidFill>
                  <a:srgbClr val="000000"/>
                </a:solidFill>
                <a:ea typeface="Meiryo"/>
              </a:rPr>
              <a:t>ルールブックと学習メモを分けて、</a:t>
            </a:r>
            <a:r>
              <a:rPr lang="en-US" sz="2800" b="1" i="0" dirty="0">
                <a:solidFill>
                  <a:srgbClr val="000000"/>
                </a:solidFill>
                <a:latin typeface="Segoe UI"/>
              </a:rPr>
              <a:t>AI</a:t>
            </a:r>
            <a:r>
              <a:rPr lang="ja-JP" sz="2800" b="1" i="0" dirty="0">
                <a:solidFill>
                  <a:srgbClr val="000000"/>
                </a:solidFill>
                <a:ea typeface="Meiryo"/>
              </a:rPr>
              <a:t>の作業品質を安定させる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569464"/>
            <a:ext cx="36576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52344"/>
            <a:ext cx="50292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en-US" sz="1600" b="0" i="0" dirty="0">
                <a:solidFill>
                  <a:srgbClr val="333333"/>
                </a:solidFill>
                <a:latin typeface="Segoe UI"/>
              </a:rPr>
              <a:t>Project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72384"/>
            <a:ext cx="50292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600" b="0" i="0" dirty="0">
                <a:solidFill>
                  <a:srgbClr val="333333"/>
                </a:solidFill>
                <a:ea typeface="Meiryo"/>
              </a:rPr>
              <a:t>山田</a:t>
            </a:r>
            <a:r>
              <a:rPr lang="en-US" sz="1600" b="0" i="0" dirty="0">
                <a:solidFill>
                  <a:srgbClr val="333333"/>
                </a:solidFill>
                <a:latin typeface="Segoe UI"/>
              </a:rPr>
              <a:t> </a:t>
            </a:r>
            <a:r>
              <a:rPr lang="ja-JP" sz="1600" b="0" i="0" dirty="0">
                <a:solidFill>
                  <a:srgbClr val="333333"/>
                </a:solidFill>
                <a:ea typeface="Meiryo"/>
              </a:rPr>
              <a:t>花子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92424"/>
            <a:ext cx="50292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en-US" sz="1600" b="0" i="0" dirty="0">
                <a:solidFill>
                  <a:srgbClr val="333333"/>
                </a:solidFill>
                <a:latin typeface="Segoe UI"/>
              </a:rPr>
              <a:t>2026-04-30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2400" b="1" i="0" dirty="0">
                <a:solidFill>
                  <a:srgbClr val="FFFFFF"/>
                </a:solidFill>
                <a:ea typeface="Meiryo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200" b="0" i="0" dirty="0">
                <a:solidFill>
                  <a:srgbClr val="FFFFFF"/>
                </a:solidFill>
                <a:ea typeface="Meiryo"/>
              </a:rPr>
              <a:t>設計判断の流れを章で束ねる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1033272"/>
            <a:ext cx="3913632" cy="348843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  <a:lnSpc>
                <a:spcPts val="1679"/>
              </a:lnSpc>
            </a:pPr>
            <a:r>
              <a:rPr lang="ja-JP" sz="1200" b="1" i="0" dirty="0">
                <a:solidFill>
                  <a:srgbClr val="333333"/>
                </a:solidFill>
                <a:ea typeface="Meiryo"/>
              </a:rPr>
              <a:t>背景と前提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CLAUDE.md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は強制指示の土台である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記憶はルールと学習メモに分ける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  <a:lnSpc>
                <a:spcPts val="1679"/>
              </a:lnSpc>
            </a:pPr>
            <a:r>
              <a:rPr lang="ja-JP" sz="1200" b="1" i="0" dirty="0">
                <a:solidFill>
                  <a:srgbClr val="333333"/>
                </a:solidFill>
                <a:ea typeface="Meiryo"/>
              </a:rPr>
              <a:t>設計の判断軸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長さは守れる量へ絞る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7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章立てで探索の迷いを減らす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rules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は場所別に読む範囲を絞る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7176" y="1033272"/>
            <a:ext cx="3913632" cy="348843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  <a:lnSpc>
                <a:spcPts val="1679"/>
              </a:lnSpc>
            </a:pPr>
            <a:r>
              <a:rPr lang="ja-JP" sz="1200" b="1" i="0" dirty="0">
                <a:solidFill>
                  <a:srgbClr val="333333"/>
                </a:solidFill>
                <a:ea typeface="Meiryo"/>
              </a:rPr>
              <a:t>運用への落とし込み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用途別テンプレートは判断を先に固定する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運用ループで</a:t>
            </a: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CLAUDE.md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を育てる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3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レイヤーで</a:t>
            </a: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Takuya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環境に合わせる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B60E8E9A-BBC0-4275-8E19-5645C256612D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D84DA95A-8E9C-4D35-A77A-A323B1CFD2AB}" type="slidecount">
              <a:rPr lang="ja-JP" smtClean="0" sz="1000">
                <a:solidFill>
                  <a:srgbClr val="888888"/>
                </a:solidFill>
              </a:rPr>
              <a:t>10</a:t>
            </a:fld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en-US" sz="2400" b="1" i="0" dirty="0">
                <a:solidFill>
                  <a:srgbClr val="FFFFFF"/>
                </a:solidFill>
                <a:latin typeface="Segoe UI"/>
              </a:rPr>
              <a:t>CLAUDE.md</a:t>
            </a:r>
            <a:r>
              <a:rPr lang="ja-JP" sz="2400" b="1" i="0" dirty="0">
                <a:solidFill>
                  <a:srgbClr val="FFFFFF"/>
                </a:solidFill>
                <a:ea typeface="Meiryo"/>
              </a:rPr>
              <a:t>は強制指示の土台である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200" b="0" i="0" dirty="0">
                <a:solidFill>
                  <a:srgbClr val="FFFFFF"/>
                </a:solidFill>
                <a:ea typeface="Meiryo"/>
              </a:rPr>
              <a:t>毎回説明する内容を、開始時に読まれるルールへ固定する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941832"/>
            <a:ext cx="8814816" cy="844677"/>
          </a:xfrm>
          <a:prstGeom prst="rect">
            <a:avLst/>
          </a:prstGeom>
          <a:solidFill>
            <a:srgbClr val="E8EDF2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1" y="1051560"/>
            <a:ext cx="8540496" cy="625221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2160"/>
              </a:lnSpc>
            </a:pP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CLAUDE.md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は、</a:t>
            </a: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AI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の作業開始時に読み込まれる「常設ルール」である。毎回説明する負担を減らし、プロジェクト固有の判断基準を会話の前に置く役割を持つ。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859661"/>
            <a:ext cx="2889504" cy="275348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1" y="1969389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重要ルールを厳選する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1" y="2225421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1" y="2298573"/>
            <a:ext cx="2615184" cy="2204847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常に守るべき基準だけを残すことで、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AI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が迷わず優先順位を判断できる。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単発の作業指示は会話で扱い、恒久ルールと混ぜない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禁止事項や必須コマンドなど、逸脱時の影響が大きいものを優先する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59661"/>
            <a:ext cx="2889504" cy="275348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969389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適切な密度を保つ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2225421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2298573"/>
            <a:ext cx="2615184" cy="2204847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長すぎるルールは、重要な指示を埋もれさせる。守れる量へ絞ることが精度を上げる。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60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から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300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行程度を目安に、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2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から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6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画面で把握できる状態にする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150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から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200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程度のルールを上限感として、重複や抽象語を削る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859661"/>
            <a:ext cx="2889504" cy="275348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969389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スコープを分ける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7064" y="2225421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2298573"/>
            <a:ext cx="2615184" cy="2204847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プロジェクトやディレクトリの役割に応じて、読むべき前提を変える。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全体共通の行動規範はルートに置く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UI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、インフラ、データ処理など、局所ルールは対象範囲へ寄せる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164AA1A2-6635-4F89-BCA7-3FA4FDE4C090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94EAF566-D255-49D3-9933-CC1478853B40}" type="slidecount">
              <a:rPr lang="ja-JP" smtClean="0" sz="1000">
                <a:solidFill>
                  <a:srgbClr val="888888"/>
                </a:solidFill>
              </a:rPr>
              <a:t>10</a:t>
            </a:fld>
          </a:p>
        </p:txBody>
      </p:sp>
      <p:pic>
        <p:nvPicPr>
          <p:cNvPr id="21" name="Picture 2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2400" b="1" i="0" dirty="0">
                <a:solidFill>
                  <a:srgbClr val="FFFFFF"/>
                </a:solidFill>
                <a:ea typeface="Meiryo"/>
              </a:rPr>
              <a:t>記憶はルールと学習メモに分ける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CLAUDE.md</a:t>
            </a:r>
            <a:r>
              <a:rPr lang="ja-JP" sz="1200" b="0" i="0" dirty="0">
                <a:solidFill>
                  <a:srgbClr val="FFFFFF"/>
                </a:solidFill>
                <a:ea typeface="Meiryo"/>
              </a:rPr>
              <a:t>と</a:t>
            </a:r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MEMORY.md</a:t>
            </a:r>
            <a:r>
              <a:rPr lang="ja-JP" sz="1200" b="0" i="0" dirty="0">
                <a:solidFill>
                  <a:srgbClr val="FFFFFF"/>
                </a:solidFill>
                <a:ea typeface="Meiryo"/>
              </a:rPr>
              <a:t>を混ぜると、強制力と好みが曖昧になる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3027970" y="941832"/>
            <a:ext cx="2808514" cy="876680"/>
          </a:xfrm>
          <a:prstGeom prst="rect">
            <a:avLst/>
          </a:prstGeom>
          <a:solidFill>
            <a:srgbClr val="6B7A99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>
              <a:lnSpc>
                <a:spcPts val="1560"/>
              </a:lnSpc>
            </a:pPr>
            <a:r>
              <a:rPr lang="en-US" sz="1200" b="1" i="0" dirty="0">
                <a:solidFill>
                  <a:srgbClr val="FFFFFF"/>
                </a:solidFill>
                <a:latin typeface="Segoe UI"/>
              </a:rPr>
              <a:t>CLAUDE.md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0893" y="941832"/>
            <a:ext cx="2808514" cy="876680"/>
          </a:xfrm>
          <a:prstGeom prst="rect">
            <a:avLst/>
          </a:prstGeom>
          <a:solidFill>
            <a:srgbClr val="6B7A99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>
              <a:lnSpc>
                <a:spcPts val="1560"/>
              </a:lnSpc>
            </a:pPr>
            <a:r>
              <a:rPr lang="en-US" sz="1200" b="1" i="0" dirty="0">
                <a:solidFill>
                  <a:srgbClr val="FFFFFF"/>
                </a:solidFill>
                <a:latin typeface="Segoe UI"/>
              </a:rPr>
              <a:t>MEMORY.md / Auto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873377"/>
            <a:ext cx="2808514" cy="876680"/>
          </a:xfrm>
          <a:prstGeom prst="rect">
            <a:avLst/>
          </a:prstGeom>
          <a:solidFill>
            <a:srgbClr val="E8ED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>
              <a:lnSpc>
                <a:spcPts val="1560"/>
              </a:lnSpc>
            </a:pPr>
            <a:r>
              <a:rPr lang="ja-JP" sz="1200" b="1" i="0" dirty="0">
                <a:solidFill>
                  <a:srgbClr val="333333"/>
                </a:solidFill>
                <a:ea typeface="Meiryo"/>
              </a:rPr>
              <a:t>作成者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7970" y="1873377"/>
            <a:ext cx="2808514" cy="87668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>
              <a:lnSpc>
                <a:spcPts val="15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ユーザーが明示的に管理し、プロジェクト基準として固定する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0893" y="1873377"/>
            <a:ext cx="2808514" cy="87668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>
              <a:lnSpc>
                <a:spcPts val="1560"/>
              </a:lnSpc>
            </a:pP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Claude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が作業から学び、傾向や好みとして蓄積する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2804922"/>
            <a:ext cx="2808514" cy="876680"/>
          </a:xfrm>
          <a:prstGeom prst="rect">
            <a:avLst/>
          </a:prstGeom>
          <a:solidFill>
            <a:srgbClr val="E8ED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>
              <a:lnSpc>
                <a:spcPts val="1560"/>
              </a:lnSpc>
            </a:pPr>
            <a:r>
              <a:rPr lang="ja-JP" sz="1200" b="1" i="0" dirty="0">
                <a:solidFill>
                  <a:srgbClr val="333333"/>
                </a:solidFill>
                <a:ea typeface="Meiryo"/>
              </a:rPr>
              <a:t>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27970" y="2804922"/>
            <a:ext cx="2808514" cy="87668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>
              <a:lnSpc>
                <a:spcPts val="15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コーディング規約、禁止事項、必須コマンド、設計方針などの強制指示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0893" y="2804922"/>
            <a:ext cx="2808514" cy="87668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>
              <a:lnSpc>
                <a:spcPts val="15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よく使う操作、変数名の傾向、最近の落とし穴などの学習メモ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3736466"/>
            <a:ext cx="2808514" cy="876680"/>
          </a:xfrm>
          <a:prstGeom prst="rect">
            <a:avLst/>
          </a:prstGeom>
          <a:solidFill>
            <a:srgbClr val="E8ED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>
              <a:lnSpc>
                <a:spcPts val="1560"/>
              </a:lnSpc>
            </a:pPr>
            <a:r>
              <a:rPr lang="ja-JP" sz="1200" b="1" i="0" dirty="0">
                <a:solidFill>
                  <a:srgbClr val="333333"/>
                </a:solidFill>
                <a:ea typeface="Meiryo"/>
              </a:rPr>
              <a:t>判断基準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7970" y="3736466"/>
            <a:ext cx="2808514" cy="87668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>
              <a:lnSpc>
                <a:spcPts val="15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守らないと品質や安全性に影響する内容を置く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0893" y="3736466"/>
            <a:ext cx="2808514" cy="87668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>
              <a:lnSpc>
                <a:spcPts val="15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あると便利だが、状況により変わる弱い好みを任せる</a:t>
            </a:r>
          </a:p>
        </p:txBody>
      </p:sp>
      <p:sp>
        <p:nvSpPr>
          <p:cNvPr id="16" name="CmpArrow16"/>
          <p:cNvSpPr/>
          <p:nvPr/>
        </p:nvSpPr>
        <p:spPr>
          <a:xfrm>
            <a:off x="5891348" y="1873377"/>
            <a:ext cx="224681" cy="2739771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0"/>
                </a:moveTo>
                <a:lnTo>
                  <a:pt x="35000" y="20000"/>
                </a:lnTo>
                <a:lnTo>
                  <a:pt x="35000" y="40000"/>
                </a:lnTo>
                <a:lnTo>
                  <a:pt x="65000" y="40000"/>
                </a:lnTo>
                <a:lnTo>
                  <a:pt x="65000" y="20000"/>
                </a:lnTo>
                <a:lnTo>
                  <a:pt x="100000" y="50000"/>
                </a:lnTo>
                <a:lnTo>
                  <a:pt x="65000" y="80000"/>
                </a:lnTo>
                <a:lnTo>
                  <a:pt x="65000" y="60000"/>
                </a:lnTo>
                <a:lnTo>
                  <a:pt x="35000" y="60000"/>
                </a:lnTo>
                <a:lnTo>
                  <a:pt x="35000" y="80000"/>
                </a:lnTo>
                <a:close/>
              </a:path>
            </a:pathLst>
          </a:custGeom>
          <a:solidFill>
            <a:srgbClr val="CCCCCC"/>
          </a:solidFill>
          <a:ln w="9525">
            <a:solidFill>
              <a:srgbClr val="CCCCCC"/>
            </a:solidFill>
          </a:ln>
          <a:effectLst/>
        </p:spPr>
        <p:txBody>
          <a:bodyPr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08628FF6-4DD2-4A40-8565-F81EB40B392D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D44DCEC7-F77B-4282-A0F1-22B543AED17B}" type="slidecount">
              <a:rPr lang="ja-JP" smtClean="0" sz="1000">
                <a:solidFill>
                  <a:srgbClr val="888888"/>
                </a:solidFill>
              </a:rPr>
              <a:t>10</a:t>
            </a:fld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2400" b="1" i="0" dirty="0">
                <a:solidFill>
                  <a:srgbClr val="FFFFFF"/>
                </a:solidFill>
                <a:ea typeface="Meiryo"/>
              </a:rPr>
              <a:t>長さは守れる量へ絞る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200" b="0" i="0" dirty="0">
                <a:solidFill>
                  <a:srgbClr val="FFFFFF"/>
                </a:solidFill>
                <a:ea typeface="Meiryo"/>
              </a:rPr>
              <a:t>量を増やすほど安心ではなく、重要ルールが埋もれる危険が増える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4592" y="941832"/>
          <a:ext cx="8814816" cy="2753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8272"/>
                <a:gridCol w="2938272"/>
                <a:gridCol w="2938272"/>
              </a:tblGrid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設計観点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推奨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判断の理由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全体サイズ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60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から</a:t>
                      </a:r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300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行程度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2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から</a:t>
                      </a:r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6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画面で確認でき、重要ルールが埋もれにくい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ルール数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150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から</a:t>
                      </a:r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200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程度を上限感にする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多すぎると優先順位が曖昧になり、遵守精度が落ちる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文の粒度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1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ルール</a:t>
                      </a:r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1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文で断定する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AI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が実行単位へ変換しやすく、曖昧な努力目標になりにくい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指示の具体性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コマンドや禁止操作まで書く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「しっかり」ではなく、何を実行するかが明確になる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64592" y="3768471"/>
            <a:ext cx="8814816" cy="844677"/>
          </a:xfrm>
          <a:prstGeom prst="rect">
            <a:avLst/>
          </a:prstGeom>
          <a:solidFill>
            <a:srgbClr val="EEF2FF"/>
          </a:solidFill>
          <a:ln w="19050">
            <a:solidFill>
              <a:srgbClr val="6B7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3768471"/>
            <a:ext cx="64008" cy="844677"/>
          </a:xfrm>
          <a:prstGeom prst="rect">
            <a:avLst/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878199"/>
            <a:ext cx="8476488" cy="625221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2160"/>
              </a:lnSpc>
            </a:pPr>
            <a:r>
              <a:rPr lang="en-US" sz="1200" b="0" i="0" dirty="0">
                <a:solidFill>
                  <a:srgbClr val="1A2A5A"/>
                </a:solidFill>
                <a:latin typeface="Segoe UI"/>
              </a:rPr>
              <a:t>CLAUDE.md</a:t>
            </a:r>
            <a:r>
              <a:rPr lang="ja-JP" sz="1200" b="0" i="0" dirty="0">
                <a:solidFill>
                  <a:srgbClr val="1A2A5A"/>
                </a:solidFill>
                <a:ea typeface="Meiryo"/>
              </a:rPr>
              <a:t>は詳しさよりも、守れる量と実行可能性で設計する。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CC644D9B-9B54-4C54-BE5C-F26F31C82600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F976E3EB-E3C3-4D0F-BBC9-9B9935E5C7ED}" type="slidecount">
              <a:rPr lang="ja-JP" smtClean="0" sz="1000">
                <a:solidFill>
                  <a:srgbClr val="888888"/>
                </a:solidFill>
              </a:rPr>
              <a:t>10</a:t>
            </a:fld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en-US" sz="2400" b="1" i="0" dirty="0">
                <a:solidFill>
                  <a:srgbClr val="FFFFFF"/>
                </a:solidFill>
                <a:latin typeface="Segoe UI"/>
              </a:rPr>
              <a:t>7</a:t>
            </a:r>
            <a:r>
              <a:rPr lang="ja-JP" sz="2400" b="1" i="0" dirty="0">
                <a:solidFill>
                  <a:srgbClr val="FFFFFF"/>
                </a:solidFill>
                <a:ea typeface="Meiryo"/>
              </a:rPr>
              <a:t>章立てで探索の迷いを減らす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200" b="0" i="0" dirty="0">
                <a:solidFill>
                  <a:srgbClr val="FFFFFF"/>
                </a:solidFill>
                <a:ea typeface="Meiryo"/>
              </a:rPr>
              <a:t>何を作るか、どこを触るか、どう検証するかを順に置く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941832"/>
            <a:ext cx="2889504" cy="367131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1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前提を置く章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1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1" y="1380744"/>
            <a:ext cx="2615184" cy="312267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プロジェクト概要は、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AI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が「何を作っているか」を誤解しないための入口である。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目的、想定ユーザー、主要ユースケースを短く置く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セキュリティや速度など、判断を左右する非機能要件を明示する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提案の良し悪しを測る基準として使える内容にする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7248" y="941832"/>
            <a:ext cx="2889504" cy="367131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探索を助ける章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380744"/>
            <a:ext cx="2615184" cy="312267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技術スタックとディレクトリ構成は、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AI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が余計な候補を探さないための地図である。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使用フレームワークや禁止ライブラリを明確にする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Consolas"/>
              </a:rPr>
              <a:t>src/app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 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や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 </a:t>
            </a:r>
            <a:r>
              <a:rPr lang="en-US" sz="1100" b="0" i="0" dirty="0">
                <a:solidFill>
                  <a:srgbClr val="333333"/>
                </a:solidFill>
                <a:latin typeface="Consolas"/>
              </a:rPr>
              <a:t>src/features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 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など主要ディレクトリの責務を書く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ビジネスロジックの置き場など、境界を破りやすい点を先に示す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941832"/>
            <a:ext cx="2889504" cy="367131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実行を揃える章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380744"/>
            <a:ext cx="2615184" cy="312267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コマンド、規約、ワークフロー、落とし穴は、変更後の品質を安定させる。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Consolas"/>
              </a:rPr>
              <a:t>pnpm test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 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や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 </a:t>
            </a:r>
            <a:r>
              <a:rPr lang="en-US" sz="1100" b="0" i="0" dirty="0">
                <a:solidFill>
                  <a:srgbClr val="333333"/>
                </a:solidFill>
                <a:latin typeface="Consolas"/>
              </a:rPr>
              <a:t>pnpm lint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 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など、そのまま実行できる形で書く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インデントや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 </a:t>
            </a:r>
            <a:r>
              <a:rPr lang="en-US" sz="1100" b="0" i="0" dirty="0">
                <a:solidFill>
                  <a:srgbClr val="333333"/>
                </a:solidFill>
                <a:latin typeface="Consolas"/>
              </a:rPr>
              <a:t>any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 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禁止など、人間側の品質基準を明示する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本番環境や個人情報など、推測で触ると危険な制約を最後に固定する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0F04C816-18AE-443B-B058-A273E939E292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217AA5F6-0B5E-4201-AF24-7E779B515CB3}" type="slidecount">
              <a:rPr lang="ja-JP" smtClean="0" sz="1000">
                <a:solidFill>
                  <a:srgbClr val="888888"/>
                </a:solidFill>
              </a:rPr>
              <a:t>10</a:t>
            </a:fld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en-US" sz="2400" b="1" i="0" dirty="0">
                <a:solidFill>
                  <a:srgbClr val="FFFFFF"/>
                </a:solidFill>
                <a:latin typeface="Segoe UI"/>
              </a:rPr>
              <a:t>rules</a:t>
            </a:r>
            <a:r>
              <a:rPr lang="ja-JP" sz="2400" b="1" i="0" dirty="0">
                <a:solidFill>
                  <a:srgbClr val="FFFFFF"/>
                </a:solidFill>
                <a:ea typeface="Meiryo"/>
              </a:rPr>
              <a:t>は場所別に読む範囲を絞る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200" b="0" i="0" dirty="0">
                <a:solidFill>
                  <a:srgbClr val="FFFFFF"/>
                </a:solidFill>
                <a:ea typeface="Meiryo"/>
              </a:rPr>
              <a:t>大規模リポジトリでは、全ルールを常に読ませない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4592" y="941832"/>
          <a:ext cx="8814816" cy="2753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8272"/>
                <a:gridCol w="2938272"/>
                <a:gridCol w="2938272"/>
              </a:tblGrid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置き場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書く内容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効果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ルート</a:t>
                      </a: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Segoe UI"/>
                        </a:rPr>
                        <a:t>CLAUDE.md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全体方針、禁止操作、共通コマンド、回答方針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どの作業でも守る最低限の基準を固定する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Segoe UI"/>
                        </a:rPr>
                        <a:t>frontend.md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UI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ライブラリ、コンポーネント設計、アクセシビリティ、状態管理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画面実装時に必要な判断だけを強く効かせる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Segoe UI"/>
                        </a:rPr>
                        <a:t>infra.md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シェル前提、認証情報、デプロイ、破壊的操作の安全策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運用や自動化で事故につながる操作を抑える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Segoe UI"/>
                        </a:rPr>
                        <a:t>data.md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データ保存場所、再現性、乱数シード、前処理手順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分析や</a:t>
                      </a:r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ML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作業で結果の再現性を守る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64592" y="3768471"/>
            <a:ext cx="8814816" cy="844677"/>
          </a:xfrm>
          <a:prstGeom prst="rect">
            <a:avLst/>
          </a:prstGeom>
          <a:solidFill>
            <a:srgbClr val="EEF2FF"/>
          </a:solidFill>
          <a:ln w="19050">
            <a:solidFill>
              <a:srgbClr val="6B7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3768471"/>
            <a:ext cx="64008" cy="844677"/>
          </a:xfrm>
          <a:prstGeom prst="rect">
            <a:avLst/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878199"/>
            <a:ext cx="8476488" cy="625221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2160"/>
              </a:lnSpc>
            </a:pPr>
            <a:r>
              <a:rPr lang="en-US" sz="1200" b="0" i="0" dirty="0">
                <a:solidFill>
                  <a:srgbClr val="1A2A5A"/>
                </a:solidFill>
                <a:latin typeface="Segoe UI"/>
              </a:rPr>
              <a:t>rules</a:t>
            </a:r>
            <a:r>
              <a:rPr lang="ja-JP" sz="1200" b="0" i="0" dirty="0">
                <a:solidFill>
                  <a:srgbClr val="1A2A5A"/>
                </a:solidFill>
                <a:ea typeface="Meiryo"/>
              </a:rPr>
              <a:t>分割は、</a:t>
            </a:r>
            <a:r>
              <a:rPr lang="en-US" sz="1200" b="0" i="0" dirty="0">
                <a:solidFill>
                  <a:srgbClr val="1A2A5A"/>
                </a:solidFill>
                <a:latin typeface="Segoe UI"/>
              </a:rPr>
              <a:t>AI</a:t>
            </a:r>
            <a:r>
              <a:rPr lang="ja-JP" sz="1200" b="0" i="0" dirty="0">
                <a:solidFill>
                  <a:srgbClr val="1A2A5A"/>
                </a:solidFill>
                <a:ea typeface="Meiryo"/>
              </a:rPr>
              <a:t>の認知負荷を下げ、作業場所に合うルールを前面に出す。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B927D17E-E822-4006-AF60-BF9B94E119C1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C6635E48-18AD-45B6-A91A-4B1306573899}" type="slidecount">
              <a:rPr lang="ja-JP" smtClean="0" sz="1000">
                <a:solidFill>
                  <a:srgbClr val="888888"/>
                </a:solidFill>
              </a:rPr>
              <a:t>10</a:t>
            </a:fld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2400" b="1" i="0" dirty="0">
                <a:solidFill>
                  <a:srgbClr val="FFFFFF"/>
                </a:solidFill>
                <a:ea typeface="Meiryo"/>
              </a:rPr>
              <a:t>用途別テンプレートは判断を先に固定する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Web</a:t>
            </a:r>
            <a:r>
              <a:rPr lang="ja-JP" sz="1200" b="0" i="0" dirty="0">
                <a:solidFill>
                  <a:srgbClr val="FFFFFF"/>
                </a:solidFill>
                <a:ea typeface="Meiryo"/>
              </a:rPr>
              <a:t>、分析、自動化では、必要な安全策と前提が異なる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1033272"/>
            <a:ext cx="3913632" cy="348843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  <a:lnSpc>
                <a:spcPts val="1679"/>
              </a:lnSpc>
            </a:pPr>
            <a:r>
              <a:rPr lang="ja-JP" sz="1200" b="1" i="0" dirty="0">
                <a:solidFill>
                  <a:srgbClr val="333333"/>
                </a:solidFill>
                <a:ea typeface="Meiryo"/>
              </a:rPr>
              <a:t>テンプレートは領域別の事故を減らす</a:t>
            </a:r>
          </a:p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21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作業領域ごとに、</a:t>
            </a: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AI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が先に確認すべき前提は変わる。テンプレートは、その違いを毎回の会話で説明し直さないための型である。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en-US" sz="1200" b="1" i="0" dirty="0">
                <a:solidFill>
                  <a:srgbClr val="333333"/>
                </a:solidFill>
                <a:latin typeface="Segoe UI"/>
              </a:rPr>
              <a:t>Web</a:t>
            </a:r>
            <a:r>
              <a:rPr lang="ja-JP" sz="1200" b="1" i="0" dirty="0">
                <a:solidFill>
                  <a:srgbClr val="333333"/>
                </a:solidFill>
                <a:ea typeface="Meiryo"/>
              </a:rPr>
              <a:t>アプリ</a:t>
            </a:r>
            <a:r>
              <a:rPr lang="en-US" sz="1200" b="1" i="0" dirty="0">
                <a:solidFill>
                  <a:srgbClr val="333333"/>
                </a:solidFill>
                <a:latin typeface="Segoe UI"/>
              </a:rPr>
              <a:t>:</a:t>
            </a: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 CSS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、状態管理、</a:t>
            </a: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API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配置のルールを固定し、実装の揺れを抑える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ja-JP" sz="1200" b="1" i="0" dirty="0">
                <a:solidFill>
                  <a:srgbClr val="333333"/>
                </a:solidFill>
                <a:ea typeface="Meiryo"/>
              </a:rPr>
              <a:t>データ分析</a:t>
            </a:r>
            <a:r>
              <a:rPr lang="en-US" sz="1200" b="1" i="0" dirty="0">
                <a:solidFill>
                  <a:srgbClr val="333333"/>
                </a:solidFill>
                <a:latin typeface="Segoe UI"/>
              </a:rPr>
              <a:t>:</a:t>
            </a: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 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ライブラリ、保存場所、乱数シードを明示し、結果の再現性を守る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ja-JP" sz="1200" b="1" i="0" dirty="0">
                <a:solidFill>
                  <a:srgbClr val="333333"/>
                </a:solidFill>
                <a:ea typeface="Meiryo"/>
              </a:rPr>
              <a:t>自動化</a:t>
            </a:r>
            <a:r>
              <a:rPr lang="en-US" sz="1200" b="1" i="0" dirty="0">
                <a:solidFill>
                  <a:srgbClr val="333333"/>
                </a:solidFill>
                <a:latin typeface="Segoe UI"/>
              </a:rPr>
              <a:t>:</a:t>
            </a: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 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対象</a:t>
            </a: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OS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、シェル、安全策、ログ出力を先に置き、破壊的操作を避ける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7176" y="1033272"/>
            <a:ext cx="3913632" cy="348843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  <a:lnSpc>
                <a:spcPts val="1679"/>
              </a:lnSpc>
            </a:pPr>
            <a:r>
              <a:rPr lang="en-US" sz="1200" b="1" i="0" dirty="0">
                <a:solidFill>
                  <a:srgbClr val="333333"/>
                </a:solidFill>
                <a:latin typeface="Segoe UI"/>
              </a:rPr>
              <a:t>nanobanana</a:t>
            </a:r>
            <a:r>
              <a:rPr lang="ja-JP" sz="1200" b="1" i="0" dirty="0">
                <a:solidFill>
                  <a:srgbClr val="333333"/>
                </a:solidFill>
                <a:ea typeface="Meiryo"/>
              </a:rPr>
              <a:t>プロンプト</a:t>
            </a:r>
          </a:p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2160"/>
              </a:lnSpc>
            </a:pP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6:5 aspect ratio. Flat minimal business illustration, white background, no text. Show three connected template panels: a web app browser window, a data analysis chart with dataset blocks, and an automation terminal with a safety shield. Use clean geometric shapes, blue, teal, and green accents, modern presentation icon style.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1B063CF5-175E-4C85-A4F4-DF0698D06A89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6CE26BD7-F676-4973-A0A8-E52951A2E3B3}" type="slidecount">
              <a:rPr lang="ja-JP" smtClean="0" sz="1000">
                <a:solidFill>
                  <a:srgbClr val="888888"/>
                </a:solidFill>
              </a:rPr>
              <a:t>10</a:t>
            </a:fld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2400" b="1" i="0" dirty="0">
                <a:solidFill>
                  <a:srgbClr val="FFFFFF"/>
                </a:solidFill>
                <a:ea typeface="Meiryo"/>
              </a:rPr>
              <a:t>運用ループで</a:t>
            </a:r>
            <a:r>
              <a:rPr lang="en-US" sz="2400" b="1" i="0" dirty="0">
                <a:solidFill>
                  <a:srgbClr val="FFFFFF"/>
                </a:solidFill>
                <a:latin typeface="Segoe UI"/>
              </a:rPr>
              <a:t>CLAUDE.md</a:t>
            </a:r>
            <a:r>
              <a:rPr lang="ja-JP" sz="2400" b="1" i="0" dirty="0">
                <a:solidFill>
                  <a:srgbClr val="FFFFFF"/>
                </a:solidFill>
                <a:ea typeface="Meiryo"/>
              </a:rPr>
              <a:t>を育てる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200" b="0" i="0" dirty="0">
                <a:solidFill>
                  <a:srgbClr val="FFFFFF"/>
                </a:solidFill>
                <a:ea typeface="Meiryo"/>
              </a:rPr>
              <a:t>一度書いて終わりではなく、繰り返した注意をルールへ昇格させる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941832"/>
            <a:ext cx="2889504" cy="367131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1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en-US" sz="1400" b="1" i="0" dirty="0">
                <a:solidFill>
                  <a:srgbClr val="333333"/>
                </a:solidFill>
                <a:latin typeface="Segoe UI"/>
              </a:rPr>
              <a:t>2</a:t>
            </a:r>
            <a:r>
              <a:rPr lang="ja-JP" sz="1400" b="1" i="0" dirty="0">
                <a:solidFill>
                  <a:srgbClr val="333333"/>
                </a:solidFill>
                <a:ea typeface="Meiryo"/>
              </a:rPr>
              <a:t>回言ったら昇格する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1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1" y="1380744"/>
            <a:ext cx="2615184" cy="312267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同じ注意が繰り返されるなら、それは会話ではなく常設ルールで扱うべき内容である。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例外的な依頼ではなく、今後も守る基準かを確認する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禁止操作、検証手順、回答スタイルなど再発しやすいものを優先する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昇格後は短い断定文にし、会話の文脈なしでも意味が通る形にする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7248" y="941832"/>
            <a:ext cx="2889504" cy="367131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古いルールを削る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380744"/>
            <a:ext cx="2615184" cy="312267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CLAUDE.md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は増やすだけではなく、効かなくなった情報を外すことで精度を保つ。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廃止したライブラリや古いコマンドを残さない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重複した表現をまとめ、重要な禁止事項が埋もれないようにする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MEMORY.md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に任せられる弱い好みは強制ルールから外す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941832"/>
            <a:ext cx="2889504" cy="367131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小さくテストする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380744"/>
            <a:ext cx="2615184" cy="312267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ルールを書き換えた後は、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AI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の振る舞いが期待通りかを小さなタスクで確認する。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変更直後に簡単な修正依頼を出し、探索順序や検証コマンドを見る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期待と違う場合は、抽象語を行動レベルの指示へ変える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うまく効いたルールは、他プロジェクトへ横展開できる形に整える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6EFC7213-FB68-4A67-9309-DDCADA78CE0F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55625B85-C2CA-4192-9730-7086E15FA186}" type="slidecount">
              <a:rPr lang="ja-JP" smtClean="0" sz="1000">
                <a:solidFill>
                  <a:srgbClr val="888888"/>
                </a:solidFill>
              </a:rPr>
              <a:t>10</a:t>
            </a:fld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en-US" sz="2400" b="1" i="0" dirty="0">
                <a:solidFill>
                  <a:srgbClr val="FFFFFF"/>
                </a:solidFill>
                <a:latin typeface="Segoe UI"/>
              </a:rPr>
              <a:t>3</a:t>
            </a:r>
            <a:r>
              <a:rPr lang="ja-JP" sz="2400" b="1" i="0" dirty="0">
                <a:solidFill>
                  <a:srgbClr val="FFFFFF"/>
                </a:solidFill>
                <a:ea typeface="Meiryo"/>
              </a:rPr>
              <a:t>レイヤーで</a:t>
            </a:r>
            <a:r>
              <a:rPr lang="en-US" sz="2400" b="1" i="0" dirty="0">
                <a:solidFill>
                  <a:srgbClr val="FFFFFF"/>
                </a:solidFill>
                <a:latin typeface="Segoe UI"/>
              </a:rPr>
              <a:t>Takuya</a:t>
            </a:r>
            <a:r>
              <a:rPr lang="ja-JP" sz="2400" b="1" i="0" dirty="0">
                <a:solidFill>
                  <a:srgbClr val="FFFFFF"/>
                </a:solidFill>
                <a:ea typeface="Meiryo"/>
              </a:rPr>
              <a:t>環境に合わせる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200" b="0" i="0" dirty="0">
                <a:solidFill>
                  <a:srgbClr val="FFFFFF"/>
                </a:solidFill>
                <a:ea typeface="Meiryo"/>
              </a:rPr>
              <a:t>共通の好み、プロジェクト制約、ディレクトリ固有ルールを分ける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941832"/>
            <a:ext cx="8814816" cy="844677"/>
          </a:xfrm>
          <a:prstGeom prst="rect">
            <a:avLst/>
          </a:prstGeom>
          <a:solidFill>
            <a:srgbClr val="E8EDF2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1" y="1051560"/>
            <a:ext cx="8540496" cy="625221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2160"/>
              </a:lnSpc>
            </a:pP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Takuya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さんの運用では、すべてを</a:t>
            </a: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1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つの</a:t>
            </a: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CLAUDE.md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へ詰め込まず、効かせたい範囲ごとにルールを分けることで、</a:t>
            </a: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AI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の初動と安全性を両立できる。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859661"/>
            <a:ext cx="2889504" cy="275348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1" y="1969389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グローバル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1" y="2225421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1" y="2298573"/>
            <a:ext cx="2615184" cy="2204847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全プロジェクトに共通する性格や好みを置く層である。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日本語での回答、テスト重視、説明の粒度などを固定する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個別技術に依存しないため、全作業で効いても邪魔になりにくい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59661"/>
            <a:ext cx="2889504" cy="275348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969389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プロジェクト単位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2225421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2298573"/>
            <a:ext cx="2615184" cy="2204847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対象リポジトリの技術と危険操作を扱う層である。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使用フレームワーク、ディレクトリ構成、実行コマンドを明示する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本番環境や秘密情報など、推測で触ると危険な対象を禁止する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859661"/>
            <a:ext cx="2889504" cy="2753486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969389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ディレクトリ単位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7064" y="2225421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2298573"/>
            <a:ext cx="2615184" cy="2204847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作業場所ごとに違う判断を、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rules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で局所的に効かせる層である。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フロントエンド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UI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と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PowerShell/Python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操作を分離する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今触っている領域だけに必要なルールを読ませ、余計なノイズを減らす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EE627DED-4A02-4EF8-9B0E-21EC2C0EC8A5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A6C9633F-C749-47BF-888F-F40692CB2B9B}" type="slidecount">
              <a:rPr lang="ja-JP" smtClean="0" sz="1000">
                <a:solidFill>
                  <a:srgbClr val="888888"/>
                </a:solidFill>
              </a:rPr>
              <a:t>10</a:t>
            </a:fld>
          </a:p>
        </p:txBody>
      </p:sp>
      <p:pic>
        <p:nvPicPr>
          <p:cNvPr id="21" name="Picture 2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