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firstSlideNum="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本資料は、CLAUDE.mdを単なる設定ファイルではなく、AIの振る舞いをプロジェクト基準へそろえるための設計文書として捉え直すものである。Auto memoryとの違い、書くべき内容、章立て、運用改善までを一連の実務として整理する。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全体像を確認する。CLAUDE.mdは、何を書くかだけでなく、何を書かないかによって効き方が変わる。ここでは正体と役割分担から入り、設計密度、章立て、スコープ分離、用途別テンプレート、最後に継続運用へ進む構成である。各章は独立した知識ではなく、AIに与える文脈をどう整えるかという一つの判断へつながっている。</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押さえるべき前提は、CLAUDE.mdが単なるメモではなく、セッション開始時にAIへ渡される行動基準である点である。毎回同じ説明を繰り返さずに済むだけでなく、プロジェクト固有の前提、禁止事項、作業手順を安定して反映できる。だからこそ、会話でその場限りに依頼すべき内容と、常に守らせる内容を分ける必要がある。</a:t>
            </a:r>
          </a:p>
          <a:p/>
          <a:p>
            <a:r>
              <a:t>---</a:t>
            </a:r>
          </a:p>
          <a:p/>
          <a:p>
            <a:r>
              <a:t>[nanobanana2 icon prompt]</a:t>
            </a:r>
          </a:p>
          <a:p>
            <a:r>
              <a:t>Create a 3:1 horizontal icon strip with three equal square icons, white background, minimal flat business style, very small outer margins, no top or bottom whitespace. Left icon: a document labeled CLAUDE.md with a small lock symbol. Center icon: a session start screen receiving rules. Right icon: a checklist aligning AI behavior to a project baseline. Keep the three icons same size, same color palette, centered in equal regions, easy to crop horizontally. Avoid vertical presentation-card composition.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混同しやすいのは、CLAUDE.mdもMEMORY.mdもコンテキストであるため、同じ置き場に見えてしまう点である。しかし、CLAUDE.mdはユーザーが明示的に定義する強制指示であり、MEMORY.mdはAIが作業を通じて学んだ傾向を残す場所である。設計上は、必ず守る約束をCLAUDE.mdへ、よくある好みや最近の対処法をMEMORY.mdへ逃がすと、ノイズを増やさずに文脈を保てる。</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長さと粒度の話は、単に読みやすさの問題ではない。AIにとって、長すぎるルールは重要度の差が見えにくく、抽象的なルールは行動に変換しにくい。良いCLAUDE.mdでは、1ルールを1文に近づけ、宣言調で書き、実行できるコマンドや判断として表現する。これにより、AIは意図を推測するのではなく、次に取る行動として処理できる。</a:t>
            </a:r>
          </a:p>
          <a:p/>
          <a:p>
            <a:r>
              <a:t>---</a:t>
            </a:r>
          </a:p>
          <a:p/>
          <a:p>
            <a:r>
              <a:t>[nanobanana2 icon prompt]</a:t>
            </a:r>
          </a:p>
          <a:p>
            <a:r>
              <a:t>Create a 3:1 horizontal icon strip with three equal square icons, white background, minimal flat business style, tiny outer margins, no top or bottom whitespace. Left icon: a short rule sentence on a document. Center icon: a decisive stamp saying DO as a tiny Japanese tag 「実行」. Right icon: a terminal command checklist with a green check. Same icon size, same palette, centered in three equal crop regions. Avoid vertical presentation-card composition.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表は章立ての羅列ではなく、AIが作業前に何を知らないと危ないかを整理した地図である。プロジェクト概要は目的を伝え、技術スタックは選択肢を狭め、ディレクトリ構成は探索の起点を与える。さらにコマンド、規約、ワークフロー、落とし穴まで書くことで、AIの提案と実行が現場の制約から外れにくくなる。</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大規模なリポジトリでは、すべてのルールを1つのCLAUDE.mdへ詰めるほど、関係のない指示も毎回読み込まれる。実際に進める時は、ルートの共通ルールを薄く保ち、frontendやinfraのような領域別ルールを分けるのが有効である。AIは今触っている場所に近いルールを優先でき、設計判断や禁止事項の取り違えが起きにくくなる。</a:t>
            </a:r>
          </a:p>
          <a:p/>
          <a:p>
            <a:r>
              <a:t>---</a:t>
            </a:r>
          </a:p>
          <a:p/>
          <a:p>
            <a:r>
              <a:t>[nanobanana2 icon prompt]</a:t>
            </a:r>
          </a:p>
          <a:p>
            <a:r>
              <a:t>Create a 3:1 horizontal icon strip with three equal square icons, white background, minimal flat repository style, tiny outer margins, no top or bottom whitespace. Left icon: a root folder with CLAUDE.md. Center icon: nested folders labeled frontend and infra with small rule sheets. Right icon: a focused spotlight on the active folder rules. Same size, same palette, centered in equal crop regions. Avoid vertical presentation-card composition.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mdのテンプレートは、どの現場にも同じ形で当てるものではない。WebアプリではUIライブラリやAPI配置が重要になり、データ分析では保存場所や再現性が重要になる。スクリプトや自動化では対象OS、シェル、安全策、ログの置き方が品質を左右する。用途ごとの失敗しやすい前提を先に書くほど、AIの初手が現場に合いやすくなる。</a:t>
            </a:r>
          </a:p>
          <a:p/>
          <a:p>
            <a:r>
              <a:t>---</a:t>
            </a:r>
          </a:p>
          <a:p/>
          <a:p>
            <a:r>
              <a:t>[nanobanana2 icon prompt]</a:t>
            </a:r>
          </a:p>
          <a:p>
            <a:r>
              <a:t>Create a 3:1 horizontal icon strip with three equal square icons, white background, minimal flat technical style, tiny margins, no top or bottom whitespace. Left icon: a web app window with component blocks. Center icon: a data table and chart with a seed marker. Right icon: a PowerShell terminal with a safety shield. Same icon size, same colors, centered in three equal crop regions, easy horizontal crop. Avoid vertical presentation-card composition.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の話を運用に変えると、CLAUDE.mdは最初から完成させる文書ではなく、会話で繰り返された注意を吸い上げて育てる文書である。2回同じ注意をしたらルール化し、古くなった技術スタックや形骸化した制約は削る。さらに、書き換えた後は小さなタスクでAIの挙動を確認することで、ルールが本当に効いているかを検証できる。</a:t>
            </a:r>
          </a:p>
          <a:p/>
          <a:p>
            <a:r>
              <a:t>---</a:t>
            </a:r>
          </a:p>
          <a:p/>
          <a:p>
            <a:r>
              <a:t>[nanobanana2 icon prompt]</a:t>
            </a:r>
          </a:p>
          <a:p>
            <a:r>
              <a:t>Create a 3:1 horizontal icon strip with three equal square icons, white background, minimal flat operations style, small outer margins, no top or bottom whitespace. Left icon: two repeated chat warnings becoming a rule document. Center icon: pruning outdated rule sheets. Right icon: a small test task with behavior check marks. Same size, same palette, centered in equal horizontal crop regions. Avoid vertical presentation-card composition.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持ち帰るべき判断は、すべてを一つのCLAUDE.mdへ集めるのではなく、ルールの射程ごとに置き場所を分けることである。個人の好みはグローバルへ、案件固有の技術や危険操作はプロジェクトへ、UIやインフラのような領域差はディレクトリ単位へ置く。こうすると、AIは常に必要な前提を受け取りつつ、不要な文脈で判断を濁らせにくくな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background.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457200" y="1243584"/>
            <a:ext cx="5029200" cy="1234440"/>
          </a:xfrm>
          <a:prstGeom prst="rect">
            <a:avLst/>
          </a:prstGeom>
          <a:noFill/>
          <a:effectLst/>
        </p:spPr>
        <p:txBody>
          <a:bodyPr wrap="none" lIns="0" rIns="0" tIns="0" bIns="0" anchor="b">
            <a:noAutofit/>
          </a:bodyPr>
          <a:lstStyle/>
          <a:p>
            <a:pPr>
              <a:lnSpc>
                <a:spcPts val="3919"/>
              </a:lnSpc>
            </a:pPr>
            <a:r>
              <a:rPr lang="en-US" sz="2800" b="1" i="0" dirty="0">
                <a:solidFill>
                  <a:srgbClr val="000000"/>
                </a:solidFill>
                <a:latin typeface="Segoe UI"/>
              </a:rPr>
              <a:t>CLAUDE.md</a:t>
            </a:r>
            <a:r>
              <a:rPr lang="ja-JP" sz="2800" b="1" i="0" dirty="0">
                <a:solidFill>
                  <a:srgbClr val="000000"/>
                </a:solidFill>
                <a:ea typeface="Meiryo"/>
              </a:rPr>
              <a:t>設計の実務原則</a:t>
            </a:r>
          </a:p>
          <a:p>
            <a:pPr>
              <a:lnSpc>
                <a:spcPts val="3919"/>
              </a:lnSpc>
            </a:pPr>
            <a:r>
              <a:rPr lang="en-US" sz="2800" b="1" i="0" dirty="0">
                <a:solidFill>
                  <a:srgbClr val="000000"/>
                </a:solidFill>
                <a:latin typeface="Segoe UI"/>
              </a:rPr>
              <a:t>AI</a:t>
            </a:r>
            <a:r>
              <a:rPr lang="ja-JP" sz="2800" b="1" i="0" dirty="0">
                <a:solidFill>
                  <a:srgbClr val="000000"/>
                </a:solidFill>
                <a:ea typeface="Meiryo"/>
              </a:rPr>
              <a:t>の行動を安定させるルールブックとして育てる</a:t>
            </a:r>
          </a:p>
        </p:txBody>
      </p:sp>
      <p:sp>
        <p:nvSpPr>
          <p:cNvPr id="4" name="Rectangle 3"/>
          <p:cNvSpPr/>
          <p:nvPr/>
        </p:nvSpPr>
        <p:spPr>
          <a:xfrm>
            <a:off x="457200" y="2569464"/>
            <a:ext cx="3657600" cy="9525"/>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752344"/>
            <a:ext cx="5029200" cy="320040"/>
          </a:xfrm>
          <a:prstGeom prst="rect">
            <a:avLst/>
          </a:prstGeom>
          <a:noFill/>
          <a:effectLst/>
        </p:spPr>
        <p:txBody>
          <a:bodyPr wrap="square" lIns="0" rIns="0" tIns="0" bIns="0" anchor="ctr">
            <a:noAutofit/>
          </a:bodyPr>
          <a:lstStyle/>
          <a:p>
            <a:r>
              <a:rPr lang="en-US" sz="1600" b="0" i="0" dirty="0">
                <a:solidFill>
                  <a:srgbClr val="333333"/>
                </a:solidFill>
                <a:latin typeface="Segoe UI"/>
              </a:rPr>
              <a:t>Codex Working Deck</a:t>
            </a:r>
          </a:p>
        </p:txBody>
      </p:sp>
      <p:sp>
        <p:nvSpPr>
          <p:cNvPr id="6" name="TextBox 5"/>
          <p:cNvSpPr txBox="1"/>
          <p:nvPr/>
        </p:nvSpPr>
        <p:spPr>
          <a:xfrm>
            <a:off x="457200" y="3072384"/>
            <a:ext cx="5029200" cy="320040"/>
          </a:xfrm>
          <a:prstGeom prst="rect">
            <a:avLst/>
          </a:prstGeom>
          <a:noFill/>
          <a:effectLst/>
        </p:spPr>
        <p:txBody>
          <a:bodyPr wrap="square" lIns="0" rIns="0" tIns="0" bIns="0" anchor="ctr">
            <a:noAutofit/>
          </a:bodyPr>
          <a:lstStyle/>
          <a:p>
            <a:r>
              <a:rPr lang="ja-JP" sz="1600" b="0" i="0" dirty="0">
                <a:solidFill>
                  <a:srgbClr val="333333"/>
                </a:solidFill>
                <a:ea typeface="Meiryo"/>
              </a:rPr>
              <a:t>山田</a:t>
            </a:r>
            <a:r>
              <a:rPr lang="en-US" sz="1600" b="0" i="0" dirty="0">
                <a:solidFill>
                  <a:srgbClr val="333333"/>
                </a:solidFill>
                <a:latin typeface="Segoe UI"/>
              </a:rPr>
              <a:t> </a:t>
            </a:r>
            <a:r>
              <a:rPr lang="ja-JP" sz="1600" b="0" i="0" dirty="0">
                <a:solidFill>
                  <a:srgbClr val="333333"/>
                </a:solidFill>
                <a:ea typeface="Meiryo"/>
              </a:rPr>
              <a:t>花子</a:t>
            </a:r>
          </a:p>
        </p:txBody>
      </p:sp>
      <p:sp>
        <p:nvSpPr>
          <p:cNvPr id="7" name="TextBox 6"/>
          <p:cNvSpPr txBox="1"/>
          <p:nvPr/>
        </p:nvSpPr>
        <p:spPr>
          <a:xfrm>
            <a:off x="457200" y="3392424"/>
            <a:ext cx="5029200" cy="320040"/>
          </a:xfrm>
          <a:prstGeom prst="rect">
            <a:avLst/>
          </a:prstGeom>
          <a:noFill/>
          <a:effectLst/>
        </p:spPr>
        <p:txBody>
          <a:bodyPr wrap="square" lIns="0" rIns="0" tIns="0" bIns="0" anchor="ctr">
            <a:noAutofit/>
          </a:bodyPr>
          <a:lstStyle/>
          <a:p>
            <a:r>
              <a:rPr lang="en-US" sz="1600" b="0" i="0" dirty="0">
                <a:solidFill>
                  <a:srgbClr val="333333"/>
                </a:solidFill>
                <a:latin typeface="Segoe UI"/>
              </a:rPr>
              <a:t>2026-05-01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77240"/>
          </a:xfrm>
          <a:prstGeom prst="rect">
            <a:avLst/>
          </a:prstGeom>
          <a:solidFill>
            <a:srgbClr val="4A4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85039"/>
            <a:ext cx="8686800" cy="411480"/>
          </a:xfrm>
          <a:prstGeom prst="rect">
            <a:avLst/>
          </a:prstGeom>
          <a:noFill/>
          <a:effectLst/>
        </p:spPr>
        <p:txBody>
          <a:bodyPr wrap="square" lIns="0" rIns="0" tIns="0" bIns="0" anchor="ctr">
            <a:noAutofit/>
          </a:bodyPr>
          <a:lstStyle/>
          <a:p>
            <a:r>
              <a:rPr lang="ja-JP" sz="2400" b="1" i="0" dirty="0">
                <a:solidFill>
                  <a:srgbClr val="FFFFFF"/>
                </a:solidFill>
                <a:ea typeface="Meiryo"/>
              </a:rPr>
              <a:t>目次</a:t>
            </a:r>
          </a:p>
        </p:txBody>
      </p:sp>
      <p:sp>
        <p:nvSpPr>
          <p:cNvPr id="4" name="TextBox 3"/>
          <p:cNvSpPr txBox="1"/>
          <p:nvPr/>
        </p:nvSpPr>
        <p:spPr>
          <a:xfrm>
            <a:off x="228600" y="523036"/>
            <a:ext cx="8686800" cy="274320"/>
          </a:xfrm>
          <a:prstGeom prst="rect">
            <a:avLst/>
          </a:prstGeom>
          <a:noFill/>
          <a:effectLst/>
        </p:spPr>
        <p:txBody>
          <a:bodyPr wrap="square" lIns="0" rIns="0" tIns="0" bIns="0" anchor="ctr">
            <a:noAutofit/>
          </a:bodyPr>
          <a:lstStyle/>
          <a:p>
            <a:r>
              <a:rPr lang="ja-JP" sz="1200" b="0" i="0" dirty="0">
                <a:solidFill>
                  <a:srgbClr val="FFFFFF"/>
                </a:solidFill>
                <a:ea typeface="Meiryo"/>
              </a:rPr>
              <a:t>設計論点を章ごとにたどる</a:t>
            </a:r>
          </a:p>
        </p:txBody>
      </p:sp>
      <p:sp>
        <p:nvSpPr>
          <p:cNvPr id="5" name="TextBox 4"/>
          <p:cNvSpPr txBox="1"/>
          <p:nvPr/>
        </p:nvSpPr>
        <p:spPr>
          <a:xfrm>
            <a:off x="393192" y="1033272"/>
            <a:ext cx="3913632" cy="3488435"/>
          </a:xfrm>
          <a:prstGeom prst="rect">
            <a:avLst/>
          </a:prstGeom>
          <a:noFill/>
          <a:effectLst/>
        </p:spPr>
        <p:txBody>
          <a:bodyPr wrap="square" lIns="0" rIns="0" tIns="0" bIns="0">
            <a:noAutofit/>
          </a:bodyPr>
          <a:lstStyle/>
          <a:p>
            <a:pPr>
              <a:spcBef>
                <a:spcPts val="0"/>
              </a:spcBef>
              <a:spcAft>
                <a:spcPts val="300"/>
              </a:spcAft>
              <a:buNone/>
              <a:lnSpc>
                <a:spcPts val="1679"/>
              </a:lnSpc>
            </a:pPr>
            <a:r>
              <a:rPr lang="ja-JP" sz="1200" b="1" i="0" dirty="0">
                <a:solidFill>
                  <a:srgbClr val="333333"/>
                </a:solidFill>
                <a:ea typeface="Meiryo"/>
              </a:rPr>
              <a:t>基本理解</a:t>
            </a:r>
          </a:p>
          <a:p>
            <a:pPr marL="228600" indent="-228600">
              <a:spcBef>
                <a:spcPts val="0"/>
              </a:spcBef>
              <a:spcAft>
                <a:spcPts val="400"/>
              </a:spcAft>
              <a:buChar char="•"/>
              <a:lnSpc>
                <a:spcPts val="2160"/>
              </a:lnSpc>
            </a:pPr>
            <a:r>
              <a:rPr lang="en-US" sz="1200" b="0" i="0" dirty="0">
                <a:solidFill>
                  <a:srgbClr val="333333"/>
                </a:solidFill>
                <a:latin typeface="Segoe UI"/>
              </a:rPr>
              <a:t>CLAUDE.md</a:t>
            </a:r>
            <a:r>
              <a:rPr lang="ja-JP" sz="1200" b="0" i="0" dirty="0">
                <a:solidFill>
                  <a:srgbClr val="333333"/>
                </a:solidFill>
                <a:ea typeface="Meiryo"/>
              </a:rPr>
              <a:t>は</a:t>
            </a:r>
            <a:r>
              <a:rPr lang="en-US" sz="1200" b="0" i="0" dirty="0">
                <a:solidFill>
                  <a:srgbClr val="333333"/>
                </a:solidFill>
                <a:latin typeface="Segoe UI"/>
              </a:rPr>
              <a:t>AI</a:t>
            </a:r>
            <a:r>
              <a:rPr lang="ja-JP" sz="1200" b="0" i="0" dirty="0">
                <a:solidFill>
                  <a:srgbClr val="333333"/>
                </a:solidFill>
                <a:ea typeface="Meiryo"/>
              </a:rPr>
              <a:t>の行動基準を固定する</a:t>
            </a:r>
          </a:p>
          <a:p>
            <a:pPr marL="228600" indent="-228600">
              <a:spcBef>
                <a:spcPts val="0"/>
              </a:spcBef>
              <a:spcAft>
                <a:spcPts val="400"/>
              </a:spcAft>
              <a:buChar char="•"/>
              <a:lnSpc>
                <a:spcPts val="2160"/>
              </a:lnSpc>
            </a:pPr>
            <a:r>
              <a:rPr lang="en-US" sz="1200" b="0" i="0" dirty="0">
                <a:solidFill>
                  <a:srgbClr val="333333"/>
                </a:solidFill>
                <a:latin typeface="Segoe UI"/>
              </a:rPr>
              <a:t>MEMORY.md</a:t>
            </a:r>
            <a:r>
              <a:rPr lang="ja-JP" sz="1200" b="0" i="0" dirty="0">
                <a:solidFill>
                  <a:srgbClr val="333333"/>
                </a:solidFill>
                <a:ea typeface="Meiryo"/>
              </a:rPr>
              <a:t>とは役割と責任が異なる</a:t>
            </a:r>
          </a:p>
          <a:p>
            <a:pPr marL="228600" indent="-228600">
              <a:spcBef>
                <a:spcPts val="0"/>
              </a:spcBef>
              <a:spcAft>
                <a:spcPts val="400"/>
              </a:spcAft>
              <a:buChar char="•"/>
              <a:lnSpc>
                <a:spcPts val="2160"/>
              </a:lnSpc>
            </a:pPr>
            <a:r>
              <a:rPr lang="ja-JP" sz="1200" b="0" i="0" dirty="0">
                <a:solidFill>
                  <a:srgbClr val="333333"/>
                </a:solidFill>
                <a:ea typeface="Meiryo"/>
              </a:rPr>
              <a:t>書く量よりも、守らせる粒度が成果を左右する</a:t>
            </a:r>
          </a:p>
          <a:p>
            <a:pPr>
              <a:spcBef>
                <a:spcPts val="800"/>
              </a:spcBef>
              <a:spcAft>
                <a:spcPts val="300"/>
              </a:spcAft>
              <a:buNone/>
              <a:lnSpc>
                <a:spcPts val="1679"/>
              </a:lnSpc>
            </a:pPr>
            <a:r>
              <a:rPr lang="ja-JP" sz="1200" b="1" i="0" dirty="0">
                <a:solidFill>
                  <a:srgbClr val="333333"/>
                </a:solidFill>
                <a:ea typeface="Meiryo"/>
              </a:rPr>
              <a:t>実装設計</a:t>
            </a:r>
          </a:p>
          <a:p>
            <a:pPr marL="228600" indent="-228600">
              <a:spcBef>
                <a:spcPts val="0"/>
              </a:spcBef>
              <a:spcAft>
                <a:spcPts val="400"/>
              </a:spcAft>
              <a:buChar char="•"/>
              <a:lnSpc>
                <a:spcPts val="2160"/>
              </a:lnSpc>
            </a:pPr>
            <a:r>
              <a:rPr lang="en-US" sz="1200" b="0" i="0" dirty="0">
                <a:solidFill>
                  <a:srgbClr val="333333"/>
                </a:solidFill>
                <a:latin typeface="Segoe UI"/>
              </a:rPr>
              <a:t>CLAUDE.md</a:t>
            </a:r>
            <a:r>
              <a:rPr lang="ja-JP" sz="1200" b="0" i="0" dirty="0">
                <a:solidFill>
                  <a:srgbClr val="333333"/>
                </a:solidFill>
                <a:ea typeface="Meiryo"/>
              </a:rPr>
              <a:t>は毎回読み込まれる行動基準である</a:t>
            </a:r>
          </a:p>
          <a:p>
            <a:pPr marL="228600" indent="-228600">
              <a:spcBef>
                <a:spcPts val="0"/>
              </a:spcBef>
              <a:spcAft>
                <a:spcPts val="400"/>
              </a:spcAft>
              <a:buChar char="•"/>
              <a:lnSpc>
                <a:spcPts val="2160"/>
              </a:lnSpc>
            </a:pPr>
            <a:r>
              <a:rPr lang="en-US" sz="1200" b="0" i="0" dirty="0">
                <a:solidFill>
                  <a:srgbClr val="333333"/>
                </a:solidFill>
                <a:latin typeface="Segoe UI"/>
              </a:rPr>
              <a:t>MEMORY.md</a:t>
            </a:r>
            <a:r>
              <a:rPr lang="ja-JP" sz="1200" b="0" i="0" dirty="0">
                <a:solidFill>
                  <a:srgbClr val="333333"/>
                </a:solidFill>
                <a:ea typeface="Meiryo"/>
              </a:rPr>
              <a:t>には弱い好みと学習結果を逃がす</a:t>
            </a:r>
          </a:p>
          <a:p>
            <a:pPr marL="228600" indent="-228600">
              <a:spcBef>
                <a:spcPts val="0"/>
              </a:spcBef>
              <a:spcAft>
                <a:spcPts val="400"/>
              </a:spcAft>
              <a:buChar char="•"/>
              <a:lnSpc>
                <a:spcPts val="2160"/>
              </a:lnSpc>
            </a:pPr>
            <a:r>
              <a:rPr lang="ja-JP" sz="1200" b="0" i="0" dirty="0">
                <a:solidFill>
                  <a:srgbClr val="333333"/>
                </a:solidFill>
                <a:ea typeface="Meiryo"/>
              </a:rPr>
              <a:t>良いルールは短く、具体的で、実行できる</a:t>
            </a:r>
          </a:p>
        </p:txBody>
      </p:sp>
      <p:sp>
        <p:nvSpPr>
          <p:cNvPr id="6" name="TextBox 5"/>
          <p:cNvSpPr txBox="1"/>
          <p:nvPr/>
        </p:nvSpPr>
        <p:spPr>
          <a:xfrm>
            <a:off x="4837176" y="1033272"/>
            <a:ext cx="3913632" cy="3488435"/>
          </a:xfrm>
          <a:prstGeom prst="rect">
            <a:avLst/>
          </a:prstGeom>
          <a:noFill/>
          <a:effectLst/>
        </p:spPr>
        <p:txBody>
          <a:bodyPr wrap="square" lIns="0" rIns="0" tIns="0" bIns="0">
            <a:noAutofit/>
          </a:bodyPr>
          <a:lstStyle/>
          <a:p>
            <a:pPr>
              <a:spcBef>
                <a:spcPts val="0"/>
              </a:spcBef>
              <a:spcAft>
                <a:spcPts val="300"/>
              </a:spcAft>
              <a:buNone/>
              <a:lnSpc>
                <a:spcPts val="1679"/>
              </a:lnSpc>
            </a:pPr>
            <a:r>
              <a:rPr lang="en-US" sz="1200" b="1" i="0" dirty="0">
                <a:solidFill>
                  <a:srgbClr val="333333"/>
                </a:solidFill>
                <a:latin typeface="Segoe UI"/>
              </a:rPr>
              <a:t>overflow</a:t>
            </a:r>
          </a:p>
          <a:p>
            <a:pPr marL="228600" indent="-228600">
              <a:spcBef>
                <a:spcPts val="0"/>
              </a:spcBef>
              <a:spcAft>
                <a:spcPts val="400"/>
              </a:spcAft>
              <a:buChar char="•"/>
              <a:lnSpc>
                <a:spcPts val="2160"/>
              </a:lnSpc>
            </a:pPr>
            <a:r>
              <a:rPr lang="en-US" sz="1200" b="0" i="0" dirty="0">
                <a:solidFill>
                  <a:srgbClr val="333333"/>
                </a:solidFill>
                <a:latin typeface="Segoe UI"/>
              </a:rPr>
              <a:t>7</a:t>
            </a:r>
            <a:r>
              <a:rPr lang="ja-JP" sz="1200" b="0" i="0" dirty="0">
                <a:solidFill>
                  <a:srgbClr val="333333"/>
                </a:solidFill>
                <a:ea typeface="Meiryo"/>
              </a:rPr>
              <a:t>章立てで</a:t>
            </a:r>
            <a:r>
              <a:rPr lang="en-US" sz="1200" b="0" i="0" dirty="0">
                <a:solidFill>
                  <a:srgbClr val="333333"/>
                </a:solidFill>
                <a:latin typeface="Segoe UI"/>
              </a:rPr>
              <a:t>AI</a:t>
            </a:r>
            <a:r>
              <a:rPr lang="ja-JP" sz="1200" b="0" i="0" dirty="0">
                <a:solidFill>
                  <a:srgbClr val="333333"/>
                </a:solidFill>
                <a:ea typeface="Meiryo"/>
              </a:rPr>
              <a:t>に必要な地図を渡す</a:t>
            </a:r>
          </a:p>
          <a:p>
            <a:pPr marL="228600" indent="-228600">
              <a:spcBef>
                <a:spcPts val="0"/>
              </a:spcBef>
              <a:spcAft>
                <a:spcPts val="400"/>
              </a:spcAft>
              <a:buChar char="•"/>
              <a:lnSpc>
                <a:spcPts val="2160"/>
              </a:lnSpc>
            </a:pPr>
            <a:r>
              <a:rPr lang="en-US" sz="1200" b="0" i="0" dirty="0">
                <a:solidFill>
                  <a:srgbClr val="333333"/>
                </a:solidFill>
                <a:latin typeface="Segoe UI"/>
              </a:rPr>
              <a:t>rules</a:t>
            </a:r>
            <a:r>
              <a:rPr lang="ja-JP" sz="1200" b="0" i="0" dirty="0">
                <a:solidFill>
                  <a:srgbClr val="333333"/>
                </a:solidFill>
                <a:ea typeface="Meiryo"/>
              </a:rPr>
              <a:t>で文脈を局所化し、認知負荷を下げる</a:t>
            </a:r>
          </a:p>
          <a:p>
            <a:pPr marL="228600" indent="-228600">
              <a:spcBef>
                <a:spcPts val="0"/>
              </a:spcBef>
              <a:spcAft>
                <a:spcPts val="400"/>
              </a:spcAft>
              <a:buChar char="•"/>
              <a:lnSpc>
                <a:spcPts val="2160"/>
              </a:lnSpc>
            </a:pPr>
            <a:r>
              <a:rPr lang="ja-JP" sz="1200" b="0" i="0" dirty="0">
                <a:solidFill>
                  <a:srgbClr val="333333"/>
                </a:solidFill>
                <a:ea typeface="Meiryo"/>
              </a:rPr>
              <a:t>用途別テンプレートは現場制約から作る</a:t>
            </a:r>
          </a:p>
          <a:p>
            <a:pPr marL="228600" indent="-228600">
              <a:spcBef>
                <a:spcPts val="0"/>
              </a:spcBef>
              <a:spcAft>
                <a:spcPts val="400"/>
              </a:spcAft>
              <a:buChar char="•"/>
              <a:lnSpc>
                <a:spcPts val="2160"/>
              </a:lnSpc>
            </a:pPr>
            <a:r>
              <a:rPr lang="en-US" sz="1200" b="0" i="0" dirty="0">
                <a:solidFill>
                  <a:srgbClr val="333333"/>
                </a:solidFill>
                <a:latin typeface="Segoe UI"/>
              </a:rPr>
              <a:t>CLAUDE.md</a:t>
            </a:r>
            <a:r>
              <a:rPr lang="ja-JP" sz="1200" b="0" i="0" dirty="0">
                <a:solidFill>
                  <a:srgbClr val="333333"/>
                </a:solidFill>
                <a:ea typeface="Meiryo"/>
              </a:rPr>
              <a:t>は繰り返しの注意から育てる</a:t>
            </a:r>
          </a:p>
          <a:p>
            <a:pPr marL="228600" indent="-228600">
              <a:spcBef>
                <a:spcPts val="0"/>
              </a:spcBef>
              <a:spcAft>
                <a:spcPts val="400"/>
              </a:spcAft>
              <a:buChar char="•"/>
              <a:lnSpc>
                <a:spcPts val="2160"/>
              </a:lnSpc>
            </a:pPr>
            <a:r>
              <a:rPr lang="en-US" sz="1200" b="0" i="0" dirty="0">
                <a:solidFill>
                  <a:srgbClr val="333333"/>
                </a:solidFill>
                <a:latin typeface="Segoe UI"/>
              </a:rPr>
              <a:t>3</a:t>
            </a:r>
            <a:r>
              <a:rPr lang="ja-JP" sz="1200" b="0" i="0" dirty="0">
                <a:solidFill>
                  <a:srgbClr val="333333"/>
                </a:solidFill>
                <a:ea typeface="Meiryo"/>
              </a:rPr>
              <a:t>レイヤー構造で個人と案件のルールを分ける</a:t>
            </a:r>
          </a:p>
        </p:txBody>
      </p:sp>
      <p:sp>
        <p:nvSpPr>
          <p:cNvPr id="7" name="Rectangle 6"/>
          <p:cNvSpPr/>
          <p:nvPr/>
        </p:nvSpPr>
        <p:spPr>
          <a:xfrm>
            <a:off x="0" y="4777740"/>
            <a:ext cx="9144000" cy="9525"/>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4823459"/>
            <a:ext cx="1828800" cy="274320"/>
          </a:xfrm>
          <a:prstGeom prst="rect">
            <a:avLst/>
          </a:prstGeom>
          <a:noFill/>
        </p:spPr>
        <p:txBody>
          <a:bodyPr wrap="none" anchor="ctr" lIns="0" rIns="0" tIns="0" bIns="0">
            <a:spAutoFit/>
          </a:bodyPr>
          <a:lstStyle/>
          <a:p>
            <a:fld id="{8C24C042-B86A-47E2-8425-568AF30B9F57}" type="slidenum">
              <a:rPr lang="ja-JP" smtClean="0" sz="1000">
                <a:solidFill>
                  <a:srgbClr val="888888"/>
                </a:solidFill>
              </a:rPr>
              <a:t>&lt;#&gt;</a:t>
            </a:fld>
            <a:r>
              <a:rPr lang="ja-JP" smtClean="0" sz="1000">
                <a:solidFill>
                  <a:srgbClr val="888888"/>
                </a:solidFill>
              </a:rPr>
              <a:t>/</a:t>
            </a:r>
            <a:r>
              <a:rPr lang="ja-JP" smtClean="0" sz="1000">
                <a:solidFill>
                  <a:srgbClr val="888888"/>
                </a:solidFill>
              </a:rPr>
              <a:t>9</a:t>
            </a:r>
          </a:p>
        </p:txBody>
      </p:sp>
      <p:pic>
        <p:nvPicPr>
          <p:cNvPr id="9" name="Picture 8" descr="logo.png"/>
          <p:cNvPicPr>
            <a:picLocks noChangeAspect="1"/>
          </p:cNvPicPr>
          <p:nvPr/>
        </p:nvPicPr>
        <p:blipFill>
          <a:blip r:embed="rId2"/>
          <a:stretch>
            <a:fillRect/>
          </a:stretch>
        </p:blipFill>
        <p:spPr>
          <a:xfrm>
            <a:off x="8001000" y="4846320"/>
            <a:ext cx="762000" cy="228600"/>
          </a:xfrm>
          <a:prstGeom prst="rect">
            <a:avLst/>
          </a:prstGeom>
          <a:effectLst/>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77240"/>
          </a:xfrm>
          <a:prstGeom prst="rect">
            <a:avLst/>
          </a:prstGeom>
          <a:solidFill>
            <a:srgbClr val="4A4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85039"/>
            <a:ext cx="8686800" cy="411480"/>
          </a:xfrm>
          <a:prstGeom prst="rect">
            <a:avLst/>
          </a:prstGeom>
          <a:noFill/>
          <a:effectLst/>
        </p:spPr>
        <p:txBody>
          <a:bodyPr wrap="square" lIns="0" rIns="0" tIns="0" bIns="0" anchor="ctr">
            <a:noAutofit/>
          </a:bodyPr>
          <a:lstStyle/>
          <a:p>
            <a:r>
              <a:rPr lang="en-US" sz="2400" b="1" i="0" dirty="0">
                <a:solidFill>
                  <a:srgbClr val="FFFFFF"/>
                </a:solidFill>
                <a:latin typeface="Segoe UI"/>
              </a:rPr>
              <a:t>CLAUDE.md</a:t>
            </a:r>
            <a:r>
              <a:rPr lang="ja-JP" sz="2400" b="1" i="0" dirty="0">
                <a:solidFill>
                  <a:srgbClr val="FFFFFF"/>
                </a:solidFill>
                <a:ea typeface="Meiryo"/>
              </a:rPr>
              <a:t>は毎回読み込まれる行動基準である</a:t>
            </a:r>
          </a:p>
        </p:txBody>
      </p:sp>
      <p:sp>
        <p:nvSpPr>
          <p:cNvPr id="4" name="TextBox 3"/>
          <p:cNvSpPr txBox="1"/>
          <p:nvPr/>
        </p:nvSpPr>
        <p:spPr>
          <a:xfrm>
            <a:off x="228600" y="523036"/>
            <a:ext cx="8686800" cy="274320"/>
          </a:xfrm>
          <a:prstGeom prst="rect">
            <a:avLst/>
          </a:prstGeom>
          <a:noFill/>
          <a:effectLst/>
        </p:spPr>
        <p:txBody>
          <a:bodyPr wrap="square" lIns="0" rIns="0" tIns="0" bIns="0" anchor="ctr">
            <a:noAutofit/>
          </a:bodyPr>
          <a:lstStyle/>
          <a:p>
            <a:r>
              <a:rPr lang="ja-JP" sz="1200" b="0" i="0" dirty="0">
                <a:solidFill>
                  <a:srgbClr val="FFFFFF"/>
                </a:solidFill>
                <a:ea typeface="Meiryo"/>
              </a:rPr>
              <a:t>単発のお願いではなく、プロジェクトの標準動作を定義する</a:t>
            </a:r>
          </a:p>
        </p:txBody>
      </p:sp>
      <p:sp>
        <p:nvSpPr>
          <p:cNvPr id="5" name="Rectangle 4"/>
          <p:cNvSpPr/>
          <p:nvPr/>
        </p:nvSpPr>
        <p:spPr>
          <a:xfrm>
            <a:off x="164592" y="941832"/>
            <a:ext cx="8814816" cy="844677"/>
          </a:xfrm>
          <a:prstGeom prst="rect">
            <a:avLst/>
          </a:prstGeom>
          <a:solidFill>
            <a:srgbClr val="E8EDF2"/>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01751" y="1051560"/>
            <a:ext cx="8540496" cy="625221"/>
          </a:xfrm>
          <a:prstGeom prst="rect">
            <a:avLst/>
          </a:prstGeom>
          <a:noFill/>
          <a:effectLst/>
        </p:spPr>
        <p:txBody>
          <a:bodyPr wrap="square" lIns="0" rIns="0" tIns="0" bIns="0">
            <a:noAutofit/>
          </a:bodyPr>
          <a:lstStyle/>
          <a:p>
            <a:pPr>
              <a:spcBef>
                <a:spcPts val="0"/>
              </a:spcBef>
              <a:spcAft>
                <a:spcPts val="300"/>
              </a:spcAft>
              <a:buNone/>
              <a:lnSpc>
                <a:spcPts val="1820"/>
              </a:lnSpc>
            </a:pPr>
            <a:r>
              <a:rPr lang="ja-JP" sz="1300" b="1" i="0" dirty="0">
                <a:solidFill>
                  <a:srgbClr val="333333"/>
                </a:solidFill>
                <a:ea typeface="Meiryo"/>
              </a:rPr>
              <a:t>ルールブックとして扱う理由</a:t>
            </a:r>
          </a:p>
          <a:p>
            <a:pPr>
              <a:spcBef>
                <a:spcPts val="0"/>
              </a:spcBef>
              <a:spcAft>
                <a:spcPts val="400"/>
              </a:spcAft>
              <a:buNone/>
              <a:lnSpc>
                <a:spcPts val="2160"/>
              </a:lnSpc>
            </a:pPr>
            <a:r>
              <a:rPr lang="en-US" sz="1200" b="0" i="0" dirty="0">
                <a:solidFill>
                  <a:srgbClr val="333333"/>
                </a:solidFill>
                <a:latin typeface="Segoe UI"/>
              </a:rPr>
              <a:t>CLAUDE.md</a:t>
            </a:r>
            <a:r>
              <a:rPr lang="ja-JP" sz="1200" b="0" i="0" dirty="0">
                <a:solidFill>
                  <a:srgbClr val="333333"/>
                </a:solidFill>
                <a:ea typeface="Meiryo"/>
              </a:rPr>
              <a:t>は、</a:t>
            </a:r>
            <a:r>
              <a:rPr lang="en-US" sz="1200" b="0" i="0" dirty="0">
                <a:solidFill>
                  <a:srgbClr val="333333"/>
                </a:solidFill>
                <a:latin typeface="Segoe UI"/>
              </a:rPr>
              <a:t>AI</a:t>
            </a:r>
            <a:r>
              <a:rPr lang="ja-JP" sz="1200" b="0" i="0" dirty="0">
                <a:solidFill>
                  <a:srgbClr val="333333"/>
                </a:solidFill>
                <a:ea typeface="Meiryo"/>
              </a:rPr>
              <a:t>が作業を始めるたびに参照する「常設の前提」である。プロジェクトの安全策、判断基準、実行手順をここへ集約すると、会話ごとの揺れを抑えられる。</a:t>
            </a:r>
          </a:p>
        </p:txBody>
      </p:sp>
      <p:sp>
        <p:nvSpPr>
          <p:cNvPr id="7" name="Rectangle 6"/>
          <p:cNvSpPr/>
          <p:nvPr/>
        </p:nvSpPr>
        <p:spPr>
          <a:xfrm>
            <a:off x="164592" y="1859661"/>
            <a:ext cx="2889504" cy="2753486"/>
          </a:xfrm>
          <a:prstGeom prst="rect">
            <a:avLst/>
          </a:prstGeom>
          <a:solidFill>
            <a:srgbClr val="F5F5F5"/>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1751" y="1969389"/>
            <a:ext cx="2615184" cy="320040"/>
          </a:xfrm>
          <a:prstGeom prst="rect">
            <a:avLst/>
          </a:prstGeom>
          <a:noFill/>
          <a:effectLst/>
        </p:spPr>
        <p:txBody>
          <a:bodyPr wrap="square" lIns="0" rIns="0" tIns="0" bIns="0" anchor="t">
            <a:noAutofit/>
          </a:bodyPr>
          <a:lstStyle/>
          <a:p>
            <a:r>
              <a:rPr lang="ja-JP" sz="1400" b="1" i="0" dirty="0">
                <a:solidFill>
                  <a:srgbClr val="333333"/>
                </a:solidFill>
                <a:ea typeface="Meiryo"/>
              </a:rPr>
              <a:t>反復説明を減らす</a:t>
            </a:r>
          </a:p>
        </p:txBody>
      </p:sp>
      <p:sp>
        <p:nvSpPr>
          <p:cNvPr id="9" name="Rectangle 8"/>
          <p:cNvSpPr/>
          <p:nvPr/>
        </p:nvSpPr>
        <p:spPr>
          <a:xfrm>
            <a:off x="301751" y="2225421"/>
            <a:ext cx="2615184" cy="1270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1751" y="2298573"/>
            <a:ext cx="2615184" cy="2204847"/>
          </a:xfrm>
          <a:prstGeom prst="rect">
            <a:avLst/>
          </a:prstGeom>
          <a:noFill/>
          <a:effectLst/>
        </p:spPr>
        <p:txBody>
          <a:bodyPr wrap="square" lIns="0" rIns="0" tIns="0" bIns="0">
            <a:noAutofit/>
          </a:bodyPr>
          <a:lstStyle/>
          <a:p>
            <a:pPr>
              <a:spcBef>
                <a:spcPts val="0"/>
              </a:spcBef>
              <a:spcAft>
                <a:spcPts val="400"/>
              </a:spcAft>
              <a:buNone/>
              <a:lnSpc>
                <a:spcPts val="1980"/>
              </a:lnSpc>
            </a:pPr>
            <a:r>
              <a:rPr lang="ja-JP" sz="1100" b="0" i="0" dirty="0">
                <a:solidFill>
                  <a:srgbClr val="333333"/>
                </a:solidFill>
                <a:ea typeface="Meiryo"/>
              </a:rPr>
              <a:t>毎回伝える注意点を文書化し、開始時から同じ基準で作業させる。</a:t>
            </a:r>
          </a:p>
          <a:p>
            <a:pPr marL="228600" indent="-228600">
              <a:spcBef>
                <a:spcPts val="0"/>
              </a:spcBef>
              <a:spcAft>
                <a:spcPts val="400"/>
              </a:spcAft>
              <a:buChar char="•"/>
              <a:lnSpc>
                <a:spcPts val="1980"/>
              </a:lnSpc>
            </a:pPr>
            <a:r>
              <a:rPr lang="ja-JP" sz="1100" b="0" i="0" dirty="0">
                <a:solidFill>
                  <a:srgbClr val="333333"/>
                </a:solidFill>
                <a:ea typeface="Meiryo"/>
              </a:rPr>
              <a:t>禁止操作や必須コマンドを先に渡す</a:t>
            </a:r>
          </a:p>
          <a:p>
            <a:pPr marL="228600" indent="-228600">
              <a:spcBef>
                <a:spcPts val="0"/>
              </a:spcBef>
              <a:spcAft>
                <a:spcPts val="400"/>
              </a:spcAft>
              <a:buChar char="•"/>
              <a:lnSpc>
                <a:spcPts val="1980"/>
              </a:lnSpc>
            </a:pPr>
            <a:r>
              <a:rPr lang="ja-JP" sz="1100" b="0" i="0" dirty="0">
                <a:solidFill>
                  <a:srgbClr val="333333"/>
                </a:solidFill>
                <a:ea typeface="Meiryo"/>
              </a:rPr>
              <a:t>口頭の補足をルールへ昇格させる</a:t>
            </a:r>
          </a:p>
        </p:txBody>
      </p:sp>
      <p:sp>
        <p:nvSpPr>
          <p:cNvPr id="11" name="Rectangle 10"/>
          <p:cNvSpPr/>
          <p:nvPr/>
        </p:nvSpPr>
        <p:spPr>
          <a:xfrm>
            <a:off x="3127248" y="1859661"/>
            <a:ext cx="2889504" cy="2753486"/>
          </a:xfrm>
          <a:prstGeom prst="rect">
            <a:avLst/>
          </a:prstGeom>
          <a:solidFill>
            <a:srgbClr val="F5F5F5"/>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64408" y="1969389"/>
            <a:ext cx="2615184" cy="320040"/>
          </a:xfrm>
          <a:prstGeom prst="rect">
            <a:avLst/>
          </a:prstGeom>
          <a:noFill/>
          <a:effectLst/>
        </p:spPr>
        <p:txBody>
          <a:bodyPr wrap="square" lIns="0" rIns="0" tIns="0" bIns="0" anchor="t">
            <a:noAutofit/>
          </a:bodyPr>
          <a:lstStyle/>
          <a:p>
            <a:r>
              <a:rPr lang="ja-JP" sz="1400" b="1" i="0" dirty="0">
                <a:solidFill>
                  <a:srgbClr val="333333"/>
                </a:solidFill>
                <a:ea typeface="Meiryo"/>
              </a:rPr>
              <a:t>基準へ適合させる</a:t>
            </a:r>
          </a:p>
        </p:txBody>
      </p:sp>
      <p:sp>
        <p:nvSpPr>
          <p:cNvPr id="13" name="Rectangle 12"/>
          <p:cNvSpPr/>
          <p:nvPr/>
        </p:nvSpPr>
        <p:spPr>
          <a:xfrm>
            <a:off x="3264408" y="2225421"/>
            <a:ext cx="2615184" cy="1270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64408" y="2298573"/>
            <a:ext cx="2615184" cy="2204847"/>
          </a:xfrm>
          <a:prstGeom prst="rect">
            <a:avLst/>
          </a:prstGeom>
          <a:noFill/>
          <a:effectLst/>
        </p:spPr>
        <p:txBody>
          <a:bodyPr wrap="square" lIns="0" rIns="0" tIns="0" bIns="0">
            <a:noAutofit/>
          </a:bodyPr>
          <a:lstStyle/>
          <a:p>
            <a:pPr>
              <a:spcBef>
                <a:spcPts val="0"/>
              </a:spcBef>
              <a:spcAft>
                <a:spcPts val="400"/>
              </a:spcAft>
              <a:buNone/>
              <a:lnSpc>
                <a:spcPts val="1980"/>
              </a:lnSpc>
            </a:pPr>
            <a:r>
              <a:rPr lang="en-US" sz="1100" b="0" i="0" dirty="0">
                <a:solidFill>
                  <a:srgbClr val="333333"/>
                </a:solidFill>
                <a:latin typeface="Segoe UI"/>
              </a:rPr>
              <a:t>AI</a:t>
            </a:r>
            <a:r>
              <a:rPr lang="ja-JP" sz="1100" b="0" i="0" dirty="0">
                <a:solidFill>
                  <a:srgbClr val="333333"/>
                </a:solidFill>
                <a:ea typeface="Meiryo"/>
              </a:rPr>
              <a:t>の提案を一般論ではなく、プロジェクト固有の前提へ寄せる。</a:t>
            </a:r>
          </a:p>
          <a:p>
            <a:pPr marL="228600" indent="-228600">
              <a:spcBef>
                <a:spcPts val="0"/>
              </a:spcBef>
              <a:spcAft>
                <a:spcPts val="400"/>
              </a:spcAft>
              <a:buChar char="•"/>
              <a:lnSpc>
                <a:spcPts val="1980"/>
              </a:lnSpc>
            </a:pPr>
            <a:r>
              <a:rPr lang="ja-JP" sz="1100" b="0" i="0" dirty="0">
                <a:solidFill>
                  <a:srgbClr val="333333"/>
                </a:solidFill>
                <a:ea typeface="Meiryo"/>
              </a:rPr>
              <a:t>技術スタックと設計方針を固定する</a:t>
            </a:r>
          </a:p>
          <a:p>
            <a:pPr marL="228600" indent="-228600">
              <a:spcBef>
                <a:spcPts val="0"/>
              </a:spcBef>
              <a:spcAft>
                <a:spcPts val="400"/>
              </a:spcAft>
              <a:buChar char="•"/>
              <a:lnSpc>
                <a:spcPts val="1980"/>
              </a:lnSpc>
            </a:pPr>
            <a:r>
              <a:rPr lang="ja-JP" sz="1100" b="0" i="0" dirty="0">
                <a:solidFill>
                  <a:srgbClr val="333333"/>
                </a:solidFill>
                <a:ea typeface="Meiryo"/>
              </a:rPr>
              <a:t>迷いやすい判断を事前に狭める</a:t>
            </a:r>
          </a:p>
        </p:txBody>
      </p:sp>
      <p:sp>
        <p:nvSpPr>
          <p:cNvPr id="15" name="Rectangle 14"/>
          <p:cNvSpPr/>
          <p:nvPr/>
        </p:nvSpPr>
        <p:spPr>
          <a:xfrm>
            <a:off x="6089904" y="1859661"/>
            <a:ext cx="2889504" cy="2753486"/>
          </a:xfrm>
          <a:prstGeom prst="rect">
            <a:avLst/>
          </a:prstGeom>
          <a:solidFill>
            <a:srgbClr val="F5F5F5"/>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27064" y="1969389"/>
            <a:ext cx="2615184" cy="320040"/>
          </a:xfrm>
          <a:prstGeom prst="rect">
            <a:avLst/>
          </a:prstGeom>
          <a:noFill/>
          <a:effectLst/>
        </p:spPr>
        <p:txBody>
          <a:bodyPr wrap="square" lIns="0" rIns="0" tIns="0" bIns="0" anchor="t">
            <a:noAutofit/>
          </a:bodyPr>
          <a:lstStyle/>
          <a:p>
            <a:r>
              <a:rPr lang="ja-JP" sz="1400" b="1" i="0" dirty="0">
                <a:solidFill>
                  <a:srgbClr val="333333"/>
                </a:solidFill>
                <a:ea typeface="Meiryo"/>
              </a:rPr>
              <a:t>書きすぎを避ける</a:t>
            </a:r>
          </a:p>
        </p:txBody>
      </p:sp>
      <p:sp>
        <p:nvSpPr>
          <p:cNvPr id="17" name="Rectangle 16"/>
          <p:cNvSpPr/>
          <p:nvPr/>
        </p:nvSpPr>
        <p:spPr>
          <a:xfrm>
            <a:off x="6227064" y="2225421"/>
            <a:ext cx="2615184" cy="1270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27064" y="2298573"/>
            <a:ext cx="2615184" cy="2204847"/>
          </a:xfrm>
          <a:prstGeom prst="rect">
            <a:avLst/>
          </a:prstGeom>
          <a:noFill/>
          <a:effectLst/>
        </p:spPr>
        <p:txBody>
          <a:bodyPr wrap="square" lIns="0" rIns="0" tIns="0" bIns="0">
            <a:noAutofit/>
          </a:bodyPr>
          <a:lstStyle/>
          <a:p>
            <a:pPr>
              <a:spcBef>
                <a:spcPts val="0"/>
              </a:spcBef>
              <a:spcAft>
                <a:spcPts val="400"/>
              </a:spcAft>
              <a:buNone/>
              <a:lnSpc>
                <a:spcPts val="1980"/>
              </a:lnSpc>
            </a:pPr>
            <a:r>
              <a:rPr lang="ja-JP" sz="1100" b="0" i="0" dirty="0">
                <a:solidFill>
                  <a:srgbClr val="333333"/>
                </a:solidFill>
                <a:ea typeface="Meiryo"/>
              </a:rPr>
              <a:t>常に守るべき内容だけを残し、単発の依頼は会話へ逃がす。</a:t>
            </a:r>
          </a:p>
          <a:p>
            <a:pPr marL="228600" indent="-228600">
              <a:spcBef>
                <a:spcPts val="0"/>
              </a:spcBef>
              <a:spcAft>
                <a:spcPts val="400"/>
              </a:spcAft>
              <a:buChar char="•"/>
              <a:lnSpc>
                <a:spcPts val="1980"/>
              </a:lnSpc>
            </a:pPr>
            <a:r>
              <a:rPr lang="ja-JP" sz="1100" b="0" i="0" dirty="0">
                <a:solidFill>
                  <a:srgbClr val="333333"/>
                </a:solidFill>
                <a:ea typeface="Meiryo"/>
              </a:rPr>
              <a:t>一時的な指示を混ぜない</a:t>
            </a:r>
          </a:p>
          <a:p>
            <a:pPr marL="228600" indent="-228600">
              <a:spcBef>
                <a:spcPts val="0"/>
              </a:spcBef>
              <a:spcAft>
                <a:spcPts val="400"/>
              </a:spcAft>
              <a:buChar char="•"/>
              <a:lnSpc>
                <a:spcPts val="1980"/>
              </a:lnSpc>
            </a:pPr>
            <a:r>
              <a:rPr lang="ja-JP" sz="1100" b="0" i="0" dirty="0">
                <a:solidFill>
                  <a:srgbClr val="333333"/>
                </a:solidFill>
                <a:ea typeface="Meiryo"/>
              </a:rPr>
              <a:t>古い前提は定期的に削る</a:t>
            </a:r>
          </a:p>
        </p:txBody>
      </p:sp>
      <p:sp>
        <p:nvSpPr>
          <p:cNvPr id="19" name="Rectangle 18"/>
          <p:cNvSpPr/>
          <p:nvPr/>
        </p:nvSpPr>
        <p:spPr>
          <a:xfrm>
            <a:off x="0" y="4777740"/>
            <a:ext cx="9144000" cy="9525"/>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28600" y="4823459"/>
            <a:ext cx="1828800" cy="274320"/>
          </a:xfrm>
          <a:prstGeom prst="rect">
            <a:avLst/>
          </a:prstGeom>
          <a:noFill/>
        </p:spPr>
        <p:txBody>
          <a:bodyPr wrap="none" anchor="ctr" lIns="0" rIns="0" tIns="0" bIns="0">
            <a:spAutoFit/>
          </a:bodyPr>
          <a:lstStyle/>
          <a:p>
            <a:fld id="{1B107EDF-5702-4F41-A56F-22902D34735D}" type="slidenum">
              <a:rPr lang="ja-JP" smtClean="0" sz="1000">
                <a:solidFill>
                  <a:srgbClr val="888888"/>
                </a:solidFill>
              </a:rPr>
              <a:t>&lt;#&gt;</a:t>
            </a:fld>
            <a:r>
              <a:rPr lang="ja-JP" smtClean="0" sz="1000">
                <a:solidFill>
                  <a:srgbClr val="888888"/>
                </a:solidFill>
              </a:rPr>
              <a:t>/</a:t>
            </a:r>
            <a:r>
              <a:rPr lang="ja-JP" smtClean="0" sz="1000">
                <a:solidFill>
                  <a:srgbClr val="888888"/>
                </a:solidFill>
              </a:rPr>
              <a:t>9</a:t>
            </a:r>
          </a:p>
        </p:txBody>
      </p:sp>
      <p:pic>
        <p:nvPicPr>
          <p:cNvPr id="21" name="Picture 20" descr="logo.png"/>
          <p:cNvPicPr>
            <a:picLocks noChangeAspect="1"/>
          </p:cNvPicPr>
          <p:nvPr/>
        </p:nvPicPr>
        <p:blipFill>
          <a:blip r:embed="rId2"/>
          <a:stretch>
            <a:fillRect/>
          </a:stretch>
        </p:blipFill>
        <p:spPr>
          <a:xfrm>
            <a:off x="8001000" y="4846320"/>
            <a:ext cx="762000" cy="228600"/>
          </a:xfrm>
          <a:prstGeom prst="rect">
            <a:avLst/>
          </a:prstGeom>
          <a:effectLst/>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77240"/>
          </a:xfrm>
          <a:prstGeom prst="rect">
            <a:avLst/>
          </a:prstGeom>
          <a:solidFill>
            <a:srgbClr val="4A4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85039"/>
            <a:ext cx="8686800" cy="411480"/>
          </a:xfrm>
          <a:prstGeom prst="rect">
            <a:avLst/>
          </a:prstGeom>
          <a:noFill/>
          <a:effectLst/>
        </p:spPr>
        <p:txBody>
          <a:bodyPr wrap="square" lIns="0" rIns="0" tIns="0" bIns="0" anchor="ctr">
            <a:noAutofit/>
          </a:bodyPr>
          <a:lstStyle/>
          <a:p>
            <a:r>
              <a:rPr lang="en-US" sz="2400" b="1" i="0" dirty="0">
                <a:solidFill>
                  <a:srgbClr val="FFFFFF"/>
                </a:solidFill>
                <a:latin typeface="Segoe UI"/>
              </a:rPr>
              <a:t>MEMORY.md</a:t>
            </a:r>
            <a:r>
              <a:rPr lang="ja-JP" sz="2400" b="1" i="0" dirty="0">
                <a:solidFill>
                  <a:srgbClr val="FFFFFF"/>
                </a:solidFill>
                <a:ea typeface="Meiryo"/>
              </a:rPr>
              <a:t>には弱い好みと学習結果を逃がす</a:t>
            </a:r>
          </a:p>
        </p:txBody>
      </p:sp>
      <p:sp>
        <p:nvSpPr>
          <p:cNvPr id="4" name="TextBox 3"/>
          <p:cNvSpPr txBox="1"/>
          <p:nvPr/>
        </p:nvSpPr>
        <p:spPr>
          <a:xfrm>
            <a:off x="228600" y="523036"/>
            <a:ext cx="8686800" cy="274320"/>
          </a:xfrm>
          <a:prstGeom prst="rect">
            <a:avLst/>
          </a:prstGeom>
          <a:noFill/>
          <a:effectLst/>
        </p:spPr>
        <p:txBody>
          <a:bodyPr wrap="square" lIns="0" rIns="0" tIns="0" bIns="0" anchor="ctr">
            <a:noAutofit/>
          </a:bodyPr>
          <a:lstStyle/>
          <a:p>
            <a:r>
              <a:rPr lang="ja-JP" sz="1200" b="0" i="0" dirty="0">
                <a:solidFill>
                  <a:srgbClr val="FFFFFF"/>
                </a:solidFill>
                <a:ea typeface="Meiryo"/>
              </a:rPr>
              <a:t>強制ルールと学習メモを混同しない</a:t>
            </a:r>
          </a:p>
        </p:txBody>
      </p:sp>
      <p:sp>
        <p:nvSpPr>
          <p:cNvPr id="5" name="Rectangle 4"/>
          <p:cNvSpPr/>
          <p:nvPr/>
        </p:nvSpPr>
        <p:spPr>
          <a:xfrm>
            <a:off x="3027970" y="941832"/>
            <a:ext cx="2808514" cy="876680"/>
          </a:xfrm>
          <a:prstGeom prst="rect">
            <a:avLst/>
          </a:prstGeom>
          <a:solidFill>
            <a:srgbClr val="6B7A99"/>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50800" bIns="50800"/>
          <a:lstStyle/>
          <a:p>
            <a:pPr algn="ctr">
              <a:lnSpc>
                <a:spcPts val="1560"/>
              </a:lnSpc>
            </a:pPr>
            <a:r>
              <a:rPr lang="en-US" sz="1200" b="1" i="0" dirty="0">
                <a:solidFill>
                  <a:srgbClr val="FFFFFF"/>
                </a:solidFill>
                <a:latin typeface="Segoe UI"/>
              </a:rPr>
              <a:t>CLAUDE.md</a:t>
            </a:r>
          </a:p>
        </p:txBody>
      </p:sp>
      <p:sp>
        <p:nvSpPr>
          <p:cNvPr id="6" name="Rectangle 5"/>
          <p:cNvSpPr/>
          <p:nvPr/>
        </p:nvSpPr>
        <p:spPr>
          <a:xfrm>
            <a:off x="6170893" y="941832"/>
            <a:ext cx="2808514" cy="876680"/>
          </a:xfrm>
          <a:prstGeom prst="rect">
            <a:avLst/>
          </a:prstGeom>
          <a:solidFill>
            <a:srgbClr val="6B7A99"/>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50800" bIns="50800"/>
          <a:lstStyle/>
          <a:p>
            <a:pPr algn="ctr">
              <a:lnSpc>
                <a:spcPts val="1560"/>
              </a:lnSpc>
            </a:pPr>
            <a:r>
              <a:rPr lang="en-US" sz="1200" b="1" i="0" dirty="0">
                <a:solidFill>
                  <a:srgbClr val="FFFFFF"/>
                </a:solidFill>
                <a:latin typeface="Segoe UI"/>
              </a:rPr>
              <a:t>MEMORY.md / Auto memory</a:t>
            </a:r>
          </a:p>
        </p:txBody>
      </p:sp>
      <p:sp>
        <p:nvSpPr>
          <p:cNvPr id="7" name="Rectangle 6"/>
          <p:cNvSpPr/>
          <p:nvPr/>
        </p:nvSpPr>
        <p:spPr>
          <a:xfrm>
            <a:off x="164592" y="1873377"/>
            <a:ext cx="2808514" cy="876680"/>
          </a:xfrm>
          <a:prstGeom prst="rect">
            <a:avLst/>
          </a:prstGeom>
          <a:solidFill>
            <a:srgbClr val="E8EDF2"/>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50800" bIns="50800"/>
          <a:lstStyle/>
          <a:p>
            <a:pPr algn="ctr">
              <a:lnSpc>
                <a:spcPts val="1560"/>
              </a:lnSpc>
            </a:pPr>
            <a:r>
              <a:rPr lang="ja-JP" sz="1200" b="1" i="0" dirty="0">
                <a:solidFill>
                  <a:srgbClr val="333333"/>
                </a:solidFill>
                <a:ea typeface="Meiryo"/>
              </a:rPr>
              <a:t>作成者</a:t>
            </a:r>
          </a:p>
        </p:txBody>
      </p:sp>
      <p:sp>
        <p:nvSpPr>
          <p:cNvPr id="8" name="Rectangle 7"/>
          <p:cNvSpPr/>
          <p:nvPr/>
        </p:nvSpPr>
        <p:spPr>
          <a:xfrm>
            <a:off x="3027970" y="1873377"/>
            <a:ext cx="2808514" cy="876680"/>
          </a:xfrm>
          <a:prstGeom prst="rect">
            <a:avLst/>
          </a:prstGeom>
          <a:solidFill>
            <a:srgbClr val="F5F5F5"/>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50800" bIns="50800"/>
          <a:lstStyle/>
          <a:p>
            <a:pPr algn="ctr">
              <a:lnSpc>
                <a:spcPts val="1560"/>
              </a:lnSpc>
            </a:pPr>
            <a:r>
              <a:rPr lang="ja-JP" sz="1200" b="0" i="0" dirty="0">
                <a:solidFill>
                  <a:srgbClr val="333333"/>
                </a:solidFill>
                <a:ea typeface="Meiryo"/>
              </a:rPr>
              <a:t>ユーザーが明示的に書く。責任あるルールとしてレビューしやすい</a:t>
            </a:r>
          </a:p>
        </p:txBody>
      </p:sp>
      <p:sp>
        <p:nvSpPr>
          <p:cNvPr id="9" name="Rectangle 8"/>
          <p:cNvSpPr/>
          <p:nvPr/>
        </p:nvSpPr>
        <p:spPr>
          <a:xfrm>
            <a:off x="6170893" y="1873377"/>
            <a:ext cx="2808514" cy="876680"/>
          </a:xfrm>
          <a:prstGeom prst="rect">
            <a:avLst/>
          </a:prstGeom>
          <a:solidFill>
            <a:srgbClr val="F5F5F5"/>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50800" bIns="50800"/>
          <a:lstStyle/>
          <a:p>
            <a:pPr algn="ctr">
              <a:lnSpc>
                <a:spcPts val="1560"/>
              </a:lnSpc>
            </a:pPr>
            <a:r>
              <a:rPr lang="en-US" sz="1200" b="0" i="0" dirty="0">
                <a:solidFill>
                  <a:srgbClr val="333333"/>
                </a:solidFill>
                <a:latin typeface="Segoe UI"/>
              </a:rPr>
              <a:t>AI</a:t>
            </a:r>
            <a:r>
              <a:rPr lang="ja-JP" sz="1200" b="0" i="0" dirty="0">
                <a:solidFill>
                  <a:srgbClr val="333333"/>
                </a:solidFill>
                <a:ea typeface="Meiryo"/>
              </a:rPr>
              <a:t>が作業から自動的に学ぶ。好みや傾向の蓄積に向く</a:t>
            </a:r>
          </a:p>
        </p:txBody>
      </p:sp>
      <p:sp>
        <p:nvSpPr>
          <p:cNvPr id="10" name="Rectangle 9"/>
          <p:cNvSpPr/>
          <p:nvPr/>
        </p:nvSpPr>
        <p:spPr>
          <a:xfrm>
            <a:off x="164592" y="2804922"/>
            <a:ext cx="2808514" cy="876680"/>
          </a:xfrm>
          <a:prstGeom prst="rect">
            <a:avLst/>
          </a:prstGeom>
          <a:solidFill>
            <a:srgbClr val="E8EDF2"/>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50800" bIns="50800"/>
          <a:lstStyle/>
          <a:p>
            <a:pPr algn="ctr">
              <a:lnSpc>
                <a:spcPts val="1560"/>
              </a:lnSpc>
            </a:pPr>
            <a:r>
              <a:rPr lang="ja-JP" sz="1200" b="1" i="0" dirty="0">
                <a:solidFill>
                  <a:srgbClr val="333333"/>
                </a:solidFill>
                <a:ea typeface="Meiryo"/>
              </a:rPr>
              <a:t>内容</a:t>
            </a:r>
          </a:p>
        </p:txBody>
      </p:sp>
      <p:sp>
        <p:nvSpPr>
          <p:cNvPr id="11" name="Rectangle 10"/>
          <p:cNvSpPr/>
          <p:nvPr/>
        </p:nvSpPr>
        <p:spPr>
          <a:xfrm>
            <a:off x="3027970" y="2804922"/>
            <a:ext cx="2808514" cy="876680"/>
          </a:xfrm>
          <a:prstGeom prst="rect">
            <a:avLst/>
          </a:prstGeom>
          <a:solidFill>
            <a:srgbClr val="F5F5F5"/>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50800" bIns="50800"/>
          <a:lstStyle/>
          <a:p>
            <a:pPr algn="ctr">
              <a:lnSpc>
                <a:spcPts val="1560"/>
              </a:lnSpc>
            </a:pPr>
            <a:r>
              <a:rPr lang="ja-JP" sz="1200" b="0" i="0" dirty="0">
                <a:solidFill>
                  <a:srgbClr val="333333"/>
                </a:solidFill>
                <a:ea typeface="Meiryo"/>
              </a:rPr>
              <a:t>コーディング規約、禁止事項、ビルド手順、設計方針など普遍的な前提</a:t>
            </a:r>
          </a:p>
        </p:txBody>
      </p:sp>
      <p:sp>
        <p:nvSpPr>
          <p:cNvPr id="12" name="Rectangle 11"/>
          <p:cNvSpPr/>
          <p:nvPr/>
        </p:nvSpPr>
        <p:spPr>
          <a:xfrm>
            <a:off x="6170893" y="2804922"/>
            <a:ext cx="2808514" cy="876680"/>
          </a:xfrm>
          <a:prstGeom prst="rect">
            <a:avLst/>
          </a:prstGeom>
          <a:solidFill>
            <a:srgbClr val="F5F5F5"/>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50800" bIns="50800"/>
          <a:lstStyle/>
          <a:p>
            <a:pPr algn="ctr">
              <a:lnSpc>
                <a:spcPts val="1560"/>
              </a:lnSpc>
            </a:pPr>
            <a:r>
              <a:rPr lang="ja-JP" sz="1200" b="0" i="0" dirty="0">
                <a:solidFill>
                  <a:srgbClr val="333333"/>
                </a:solidFill>
                <a:ea typeface="Meiryo"/>
              </a:rPr>
              <a:t>変数名の癖、最近のエラー対処、いつもの寄せ方など弱い記憶</a:t>
            </a:r>
          </a:p>
        </p:txBody>
      </p:sp>
      <p:sp>
        <p:nvSpPr>
          <p:cNvPr id="13" name="Rectangle 12"/>
          <p:cNvSpPr/>
          <p:nvPr/>
        </p:nvSpPr>
        <p:spPr>
          <a:xfrm>
            <a:off x="164592" y="3736466"/>
            <a:ext cx="2808514" cy="876680"/>
          </a:xfrm>
          <a:prstGeom prst="rect">
            <a:avLst/>
          </a:prstGeom>
          <a:solidFill>
            <a:srgbClr val="E8EDF2"/>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50800" bIns="50800"/>
          <a:lstStyle/>
          <a:p>
            <a:pPr algn="ctr">
              <a:lnSpc>
                <a:spcPts val="1560"/>
              </a:lnSpc>
            </a:pPr>
            <a:r>
              <a:rPr lang="ja-JP" sz="1200" b="1" i="0" dirty="0">
                <a:solidFill>
                  <a:srgbClr val="333333"/>
                </a:solidFill>
                <a:ea typeface="Meiryo"/>
              </a:rPr>
              <a:t>使い分け</a:t>
            </a:r>
          </a:p>
        </p:txBody>
      </p:sp>
      <p:sp>
        <p:nvSpPr>
          <p:cNvPr id="14" name="Rectangle 13"/>
          <p:cNvSpPr/>
          <p:nvPr/>
        </p:nvSpPr>
        <p:spPr>
          <a:xfrm>
            <a:off x="3027970" y="3736466"/>
            <a:ext cx="2808514" cy="876680"/>
          </a:xfrm>
          <a:prstGeom prst="rect">
            <a:avLst/>
          </a:prstGeom>
          <a:solidFill>
            <a:srgbClr val="F5F5F5"/>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50800" bIns="50800"/>
          <a:lstStyle/>
          <a:p>
            <a:pPr algn="ctr">
              <a:lnSpc>
                <a:spcPts val="1560"/>
              </a:lnSpc>
            </a:pPr>
            <a:r>
              <a:rPr lang="ja-JP" sz="1200" b="0" i="0" dirty="0">
                <a:solidFill>
                  <a:srgbClr val="333333"/>
                </a:solidFill>
                <a:ea typeface="Meiryo"/>
              </a:rPr>
              <a:t>守らないと品質や安全性に影響するものを置く</a:t>
            </a:r>
          </a:p>
        </p:txBody>
      </p:sp>
      <p:sp>
        <p:nvSpPr>
          <p:cNvPr id="15" name="Rectangle 14"/>
          <p:cNvSpPr/>
          <p:nvPr/>
        </p:nvSpPr>
        <p:spPr>
          <a:xfrm>
            <a:off x="6170893" y="3736466"/>
            <a:ext cx="2808514" cy="876680"/>
          </a:xfrm>
          <a:prstGeom prst="rect">
            <a:avLst/>
          </a:prstGeom>
          <a:solidFill>
            <a:srgbClr val="F5F5F5"/>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50800" bIns="50800"/>
          <a:lstStyle/>
          <a:p>
            <a:pPr algn="ctr">
              <a:lnSpc>
                <a:spcPts val="1560"/>
              </a:lnSpc>
            </a:pPr>
            <a:r>
              <a:rPr lang="ja-JP" sz="1200" b="0" i="0" dirty="0">
                <a:solidFill>
                  <a:srgbClr val="333333"/>
                </a:solidFill>
                <a:ea typeface="Meiryo"/>
              </a:rPr>
              <a:t>守るよりも参考にする程度の情報を置く</a:t>
            </a:r>
          </a:p>
        </p:txBody>
      </p:sp>
      <p:sp>
        <p:nvSpPr>
          <p:cNvPr id="16" name="CmpArrow16"/>
          <p:cNvSpPr/>
          <p:nvPr/>
        </p:nvSpPr>
        <p:spPr>
          <a:xfrm>
            <a:off x="5891348" y="1873377"/>
            <a:ext cx="224681" cy="2739771"/>
          </a:xfrm>
          <a:custGeom>
            <a:avLst/>
            <a:gdLst/>
            <a:ahLst/>
            <a:cxnLst/>
            <a:rect l="0" t="0" r="r" b="b"/>
            <a:pathLst>
              <a:path w="100000" h="100000">
                <a:moveTo>
                  <a:pt x="0" y="50000"/>
                </a:moveTo>
                <a:lnTo>
                  <a:pt x="35000" y="20000"/>
                </a:lnTo>
                <a:lnTo>
                  <a:pt x="35000" y="40000"/>
                </a:lnTo>
                <a:lnTo>
                  <a:pt x="65000" y="40000"/>
                </a:lnTo>
                <a:lnTo>
                  <a:pt x="65000" y="20000"/>
                </a:lnTo>
                <a:lnTo>
                  <a:pt x="100000" y="50000"/>
                </a:lnTo>
                <a:lnTo>
                  <a:pt x="65000" y="80000"/>
                </a:lnTo>
                <a:lnTo>
                  <a:pt x="65000" y="60000"/>
                </a:lnTo>
                <a:lnTo>
                  <a:pt x="35000" y="60000"/>
                </a:lnTo>
                <a:lnTo>
                  <a:pt x="35000" y="80000"/>
                </a:lnTo>
                <a:close/>
              </a:path>
            </a:pathLst>
          </a:custGeom>
          <a:solidFill>
            <a:srgbClr val="CCCCCC"/>
          </a:solidFill>
          <a:ln w="9525">
            <a:solidFill>
              <a:srgbClr val="CCCCCC"/>
            </a:solidFill>
          </a:ln>
          <a:effectLst/>
        </p:spPr>
        <p:txBody>
          <a:bodyPr/>
          <a:lstStyle/>
          <a:p/>
        </p:txBody>
      </p:sp>
      <p:sp>
        <p:nvSpPr>
          <p:cNvPr id="17" name="Rectangle 16"/>
          <p:cNvSpPr/>
          <p:nvPr/>
        </p:nvSpPr>
        <p:spPr>
          <a:xfrm>
            <a:off x="0" y="4777740"/>
            <a:ext cx="9144000" cy="9525"/>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28600" y="4823459"/>
            <a:ext cx="1828800" cy="274320"/>
          </a:xfrm>
          <a:prstGeom prst="rect">
            <a:avLst/>
          </a:prstGeom>
          <a:noFill/>
        </p:spPr>
        <p:txBody>
          <a:bodyPr wrap="none" anchor="ctr" lIns="0" rIns="0" tIns="0" bIns="0">
            <a:spAutoFit/>
          </a:bodyPr>
          <a:lstStyle/>
          <a:p>
            <a:fld id="{4ED41507-0D95-49F6-8A31-CBF4C0FD95C1}" type="slidenum">
              <a:rPr lang="ja-JP" smtClean="0" sz="1000">
                <a:solidFill>
                  <a:srgbClr val="888888"/>
                </a:solidFill>
              </a:rPr>
              <a:t>&lt;#&gt;</a:t>
            </a:fld>
            <a:r>
              <a:rPr lang="ja-JP" smtClean="0" sz="1000">
                <a:solidFill>
                  <a:srgbClr val="888888"/>
                </a:solidFill>
              </a:rPr>
              <a:t>/</a:t>
            </a:r>
            <a:r>
              <a:rPr lang="ja-JP" smtClean="0" sz="1000">
                <a:solidFill>
                  <a:srgbClr val="888888"/>
                </a:solidFill>
              </a:rPr>
              <a:t>9</a:t>
            </a:r>
          </a:p>
        </p:txBody>
      </p:sp>
      <p:pic>
        <p:nvPicPr>
          <p:cNvPr id="19" name="Picture 18" descr="logo.png"/>
          <p:cNvPicPr>
            <a:picLocks noChangeAspect="1"/>
          </p:cNvPicPr>
          <p:nvPr/>
        </p:nvPicPr>
        <p:blipFill>
          <a:blip r:embed="rId2"/>
          <a:stretch>
            <a:fillRect/>
          </a:stretch>
        </p:blipFill>
        <p:spPr>
          <a:xfrm>
            <a:off x="8001000" y="4846320"/>
            <a:ext cx="762000" cy="228600"/>
          </a:xfrm>
          <a:prstGeom prst="rect">
            <a:avLst/>
          </a:prstGeom>
          <a:effectLst/>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77240"/>
          </a:xfrm>
          <a:prstGeom prst="rect">
            <a:avLst/>
          </a:prstGeom>
          <a:solidFill>
            <a:srgbClr val="4A4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85039"/>
            <a:ext cx="8686800" cy="411480"/>
          </a:xfrm>
          <a:prstGeom prst="rect">
            <a:avLst/>
          </a:prstGeom>
          <a:noFill/>
          <a:effectLst/>
        </p:spPr>
        <p:txBody>
          <a:bodyPr wrap="square" lIns="0" rIns="0" tIns="0" bIns="0" anchor="ctr">
            <a:noAutofit/>
          </a:bodyPr>
          <a:lstStyle/>
          <a:p>
            <a:r>
              <a:rPr lang="ja-JP" sz="2400" b="1" i="0" dirty="0">
                <a:solidFill>
                  <a:srgbClr val="FFFFFF"/>
                </a:solidFill>
                <a:ea typeface="Meiryo"/>
              </a:rPr>
              <a:t>良いルールは短く、具体的で、実行できる</a:t>
            </a:r>
          </a:p>
        </p:txBody>
      </p:sp>
      <p:sp>
        <p:nvSpPr>
          <p:cNvPr id="4" name="TextBox 3"/>
          <p:cNvSpPr txBox="1"/>
          <p:nvPr/>
        </p:nvSpPr>
        <p:spPr>
          <a:xfrm>
            <a:off x="228600" y="523036"/>
            <a:ext cx="8686800" cy="274320"/>
          </a:xfrm>
          <a:prstGeom prst="rect">
            <a:avLst/>
          </a:prstGeom>
          <a:noFill/>
          <a:effectLst/>
        </p:spPr>
        <p:txBody>
          <a:bodyPr wrap="square" lIns="0" rIns="0" tIns="0" bIns="0" anchor="ctr">
            <a:noAutofit/>
          </a:bodyPr>
          <a:lstStyle/>
          <a:p>
            <a:r>
              <a:rPr lang="ja-JP" sz="1200" b="0" i="0" dirty="0">
                <a:solidFill>
                  <a:srgbClr val="FFFFFF"/>
                </a:solidFill>
                <a:ea typeface="Meiryo"/>
              </a:rPr>
              <a:t>抽象的な期待を、</a:t>
            </a:r>
            <a:r>
              <a:rPr lang="en-US" sz="1200" b="0" i="0" dirty="0">
                <a:solidFill>
                  <a:srgbClr val="FFFFFF"/>
                </a:solidFill>
                <a:latin typeface="Segoe UI"/>
              </a:rPr>
              <a:t>AI</a:t>
            </a:r>
            <a:r>
              <a:rPr lang="ja-JP" sz="1200" b="0" i="0" dirty="0">
                <a:solidFill>
                  <a:srgbClr val="FFFFFF"/>
                </a:solidFill>
                <a:ea typeface="Meiryo"/>
              </a:rPr>
              <a:t>が迷わない行動へ変換する</a:t>
            </a:r>
          </a:p>
        </p:txBody>
      </p:sp>
      <p:sp>
        <p:nvSpPr>
          <p:cNvPr id="5" name="Rectangle 4"/>
          <p:cNvSpPr/>
          <p:nvPr/>
        </p:nvSpPr>
        <p:spPr>
          <a:xfrm>
            <a:off x="164592" y="941832"/>
            <a:ext cx="2889504" cy="3671315"/>
          </a:xfrm>
          <a:prstGeom prst="rect">
            <a:avLst/>
          </a:prstGeom>
          <a:solidFill>
            <a:srgbClr val="F5F5F5"/>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01751" y="1051560"/>
            <a:ext cx="2615184" cy="320040"/>
          </a:xfrm>
          <a:prstGeom prst="rect">
            <a:avLst/>
          </a:prstGeom>
          <a:noFill/>
          <a:effectLst/>
        </p:spPr>
        <p:txBody>
          <a:bodyPr wrap="square" lIns="0" rIns="0" tIns="0" bIns="0" anchor="t">
            <a:noAutofit/>
          </a:bodyPr>
          <a:lstStyle/>
          <a:p>
            <a:r>
              <a:rPr lang="en-US" sz="1400" b="1" i="0" dirty="0">
                <a:solidFill>
                  <a:srgbClr val="333333"/>
                </a:solidFill>
                <a:latin typeface="Segoe UI"/>
              </a:rPr>
              <a:t>1</a:t>
            </a:r>
            <a:r>
              <a:rPr lang="ja-JP" sz="1400" b="1" i="0" dirty="0">
                <a:solidFill>
                  <a:srgbClr val="333333"/>
                </a:solidFill>
                <a:ea typeface="Meiryo"/>
              </a:rPr>
              <a:t>ルール</a:t>
            </a:r>
            <a:r>
              <a:rPr lang="en-US" sz="1400" b="1" i="0" dirty="0">
                <a:solidFill>
                  <a:srgbClr val="333333"/>
                </a:solidFill>
                <a:latin typeface="Segoe UI"/>
              </a:rPr>
              <a:t>1</a:t>
            </a:r>
            <a:r>
              <a:rPr lang="ja-JP" sz="1400" b="1" i="0" dirty="0">
                <a:solidFill>
                  <a:srgbClr val="333333"/>
                </a:solidFill>
                <a:ea typeface="Meiryo"/>
              </a:rPr>
              <a:t>文</a:t>
            </a:r>
          </a:p>
        </p:txBody>
      </p:sp>
      <p:sp>
        <p:nvSpPr>
          <p:cNvPr id="7" name="Rectangle 6"/>
          <p:cNvSpPr/>
          <p:nvPr/>
        </p:nvSpPr>
        <p:spPr>
          <a:xfrm>
            <a:off x="301751" y="1307592"/>
            <a:ext cx="2615184" cy="1270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1751" y="1380744"/>
            <a:ext cx="2615184" cy="3122675"/>
          </a:xfrm>
          <a:prstGeom prst="rect">
            <a:avLst/>
          </a:prstGeom>
          <a:noFill/>
          <a:effectLst/>
        </p:spPr>
        <p:txBody>
          <a:bodyPr wrap="square" lIns="0" rIns="0" tIns="0" bIns="0">
            <a:noAutofit/>
          </a:bodyPr>
          <a:lstStyle/>
          <a:p>
            <a:pPr>
              <a:spcBef>
                <a:spcPts val="0"/>
              </a:spcBef>
              <a:spcAft>
                <a:spcPts val="400"/>
              </a:spcAft>
              <a:buNone/>
              <a:lnSpc>
                <a:spcPts val="1980"/>
              </a:lnSpc>
            </a:pPr>
            <a:r>
              <a:rPr lang="ja-JP" sz="1100" b="0" i="0" dirty="0">
                <a:solidFill>
                  <a:srgbClr val="333333"/>
                </a:solidFill>
                <a:ea typeface="Meiryo"/>
              </a:rPr>
              <a:t>短く切ることで、</a:t>
            </a:r>
            <a:r>
              <a:rPr lang="en-US" sz="1100" b="0" i="0" dirty="0">
                <a:solidFill>
                  <a:srgbClr val="333333"/>
                </a:solidFill>
                <a:latin typeface="Segoe UI"/>
              </a:rPr>
              <a:t>AI</a:t>
            </a:r>
            <a:r>
              <a:rPr lang="ja-JP" sz="1100" b="0" i="0" dirty="0">
                <a:solidFill>
                  <a:srgbClr val="333333"/>
                </a:solidFill>
                <a:ea typeface="Meiryo"/>
              </a:rPr>
              <a:t>がどの条件を守るべきか判断しやすくなる。</a:t>
            </a:r>
          </a:p>
          <a:p>
            <a:pPr marL="228600" indent="-228600">
              <a:spcBef>
                <a:spcPts val="0"/>
              </a:spcBef>
              <a:spcAft>
                <a:spcPts val="400"/>
              </a:spcAft>
              <a:buChar char="•"/>
              <a:lnSpc>
                <a:spcPts val="1980"/>
              </a:lnSpc>
            </a:pPr>
            <a:r>
              <a:rPr lang="ja-JP" sz="1100" b="0" i="0" dirty="0">
                <a:solidFill>
                  <a:srgbClr val="333333"/>
                </a:solidFill>
                <a:ea typeface="Meiryo"/>
              </a:rPr>
              <a:t>長い背景説明は別文書へ分離する</a:t>
            </a:r>
          </a:p>
          <a:p>
            <a:pPr marL="228600" indent="-228600">
              <a:spcBef>
                <a:spcPts val="0"/>
              </a:spcBef>
              <a:spcAft>
                <a:spcPts val="400"/>
              </a:spcAft>
              <a:buChar char="•"/>
              <a:lnSpc>
                <a:spcPts val="1980"/>
              </a:lnSpc>
            </a:pPr>
            <a:r>
              <a:rPr lang="ja-JP" sz="1100" b="0" i="0" dirty="0">
                <a:solidFill>
                  <a:srgbClr val="333333"/>
                </a:solidFill>
                <a:ea typeface="Meiryo"/>
              </a:rPr>
              <a:t>例外条件は必要な場合だけ添える</a:t>
            </a:r>
          </a:p>
          <a:p>
            <a:pPr marL="228600" indent="-228600">
              <a:spcBef>
                <a:spcPts val="0"/>
              </a:spcBef>
              <a:spcAft>
                <a:spcPts val="400"/>
              </a:spcAft>
              <a:buChar char="•"/>
              <a:lnSpc>
                <a:spcPts val="1980"/>
              </a:lnSpc>
            </a:pPr>
            <a:r>
              <a:rPr lang="ja-JP" sz="1100" b="0" i="0" dirty="0">
                <a:solidFill>
                  <a:srgbClr val="333333"/>
                </a:solidFill>
                <a:ea typeface="Meiryo"/>
              </a:rPr>
              <a:t>同じ文に複数の禁止を詰め込まない</a:t>
            </a:r>
          </a:p>
        </p:txBody>
      </p:sp>
      <p:sp>
        <p:nvSpPr>
          <p:cNvPr id="9" name="Rectangle 8"/>
          <p:cNvSpPr/>
          <p:nvPr/>
        </p:nvSpPr>
        <p:spPr>
          <a:xfrm>
            <a:off x="3127248" y="941832"/>
            <a:ext cx="2889504" cy="3671315"/>
          </a:xfrm>
          <a:prstGeom prst="rect">
            <a:avLst/>
          </a:prstGeom>
          <a:solidFill>
            <a:srgbClr val="F5F5F5"/>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64408" y="1051560"/>
            <a:ext cx="2615184" cy="320040"/>
          </a:xfrm>
          <a:prstGeom prst="rect">
            <a:avLst/>
          </a:prstGeom>
          <a:noFill/>
          <a:effectLst/>
        </p:spPr>
        <p:txBody>
          <a:bodyPr wrap="square" lIns="0" rIns="0" tIns="0" bIns="0" anchor="t">
            <a:noAutofit/>
          </a:bodyPr>
          <a:lstStyle/>
          <a:p>
            <a:r>
              <a:rPr lang="ja-JP" sz="1400" b="1" i="0" dirty="0">
                <a:solidFill>
                  <a:srgbClr val="333333"/>
                </a:solidFill>
                <a:ea typeface="Meiryo"/>
              </a:rPr>
              <a:t>宣言調で書く</a:t>
            </a:r>
          </a:p>
        </p:txBody>
      </p:sp>
      <p:sp>
        <p:nvSpPr>
          <p:cNvPr id="11" name="Rectangle 10"/>
          <p:cNvSpPr/>
          <p:nvPr/>
        </p:nvSpPr>
        <p:spPr>
          <a:xfrm>
            <a:off x="3264408" y="1307592"/>
            <a:ext cx="2615184" cy="1270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64408" y="1380744"/>
            <a:ext cx="2615184" cy="3122675"/>
          </a:xfrm>
          <a:prstGeom prst="rect">
            <a:avLst/>
          </a:prstGeom>
          <a:noFill/>
          <a:effectLst/>
        </p:spPr>
        <p:txBody>
          <a:bodyPr wrap="square" lIns="0" rIns="0" tIns="0" bIns="0">
            <a:noAutofit/>
          </a:bodyPr>
          <a:lstStyle/>
          <a:p>
            <a:pPr>
              <a:spcBef>
                <a:spcPts val="0"/>
              </a:spcBef>
              <a:spcAft>
                <a:spcPts val="400"/>
              </a:spcAft>
              <a:buNone/>
              <a:lnSpc>
                <a:spcPts val="1980"/>
              </a:lnSpc>
            </a:pPr>
            <a:r>
              <a:rPr lang="ja-JP" sz="1100" b="0" i="0" dirty="0">
                <a:solidFill>
                  <a:srgbClr val="333333"/>
                </a:solidFill>
                <a:ea typeface="Meiryo"/>
              </a:rPr>
              <a:t>お願いではなく、プロジェクトの決まりとして断定する。</a:t>
            </a:r>
          </a:p>
          <a:p>
            <a:pPr marL="228600" indent="-228600">
              <a:spcBef>
                <a:spcPts val="0"/>
              </a:spcBef>
              <a:spcAft>
                <a:spcPts val="400"/>
              </a:spcAft>
              <a:buChar char="•"/>
              <a:lnSpc>
                <a:spcPts val="1980"/>
              </a:lnSpc>
            </a:pPr>
            <a:r>
              <a:rPr lang="ja-JP" sz="1100" b="0" i="0" dirty="0">
                <a:solidFill>
                  <a:srgbClr val="333333"/>
                </a:solidFill>
                <a:ea typeface="Meiryo"/>
              </a:rPr>
              <a:t>「してください」より「する」を使う</a:t>
            </a:r>
          </a:p>
          <a:p>
            <a:pPr marL="228600" indent="-228600">
              <a:spcBef>
                <a:spcPts val="0"/>
              </a:spcBef>
              <a:spcAft>
                <a:spcPts val="400"/>
              </a:spcAft>
              <a:buChar char="•"/>
              <a:lnSpc>
                <a:spcPts val="1980"/>
              </a:lnSpc>
            </a:pPr>
            <a:r>
              <a:rPr lang="ja-JP" sz="1100" b="0" i="0" dirty="0">
                <a:solidFill>
                  <a:srgbClr val="333333"/>
                </a:solidFill>
                <a:ea typeface="Meiryo"/>
              </a:rPr>
              <a:t>作業者の裁量ではなく標準動作にする</a:t>
            </a:r>
          </a:p>
          <a:p>
            <a:pPr marL="228600" indent="-228600">
              <a:spcBef>
                <a:spcPts val="0"/>
              </a:spcBef>
              <a:spcAft>
                <a:spcPts val="400"/>
              </a:spcAft>
              <a:buChar char="•"/>
              <a:lnSpc>
                <a:spcPts val="1980"/>
              </a:lnSpc>
            </a:pPr>
            <a:r>
              <a:rPr lang="ja-JP" sz="1100" b="0" i="0" dirty="0">
                <a:solidFill>
                  <a:srgbClr val="333333"/>
                </a:solidFill>
                <a:ea typeface="Meiryo"/>
              </a:rPr>
              <a:t>曖昧な努力目標を避ける</a:t>
            </a:r>
          </a:p>
        </p:txBody>
      </p:sp>
      <p:sp>
        <p:nvSpPr>
          <p:cNvPr id="13" name="Rectangle 12"/>
          <p:cNvSpPr/>
          <p:nvPr/>
        </p:nvSpPr>
        <p:spPr>
          <a:xfrm>
            <a:off x="6089904" y="941832"/>
            <a:ext cx="2889504" cy="3671315"/>
          </a:xfrm>
          <a:prstGeom prst="rect">
            <a:avLst/>
          </a:prstGeom>
          <a:solidFill>
            <a:srgbClr val="F5F5F5"/>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27064" y="1051560"/>
            <a:ext cx="2615184" cy="320040"/>
          </a:xfrm>
          <a:prstGeom prst="rect">
            <a:avLst/>
          </a:prstGeom>
          <a:noFill/>
          <a:effectLst/>
        </p:spPr>
        <p:txBody>
          <a:bodyPr wrap="square" lIns="0" rIns="0" tIns="0" bIns="0" anchor="t">
            <a:noAutofit/>
          </a:bodyPr>
          <a:lstStyle/>
          <a:p>
            <a:r>
              <a:rPr lang="ja-JP" sz="1400" b="1" i="0" dirty="0">
                <a:solidFill>
                  <a:srgbClr val="333333"/>
                </a:solidFill>
                <a:ea typeface="Meiryo"/>
              </a:rPr>
              <a:t>実行可能にする</a:t>
            </a:r>
          </a:p>
        </p:txBody>
      </p:sp>
      <p:sp>
        <p:nvSpPr>
          <p:cNvPr id="15" name="Rectangle 14"/>
          <p:cNvSpPr/>
          <p:nvPr/>
        </p:nvSpPr>
        <p:spPr>
          <a:xfrm>
            <a:off x="6227064" y="1307592"/>
            <a:ext cx="2615184" cy="1270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27064" y="1380744"/>
            <a:ext cx="2615184" cy="3122675"/>
          </a:xfrm>
          <a:prstGeom prst="rect">
            <a:avLst/>
          </a:prstGeom>
          <a:noFill/>
          <a:effectLst/>
        </p:spPr>
        <p:txBody>
          <a:bodyPr wrap="square" lIns="0" rIns="0" tIns="0" bIns="0">
            <a:noAutofit/>
          </a:bodyPr>
          <a:lstStyle/>
          <a:p>
            <a:pPr>
              <a:spcBef>
                <a:spcPts val="0"/>
              </a:spcBef>
              <a:spcAft>
                <a:spcPts val="400"/>
              </a:spcAft>
              <a:buNone/>
              <a:lnSpc>
                <a:spcPts val="1980"/>
              </a:lnSpc>
            </a:pPr>
            <a:r>
              <a:rPr lang="ja-JP" sz="1100" b="0" i="0" dirty="0">
                <a:solidFill>
                  <a:srgbClr val="333333"/>
                </a:solidFill>
                <a:ea typeface="Meiryo"/>
              </a:rPr>
              <a:t>抽象語を、実際に走らせるコマンドや確認観点へ落とす。</a:t>
            </a:r>
          </a:p>
          <a:p>
            <a:pPr marL="228600" indent="-228600">
              <a:spcBef>
                <a:spcPts val="0"/>
              </a:spcBef>
              <a:spcAft>
                <a:spcPts val="400"/>
              </a:spcAft>
              <a:buChar char="•"/>
              <a:lnSpc>
                <a:spcPts val="1980"/>
              </a:lnSpc>
            </a:pPr>
            <a:r>
              <a:rPr lang="ja-JP" sz="1100" b="0" i="0" dirty="0">
                <a:solidFill>
                  <a:srgbClr val="333333"/>
                </a:solidFill>
                <a:ea typeface="Meiryo"/>
              </a:rPr>
              <a:t>変更後はテストを実行する</a:t>
            </a:r>
          </a:p>
          <a:p>
            <a:pPr marL="228600" indent="-228600">
              <a:spcBef>
                <a:spcPts val="0"/>
              </a:spcBef>
              <a:spcAft>
                <a:spcPts val="400"/>
              </a:spcAft>
              <a:buChar char="•"/>
              <a:lnSpc>
                <a:spcPts val="1980"/>
              </a:lnSpc>
            </a:pPr>
            <a:r>
              <a:rPr lang="ja-JP" sz="1100" b="0" i="0" dirty="0">
                <a:solidFill>
                  <a:srgbClr val="333333"/>
                </a:solidFill>
                <a:ea typeface="Meiryo"/>
              </a:rPr>
              <a:t>失敗したテストを修正する</a:t>
            </a:r>
          </a:p>
          <a:p>
            <a:pPr marL="228600" indent="-228600">
              <a:spcBef>
                <a:spcPts val="0"/>
              </a:spcBef>
              <a:spcAft>
                <a:spcPts val="400"/>
              </a:spcAft>
              <a:buChar char="•"/>
              <a:lnSpc>
                <a:spcPts val="1980"/>
              </a:lnSpc>
            </a:pPr>
            <a:r>
              <a:rPr lang="ja-JP" sz="1100" b="0" i="0" dirty="0">
                <a:solidFill>
                  <a:srgbClr val="333333"/>
                </a:solidFill>
                <a:ea typeface="Meiryo"/>
              </a:rPr>
              <a:t>危険操作には</a:t>
            </a:r>
            <a:r>
              <a:rPr lang="en-US" sz="1100" b="0" i="0" dirty="0">
                <a:solidFill>
                  <a:srgbClr val="333333"/>
                </a:solidFill>
                <a:latin typeface="Segoe UI"/>
              </a:rPr>
              <a:t>dry-run</a:t>
            </a:r>
            <a:r>
              <a:rPr lang="ja-JP" sz="1100" b="0" i="0" dirty="0">
                <a:solidFill>
                  <a:srgbClr val="333333"/>
                </a:solidFill>
                <a:ea typeface="Meiryo"/>
              </a:rPr>
              <a:t>を用意する</a:t>
            </a:r>
          </a:p>
        </p:txBody>
      </p:sp>
      <p:sp>
        <p:nvSpPr>
          <p:cNvPr id="17" name="Rectangle 16"/>
          <p:cNvSpPr/>
          <p:nvPr/>
        </p:nvSpPr>
        <p:spPr>
          <a:xfrm>
            <a:off x="0" y="4777740"/>
            <a:ext cx="9144000" cy="9525"/>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28600" y="4823459"/>
            <a:ext cx="1828800" cy="274320"/>
          </a:xfrm>
          <a:prstGeom prst="rect">
            <a:avLst/>
          </a:prstGeom>
          <a:noFill/>
        </p:spPr>
        <p:txBody>
          <a:bodyPr wrap="none" anchor="ctr" lIns="0" rIns="0" tIns="0" bIns="0">
            <a:spAutoFit/>
          </a:bodyPr>
          <a:lstStyle/>
          <a:p>
            <a:fld id="{6BD5C729-C1E0-4C4F-BCAB-D0BCA7641C40}" type="slidenum">
              <a:rPr lang="ja-JP" smtClean="0" sz="1000">
                <a:solidFill>
                  <a:srgbClr val="888888"/>
                </a:solidFill>
              </a:rPr>
              <a:t>&lt;#&gt;</a:t>
            </a:fld>
            <a:r>
              <a:rPr lang="ja-JP" smtClean="0" sz="1000">
                <a:solidFill>
                  <a:srgbClr val="888888"/>
                </a:solidFill>
              </a:rPr>
              <a:t>/</a:t>
            </a:r>
            <a:r>
              <a:rPr lang="ja-JP" smtClean="0" sz="1000">
                <a:solidFill>
                  <a:srgbClr val="888888"/>
                </a:solidFill>
              </a:rPr>
              <a:t>9</a:t>
            </a:r>
          </a:p>
        </p:txBody>
      </p:sp>
      <p:pic>
        <p:nvPicPr>
          <p:cNvPr id="19" name="Picture 18" descr="logo.png"/>
          <p:cNvPicPr>
            <a:picLocks noChangeAspect="1"/>
          </p:cNvPicPr>
          <p:nvPr/>
        </p:nvPicPr>
        <p:blipFill>
          <a:blip r:embed="rId2"/>
          <a:stretch>
            <a:fillRect/>
          </a:stretch>
        </p:blipFill>
        <p:spPr>
          <a:xfrm>
            <a:off x="8001000" y="4846320"/>
            <a:ext cx="762000" cy="228600"/>
          </a:xfrm>
          <a:prstGeom prst="rect">
            <a:avLst/>
          </a:prstGeom>
          <a:effectLst/>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77240"/>
          </a:xfrm>
          <a:prstGeom prst="rect">
            <a:avLst/>
          </a:prstGeom>
          <a:solidFill>
            <a:srgbClr val="4A4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85039"/>
            <a:ext cx="8686800" cy="411480"/>
          </a:xfrm>
          <a:prstGeom prst="rect">
            <a:avLst/>
          </a:prstGeom>
          <a:noFill/>
          <a:effectLst/>
        </p:spPr>
        <p:txBody>
          <a:bodyPr wrap="square" lIns="0" rIns="0" tIns="0" bIns="0" anchor="ctr">
            <a:noAutofit/>
          </a:bodyPr>
          <a:lstStyle/>
          <a:p>
            <a:r>
              <a:rPr lang="en-US" sz="2400" b="1" i="0" dirty="0">
                <a:solidFill>
                  <a:srgbClr val="FFFFFF"/>
                </a:solidFill>
                <a:latin typeface="Segoe UI"/>
              </a:rPr>
              <a:t>7</a:t>
            </a:r>
            <a:r>
              <a:rPr lang="ja-JP" sz="2400" b="1" i="0" dirty="0">
                <a:solidFill>
                  <a:srgbClr val="FFFFFF"/>
                </a:solidFill>
                <a:ea typeface="Meiryo"/>
              </a:rPr>
              <a:t>章立てで</a:t>
            </a:r>
            <a:r>
              <a:rPr lang="en-US" sz="2400" b="1" i="0" dirty="0">
                <a:solidFill>
                  <a:srgbClr val="FFFFFF"/>
                </a:solidFill>
                <a:latin typeface="Segoe UI"/>
              </a:rPr>
              <a:t>AI</a:t>
            </a:r>
            <a:r>
              <a:rPr lang="ja-JP" sz="2400" b="1" i="0" dirty="0">
                <a:solidFill>
                  <a:srgbClr val="FFFFFF"/>
                </a:solidFill>
                <a:ea typeface="Meiryo"/>
              </a:rPr>
              <a:t>に必要な地図を渡す</a:t>
            </a:r>
          </a:p>
        </p:txBody>
      </p:sp>
      <p:sp>
        <p:nvSpPr>
          <p:cNvPr id="4" name="TextBox 3"/>
          <p:cNvSpPr txBox="1"/>
          <p:nvPr/>
        </p:nvSpPr>
        <p:spPr>
          <a:xfrm>
            <a:off x="228600" y="523036"/>
            <a:ext cx="8686800" cy="274320"/>
          </a:xfrm>
          <a:prstGeom prst="rect">
            <a:avLst/>
          </a:prstGeom>
          <a:noFill/>
          <a:effectLst/>
        </p:spPr>
        <p:txBody>
          <a:bodyPr wrap="square" lIns="0" rIns="0" tIns="0" bIns="0" anchor="ctr">
            <a:noAutofit/>
          </a:bodyPr>
          <a:lstStyle/>
          <a:p>
            <a:r>
              <a:rPr lang="ja-JP" sz="1200" b="0" i="0" dirty="0">
                <a:solidFill>
                  <a:srgbClr val="FFFFFF"/>
                </a:solidFill>
                <a:ea typeface="Meiryo"/>
              </a:rPr>
              <a:t>目的、技術、構造、手順、落とし穴を一枚の設計図にする</a:t>
            </a:r>
          </a:p>
        </p:txBody>
      </p:sp>
      <p:graphicFrame>
        <p:nvGraphicFramePr>
          <p:cNvPr id="5" name="Table 4"/>
          <p:cNvGraphicFramePr>
            <a:graphicFrameLocks noGrp="1"/>
          </p:cNvGraphicFramePr>
          <p:nvPr/>
        </p:nvGraphicFramePr>
        <p:xfrm>
          <a:off x="164592" y="941832"/>
          <a:ext cx="8814816" cy="2753484"/>
        </p:xfrm>
        <a:graphic>
          <a:graphicData uri="http://schemas.openxmlformats.org/drawingml/2006/table">
            <a:tbl>
              <a:tblPr>
                <a:tableStyleId>{5C22544A-7EE6-4342-B048-85BDC9FD1C3A}</a:tableStyleId>
              </a:tblPr>
              <a:tblGrid>
                <a:gridCol w="2938272"/>
                <a:gridCol w="2938272"/>
                <a:gridCol w="2938272"/>
              </a:tblGrid>
              <a:tr h="458914">
                <a:tc>
                  <a:txBody>
                    <a:bodyPr lIns="88900" rIns="88900" tIns="38100" bIns="38100" wrap="square" anchor="ctr"/>
                    <a:lstStyle/>
                    <a:p>
                      <a:r>
                        <a:rPr lang="ja-JP" sz="1200" b="1" i="0" dirty="0">
                          <a:solidFill>
                            <a:srgbClr val="FFFFFF"/>
                          </a:solidFill>
                          <a:ea typeface="Meiryo"/>
                        </a:rPr>
                        <a:t>章</a:t>
                      </a:r>
                    </a:p>
                  </a:txBody>
                  <a:tcPr anchor="ctr">
                    <a:solidFill>
                      <a:srgbClr val="6B7A99"/>
                    </a:solidFill>
                    <a:lnL w="9525" cap="flat" cmpd="sng" algn="ctr">
                      <a:solidFill>
                        <a:srgbClr val="D0D0D0"/>
                      </a:solidFill>
                      <a:prstDash val="solid"/>
                    </a:lnL>
                    <a:lnR w="9525" cap="flat" cmpd="sng" algn="ctr">
                      <a:solidFill>
                        <a:srgbClr val="D0D0D0"/>
                      </a:solidFill>
                      <a:prstDash val="solid"/>
                    </a:lnR>
                    <a:lnT w="9525" cap="flat" cmpd="sng" algn="ctr">
                      <a:solidFill>
                        <a:srgbClr val="D0D0D0"/>
                      </a:solidFill>
                      <a:prstDash val="solid"/>
                    </a:lnT>
                    <a:lnB w="9525" cap="flat" cmpd="sng" algn="ctr">
                      <a:solidFill>
                        <a:srgbClr val="D0D0D0"/>
                      </a:solidFill>
                      <a:prstDash val="solid"/>
                    </a:lnB>
                  </a:tcPr>
                </a:tc>
                <a:tc>
                  <a:txBody>
                    <a:bodyPr lIns="88900" rIns="88900" tIns="38100" bIns="38100" wrap="square" anchor="ctr"/>
                    <a:lstStyle/>
                    <a:p>
                      <a:r>
                        <a:rPr lang="ja-JP" sz="1200" b="1" i="0" dirty="0">
                          <a:solidFill>
                            <a:srgbClr val="FFFFFF"/>
                          </a:solidFill>
                          <a:ea typeface="Meiryo"/>
                        </a:rPr>
                        <a:t>書く内容</a:t>
                      </a:r>
                    </a:p>
                  </a:txBody>
                  <a:tcPr anchor="ctr">
                    <a:solidFill>
                      <a:srgbClr val="6B7A99"/>
                    </a:solidFill>
                    <a:lnL w="9525" cap="flat" cmpd="sng" algn="ctr">
                      <a:solidFill>
                        <a:srgbClr val="D0D0D0"/>
                      </a:solidFill>
                      <a:prstDash val="solid"/>
                    </a:lnL>
                    <a:lnR w="9525" cap="flat" cmpd="sng" algn="ctr">
                      <a:solidFill>
                        <a:srgbClr val="D0D0D0"/>
                      </a:solidFill>
                      <a:prstDash val="solid"/>
                    </a:lnR>
                    <a:lnT w="9525" cap="flat" cmpd="sng" algn="ctr">
                      <a:solidFill>
                        <a:srgbClr val="D0D0D0"/>
                      </a:solidFill>
                      <a:prstDash val="solid"/>
                    </a:lnT>
                    <a:lnB w="9525" cap="flat" cmpd="sng" algn="ctr">
                      <a:solidFill>
                        <a:srgbClr val="D0D0D0"/>
                      </a:solidFill>
                      <a:prstDash val="solid"/>
                    </a:lnB>
                  </a:tcPr>
                </a:tc>
                <a:tc>
                  <a:txBody>
                    <a:bodyPr lIns="88900" rIns="88900" tIns="38100" bIns="38100" wrap="square" anchor="ctr"/>
                    <a:lstStyle/>
                    <a:p>
                      <a:r>
                        <a:rPr lang="en-US" sz="1200" b="1" i="0" dirty="0">
                          <a:solidFill>
                            <a:srgbClr val="FFFFFF"/>
                          </a:solidFill>
                          <a:latin typeface="Segoe UI"/>
                        </a:rPr>
                        <a:t>AI</a:t>
                      </a:r>
                      <a:r>
                        <a:rPr lang="ja-JP" sz="1200" b="1" i="0" dirty="0">
                          <a:solidFill>
                            <a:srgbClr val="FFFFFF"/>
                          </a:solidFill>
                          <a:ea typeface="Meiryo"/>
                        </a:rPr>
                        <a:t>への効き方</a:t>
                      </a:r>
                    </a:p>
                  </a:txBody>
                  <a:tcPr anchor="ctr">
                    <a:solidFill>
                      <a:srgbClr val="6B7A99"/>
                    </a:solidFill>
                    <a:lnL w="9525" cap="flat" cmpd="sng" algn="ctr">
                      <a:solidFill>
                        <a:srgbClr val="D0D0D0"/>
                      </a:solidFill>
                      <a:prstDash val="solid"/>
                    </a:lnL>
                    <a:lnR w="9525" cap="flat" cmpd="sng" algn="ctr">
                      <a:solidFill>
                        <a:srgbClr val="D0D0D0"/>
                      </a:solidFill>
                      <a:prstDash val="solid"/>
                    </a:lnR>
                    <a:lnT w="9525" cap="flat" cmpd="sng" algn="ctr">
                      <a:solidFill>
                        <a:srgbClr val="D0D0D0"/>
                      </a:solidFill>
                      <a:prstDash val="solid"/>
                    </a:lnT>
                    <a:lnB w="9525" cap="flat" cmpd="sng" algn="ctr">
                      <a:solidFill>
                        <a:srgbClr val="D0D0D0"/>
                      </a:solidFill>
                      <a:prstDash val="solid"/>
                    </a:lnB>
                  </a:tcPr>
                </a:tc>
              </a:tr>
              <a:tr h="458914">
                <a:tc>
                  <a:txBody>
                    <a:bodyPr lIns="88900" rIns="88900" tIns="38100" bIns="38100" wrap="square" anchor="ctr"/>
                    <a:lstStyle/>
                    <a:p>
                      <a:r>
                        <a:rPr lang="ja-JP" sz="1200" b="1" i="0" dirty="0">
                          <a:solidFill>
                            <a:srgbClr val="FFFFFF"/>
                          </a:solidFill>
                          <a:ea typeface="Meiryo"/>
                        </a:rPr>
                        <a:t>プロジェクト概要</a:t>
                      </a:r>
                    </a:p>
                  </a:txBody>
                  <a:tcPr anchor="ctr">
                    <a:solidFill>
                      <a:srgbClr val="6B7A99"/>
                    </a:solidFill>
                    <a:lnL w="9525" cap="flat" cmpd="sng" algn="ctr">
                      <a:solidFill>
                        <a:srgbClr val="D0D0D0"/>
                      </a:solidFill>
                      <a:prstDash val="solid"/>
                    </a:lnL>
                    <a:lnR w="9525" cap="flat" cmpd="sng" algn="ctr">
                      <a:solidFill>
                        <a:srgbClr val="D0D0D0"/>
                      </a:solidFill>
                      <a:prstDash val="solid"/>
                    </a:lnR>
                    <a:lnT w="9525" cap="flat" cmpd="sng" algn="ctr">
                      <a:solidFill>
                        <a:srgbClr val="D0D0D0"/>
                      </a:solidFill>
                      <a:prstDash val="solid"/>
                    </a:lnT>
                    <a:lnB w="9525" cap="flat" cmpd="sng" algn="ctr">
                      <a:solidFill>
                        <a:srgbClr val="D0D0D0"/>
                      </a:solidFill>
                      <a:prstDash val="solid"/>
                    </a:lnB>
                  </a:tcPr>
                </a:tc>
                <a:tc>
                  <a:txBody>
                    <a:bodyPr lIns="88900" rIns="88900" tIns="38100" bIns="38100" wrap="square" anchor="ctr"/>
                    <a:lstStyle/>
                    <a:p>
                      <a:r>
                        <a:rPr lang="ja-JP" sz="1200" b="0" i="0" dirty="0">
                          <a:solidFill>
                            <a:srgbClr val="333333"/>
                          </a:solidFill>
                          <a:ea typeface="Meiryo"/>
                        </a:rPr>
                        <a:t>目的、想定ユーザー、重要ユースケース</a:t>
                      </a:r>
                    </a:p>
                  </a:txBody>
                  <a:tcPr anchor="ctr">
                    <a:solidFill>
                      <a:srgbClr val="FFFFFF"/>
                    </a:solidFill>
                    <a:lnL w="9525" cap="flat" cmpd="sng" algn="ctr">
                      <a:solidFill>
                        <a:srgbClr val="D0D0D0"/>
                      </a:solidFill>
                      <a:prstDash val="solid"/>
                    </a:lnL>
                    <a:lnR w="9525" cap="flat" cmpd="sng" algn="ctr">
                      <a:solidFill>
                        <a:srgbClr val="D0D0D0"/>
                      </a:solidFill>
                      <a:prstDash val="solid"/>
                    </a:lnR>
                    <a:lnT w="9525" cap="flat" cmpd="sng" algn="ctr">
                      <a:solidFill>
                        <a:srgbClr val="D0D0D0"/>
                      </a:solidFill>
                      <a:prstDash val="solid"/>
                    </a:lnT>
                    <a:lnB w="9525" cap="flat" cmpd="sng" algn="ctr">
                      <a:solidFill>
                        <a:srgbClr val="D0D0D0"/>
                      </a:solidFill>
                      <a:prstDash val="solid"/>
                    </a:lnB>
                  </a:tcPr>
                </a:tc>
                <a:tc>
                  <a:txBody>
                    <a:bodyPr lIns="88900" rIns="88900" tIns="38100" bIns="38100" wrap="square" anchor="ctr"/>
                    <a:lstStyle/>
                    <a:p>
                      <a:r>
                        <a:rPr lang="ja-JP" sz="1200" b="0" i="0" dirty="0">
                          <a:solidFill>
                            <a:srgbClr val="333333"/>
                          </a:solidFill>
                          <a:ea typeface="Meiryo"/>
                        </a:rPr>
                        <a:t>何を優先すべきか判断できる</a:t>
                      </a:r>
                    </a:p>
                  </a:txBody>
                  <a:tcPr anchor="ctr">
                    <a:solidFill>
                      <a:srgbClr val="FFFFFF"/>
                    </a:solidFill>
                    <a:lnL w="9525" cap="flat" cmpd="sng" algn="ctr">
                      <a:solidFill>
                        <a:srgbClr val="D0D0D0"/>
                      </a:solidFill>
                      <a:prstDash val="solid"/>
                    </a:lnL>
                    <a:lnR w="9525" cap="flat" cmpd="sng" algn="ctr">
                      <a:solidFill>
                        <a:srgbClr val="D0D0D0"/>
                      </a:solidFill>
                      <a:prstDash val="solid"/>
                    </a:lnR>
                    <a:lnT w="9525" cap="flat" cmpd="sng" algn="ctr">
                      <a:solidFill>
                        <a:srgbClr val="D0D0D0"/>
                      </a:solidFill>
                      <a:prstDash val="solid"/>
                    </a:lnT>
                    <a:lnB w="9525" cap="flat" cmpd="sng" algn="ctr">
                      <a:solidFill>
                        <a:srgbClr val="D0D0D0"/>
                      </a:solidFill>
                      <a:prstDash val="solid"/>
                    </a:lnB>
                  </a:tcPr>
                </a:tc>
              </a:tr>
              <a:tr h="458914">
                <a:tc>
                  <a:txBody>
                    <a:bodyPr lIns="88900" rIns="88900" tIns="38100" bIns="38100" wrap="square" anchor="ctr"/>
                    <a:lstStyle/>
                    <a:p>
                      <a:r>
                        <a:rPr lang="ja-JP" sz="1200" b="1" i="0" dirty="0">
                          <a:solidFill>
                            <a:srgbClr val="FFFFFF"/>
                          </a:solidFill>
                          <a:ea typeface="Meiryo"/>
                        </a:rPr>
                        <a:t>技術スタックと禁止事項</a:t>
                      </a:r>
                    </a:p>
                  </a:txBody>
                  <a:tcPr anchor="ctr">
                    <a:solidFill>
                      <a:srgbClr val="6B7A99"/>
                    </a:solidFill>
                    <a:lnL w="9525" cap="flat" cmpd="sng" algn="ctr">
                      <a:solidFill>
                        <a:srgbClr val="D0D0D0"/>
                      </a:solidFill>
                      <a:prstDash val="solid"/>
                    </a:lnL>
                    <a:lnR w="9525" cap="flat" cmpd="sng" algn="ctr">
                      <a:solidFill>
                        <a:srgbClr val="D0D0D0"/>
                      </a:solidFill>
                      <a:prstDash val="solid"/>
                    </a:lnR>
                    <a:lnT w="9525" cap="flat" cmpd="sng" algn="ctr">
                      <a:solidFill>
                        <a:srgbClr val="D0D0D0"/>
                      </a:solidFill>
                      <a:prstDash val="solid"/>
                    </a:lnT>
                    <a:lnB w="9525" cap="flat" cmpd="sng" algn="ctr">
                      <a:solidFill>
                        <a:srgbClr val="D0D0D0"/>
                      </a:solidFill>
                      <a:prstDash val="solid"/>
                    </a:lnB>
                  </a:tcPr>
                </a:tc>
                <a:tc>
                  <a:txBody>
                    <a:bodyPr lIns="88900" rIns="88900" tIns="38100" bIns="38100" wrap="square" anchor="ctr"/>
                    <a:lstStyle/>
                    <a:p>
                      <a:r>
                        <a:rPr lang="ja-JP" sz="1200" b="0" i="0" dirty="0">
                          <a:solidFill>
                            <a:srgbClr val="333333"/>
                          </a:solidFill>
                          <a:ea typeface="Meiryo"/>
                        </a:rPr>
                        <a:t>言語、フレームワーク、禁止ライブラリ</a:t>
                      </a:r>
                    </a:p>
                  </a:txBody>
                  <a:tcPr anchor="ctr">
                    <a:solidFill>
                      <a:srgbClr val="F5F5F5"/>
                    </a:solidFill>
                    <a:lnL w="9525" cap="flat" cmpd="sng" algn="ctr">
                      <a:solidFill>
                        <a:srgbClr val="D0D0D0"/>
                      </a:solidFill>
                      <a:prstDash val="solid"/>
                    </a:lnL>
                    <a:lnR w="9525" cap="flat" cmpd="sng" algn="ctr">
                      <a:solidFill>
                        <a:srgbClr val="D0D0D0"/>
                      </a:solidFill>
                      <a:prstDash val="solid"/>
                    </a:lnR>
                    <a:lnT w="9525" cap="flat" cmpd="sng" algn="ctr">
                      <a:solidFill>
                        <a:srgbClr val="D0D0D0"/>
                      </a:solidFill>
                      <a:prstDash val="solid"/>
                    </a:lnT>
                    <a:lnB w="9525" cap="flat" cmpd="sng" algn="ctr">
                      <a:solidFill>
                        <a:srgbClr val="D0D0D0"/>
                      </a:solidFill>
                      <a:prstDash val="solid"/>
                    </a:lnB>
                  </a:tcPr>
                </a:tc>
                <a:tc>
                  <a:txBody>
                    <a:bodyPr lIns="88900" rIns="88900" tIns="38100" bIns="38100" wrap="square" anchor="ctr"/>
                    <a:lstStyle/>
                    <a:p>
                      <a:r>
                        <a:rPr lang="ja-JP" sz="1200" b="0" i="0" dirty="0">
                          <a:solidFill>
                            <a:srgbClr val="333333"/>
                          </a:solidFill>
                          <a:ea typeface="Meiryo"/>
                        </a:rPr>
                        <a:t>勝手な選択肢を減らせる</a:t>
                      </a:r>
                    </a:p>
                  </a:txBody>
                  <a:tcPr anchor="ctr">
                    <a:solidFill>
                      <a:srgbClr val="F5F5F5"/>
                    </a:solidFill>
                    <a:lnL w="9525" cap="flat" cmpd="sng" algn="ctr">
                      <a:solidFill>
                        <a:srgbClr val="D0D0D0"/>
                      </a:solidFill>
                      <a:prstDash val="solid"/>
                    </a:lnL>
                    <a:lnR w="9525" cap="flat" cmpd="sng" algn="ctr">
                      <a:solidFill>
                        <a:srgbClr val="D0D0D0"/>
                      </a:solidFill>
                      <a:prstDash val="solid"/>
                    </a:lnR>
                    <a:lnT w="9525" cap="flat" cmpd="sng" algn="ctr">
                      <a:solidFill>
                        <a:srgbClr val="D0D0D0"/>
                      </a:solidFill>
                      <a:prstDash val="solid"/>
                    </a:lnT>
                    <a:lnB w="9525" cap="flat" cmpd="sng" algn="ctr">
                      <a:solidFill>
                        <a:srgbClr val="D0D0D0"/>
                      </a:solidFill>
                      <a:prstDash val="solid"/>
                    </a:lnB>
                  </a:tcPr>
                </a:tc>
              </a:tr>
              <a:tr h="458914">
                <a:tc>
                  <a:txBody>
                    <a:bodyPr lIns="88900" rIns="88900" tIns="38100" bIns="38100" wrap="square" anchor="ctr"/>
                    <a:lstStyle/>
                    <a:p>
                      <a:r>
                        <a:rPr lang="ja-JP" sz="1200" b="1" i="0" dirty="0">
                          <a:solidFill>
                            <a:srgbClr val="FFFFFF"/>
                          </a:solidFill>
                          <a:ea typeface="Meiryo"/>
                        </a:rPr>
                        <a:t>ディレクトリ構成</a:t>
                      </a:r>
                    </a:p>
                  </a:txBody>
                  <a:tcPr anchor="ctr">
                    <a:solidFill>
                      <a:srgbClr val="6B7A99"/>
                    </a:solidFill>
                    <a:lnL w="9525" cap="flat" cmpd="sng" algn="ctr">
                      <a:solidFill>
                        <a:srgbClr val="D0D0D0"/>
                      </a:solidFill>
                      <a:prstDash val="solid"/>
                    </a:lnL>
                    <a:lnR w="9525" cap="flat" cmpd="sng" algn="ctr">
                      <a:solidFill>
                        <a:srgbClr val="D0D0D0"/>
                      </a:solidFill>
                      <a:prstDash val="solid"/>
                    </a:lnR>
                    <a:lnT w="9525" cap="flat" cmpd="sng" algn="ctr">
                      <a:solidFill>
                        <a:srgbClr val="D0D0D0"/>
                      </a:solidFill>
                      <a:prstDash val="solid"/>
                    </a:lnT>
                    <a:lnB w="9525" cap="flat" cmpd="sng" algn="ctr">
                      <a:solidFill>
                        <a:srgbClr val="D0D0D0"/>
                      </a:solidFill>
                      <a:prstDash val="solid"/>
                    </a:lnB>
                  </a:tcPr>
                </a:tc>
                <a:tc>
                  <a:txBody>
                    <a:bodyPr lIns="88900" rIns="88900" tIns="38100" bIns="38100" wrap="square" anchor="ctr"/>
                    <a:lstStyle/>
                    <a:p>
                      <a:r>
                        <a:rPr lang="ja-JP" sz="1200" b="0" i="0" dirty="0">
                          <a:solidFill>
                            <a:srgbClr val="333333"/>
                          </a:solidFill>
                          <a:ea typeface="Meiryo"/>
                        </a:rPr>
                        <a:t>主要フォルダと責務</a:t>
                      </a:r>
                    </a:p>
                  </a:txBody>
                  <a:tcPr anchor="ctr">
                    <a:solidFill>
                      <a:srgbClr val="FFFFFF"/>
                    </a:solidFill>
                    <a:lnL w="9525" cap="flat" cmpd="sng" algn="ctr">
                      <a:solidFill>
                        <a:srgbClr val="D0D0D0"/>
                      </a:solidFill>
                      <a:prstDash val="solid"/>
                    </a:lnL>
                    <a:lnR w="9525" cap="flat" cmpd="sng" algn="ctr">
                      <a:solidFill>
                        <a:srgbClr val="D0D0D0"/>
                      </a:solidFill>
                      <a:prstDash val="solid"/>
                    </a:lnR>
                    <a:lnT w="9525" cap="flat" cmpd="sng" algn="ctr">
                      <a:solidFill>
                        <a:srgbClr val="D0D0D0"/>
                      </a:solidFill>
                      <a:prstDash val="solid"/>
                    </a:lnT>
                    <a:lnB w="9525" cap="flat" cmpd="sng" algn="ctr">
                      <a:solidFill>
                        <a:srgbClr val="D0D0D0"/>
                      </a:solidFill>
                      <a:prstDash val="solid"/>
                    </a:lnB>
                  </a:tcPr>
                </a:tc>
                <a:tc>
                  <a:txBody>
                    <a:bodyPr lIns="88900" rIns="88900" tIns="38100" bIns="38100" wrap="square" anchor="ctr"/>
                    <a:lstStyle/>
                    <a:p>
                      <a:r>
                        <a:rPr lang="ja-JP" sz="1200" b="0" i="0" dirty="0">
                          <a:solidFill>
                            <a:srgbClr val="333333"/>
                          </a:solidFill>
                          <a:ea typeface="Meiryo"/>
                        </a:rPr>
                        <a:t>探す場所と変更範囲を誤りにくい</a:t>
                      </a:r>
                    </a:p>
                  </a:txBody>
                  <a:tcPr anchor="ctr">
                    <a:solidFill>
                      <a:srgbClr val="FFFFFF"/>
                    </a:solidFill>
                    <a:lnL w="9525" cap="flat" cmpd="sng" algn="ctr">
                      <a:solidFill>
                        <a:srgbClr val="D0D0D0"/>
                      </a:solidFill>
                      <a:prstDash val="solid"/>
                    </a:lnL>
                    <a:lnR w="9525" cap="flat" cmpd="sng" algn="ctr">
                      <a:solidFill>
                        <a:srgbClr val="D0D0D0"/>
                      </a:solidFill>
                      <a:prstDash val="solid"/>
                    </a:lnR>
                    <a:lnT w="9525" cap="flat" cmpd="sng" algn="ctr">
                      <a:solidFill>
                        <a:srgbClr val="D0D0D0"/>
                      </a:solidFill>
                      <a:prstDash val="solid"/>
                    </a:lnT>
                    <a:lnB w="9525" cap="flat" cmpd="sng" algn="ctr">
                      <a:solidFill>
                        <a:srgbClr val="D0D0D0"/>
                      </a:solidFill>
                      <a:prstDash val="solid"/>
                    </a:lnB>
                  </a:tcPr>
                </a:tc>
              </a:tr>
              <a:tr h="458914">
                <a:tc>
                  <a:txBody>
                    <a:bodyPr lIns="88900" rIns="88900" tIns="38100" bIns="38100" wrap="square" anchor="ctr"/>
                    <a:lstStyle/>
                    <a:p>
                      <a:r>
                        <a:rPr lang="ja-JP" sz="1200" b="1" i="0" dirty="0">
                          <a:solidFill>
                            <a:srgbClr val="FFFFFF"/>
                          </a:solidFill>
                          <a:ea typeface="Meiryo"/>
                        </a:rPr>
                        <a:t>コマンド集</a:t>
                      </a:r>
                    </a:p>
                  </a:txBody>
                  <a:tcPr anchor="ctr">
                    <a:solidFill>
                      <a:srgbClr val="6B7A99"/>
                    </a:solidFill>
                    <a:lnL w="9525" cap="flat" cmpd="sng" algn="ctr">
                      <a:solidFill>
                        <a:srgbClr val="D0D0D0"/>
                      </a:solidFill>
                      <a:prstDash val="solid"/>
                    </a:lnL>
                    <a:lnR w="9525" cap="flat" cmpd="sng" algn="ctr">
                      <a:solidFill>
                        <a:srgbClr val="D0D0D0"/>
                      </a:solidFill>
                      <a:prstDash val="solid"/>
                    </a:lnR>
                    <a:lnT w="9525" cap="flat" cmpd="sng" algn="ctr">
                      <a:solidFill>
                        <a:srgbClr val="D0D0D0"/>
                      </a:solidFill>
                      <a:prstDash val="solid"/>
                    </a:lnT>
                    <a:lnB w="9525" cap="flat" cmpd="sng" algn="ctr">
                      <a:solidFill>
                        <a:srgbClr val="D0D0D0"/>
                      </a:solidFill>
                      <a:prstDash val="solid"/>
                    </a:lnB>
                  </a:tcPr>
                </a:tc>
                <a:tc>
                  <a:txBody>
                    <a:bodyPr lIns="88900" rIns="88900" tIns="38100" bIns="38100" wrap="square" anchor="ctr"/>
                    <a:lstStyle/>
                    <a:p>
                      <a:r>
                        <a:rPr lang="en-US" sz="1200" b="0" i="0" dirty="0">
                          <a:solidFill>
                            <a:srgbClr val="333333"/>
                          </a:solidFill>
                          <a:latin typeface="Segoe UI"/>
                        </a:rPr>
                        <a:t>dev</a:t>
                      </a:r>
                      <a:r>
                        <a:rPr lang="ja-JP" sz="1200" b="0" i="0" dirty="0">
                          <a:solidFill>
                            <a:srgbClr val="333333"/>
                          </a:solidFill>
                          <a:ea typeface="Meiryo"/>
                        </a:rPr>
                        <a:t>、</a:t>
                      </a:r>
                      <a:r>
                        <a:rPr lang="en-US" sz="1200" b="0" i="0" dirty="0">
                          <a:solidFill>
                            <a:srgbClr val="333333"/>
                          </a:solidFill>
                          <a:latin typeface="Segoe UI"/>
                        </a:rPr>
                        <a:t>test</a:t>
                      </a:r>
                      <a:r>
                        <a:rPr lang="ja-JP" sz="1200" b="0" i="0" dirty="0">
                          <a:solidFill>
                            <a:srgbClr val="333333"/>
                          </a:solidFill>
                          <a:ea typeface="Meiryo"/>
                        </a:rPr>
                        <a:t>、</a:t>
                      </a:r>
                      <a:r>
                        <a:rPr lang="en-US" sz="1200" b="0" i="0" dirty="0">
                          <a:solidFill>
                            <a:srgbClr val="333333"/>
                          </a:solidFill>
                          <a:latin typeface="Segoe UI"/>
                        </a:rPr>
                        <a:t>typecheck</a:t>
                      </a:r>
                      <a:r>
                        <a:rPr lang="ja-JP" sz="1200" b="0" i="0" dirty="0">
                          <a:solidFill>
                            <a:srgbClr val="333333"/>
                          </a:solidFill>
                          <a:ea typeface="Meiryo"/>
                        </a:rPr>
                        <a:t>、</a:t>
                      </a:r>
                      <a:r>
                        <a:rPr lang="en-US" sz="1200" b="0" i="0" dirty="0">
                          <a:solidFill>
                            <a:srgbClr val="333333"/>
                          </a:solidFill>
                          <a:latin typeface="Segoe UI"/>
                        </a:rPr>
                        <a:t>lint</a:t>
                      </a:r>
                    </a:p>
                  </a:txBody>
                  <a:tcPr anchor="ctr">
                    <a:solidFill>
                      <a:srgbClr val="F5F5F5"/>
                    </a:solidFill>
                    <a:lnL w="9525" cap="flat" cmpd="sng" algn="ctr">
                      <a:solidFill>
                        <a:srgbClr val="D0D0D0"/>
                      </a:solidFill>
                      <a:prstDash val="solid"/>
                    </a:lnL>
                    <a:lnR w="9525" cap="flat" cmpd="sng" algn="ctr">
                      <a:solidFill>
                        <a:srgbClr val="D0D0D0"/>
                      </a:solidFill>
                      <a:prstDash val="solid"/>
                    </a:lnR>
                    <a:lnT w="9525" cap="flat" cmpd="sng" algn="ctr">
                      <a:solidFill>
                        <a:srgbClr val="D0D0D0"/>
                      </a:solidFill>
                      <a:prstDash val="solid"/>
                    </a:lnT>
                    <a:lnB w="9525" cap="flat" cmpd="sng" algn="ctr">
                      <a:solidFill>
                        <a:srgbClr val="D0D0D0"/>
                      </a:solidFill>
                      <a:prstDash val="solid"/>
                    </a:lnB>
                  </a:tcPr>
                </a:tc>
                <a:tc>
                  <a:txBody>
                    <a:bodyPr lIns="88900" rIns="88900" tIns="38100" bIns="38100" wrap="square" anchor="ctr"/>
                    <a:lstStyle/>
                    <a:p>
                      <a:r>
                        <a:rPr lang="ja-JP" sz="1200" b="0" i="0" dirty="0">
                          <a:solidFill>
                            <a:srgbClr val="333333"/>
                          </a:solidFill>
                          <a:ea typeface="Meiryo"/>
                        </a:rPr>
                        <a:t>計画と検証にそのまま組み込める</a:t>
                      </a:r>
                    </a:p>
                  </a:txBody>
                  <a:tcPr anchor="ctr">
                    <a:solidFill>
                      <a:srgbClr val="F5F5F5"/>
                    </a:solidFill>
                    <a:lnL w="9525" cap="flat" cmpd="sng" algn="ctr">
                      <a:solidFill>
                        <a:srgbClr val="D0D0D0"/>
                      </a:solidFill>
                      <a:prstDash val="solid"/>
                    </a:lnL>
                    <a:lnR w="9525" cap="flat" cmpd="sng" algn="ctr">
                      <a:solidFill>
                        <a:srgbClr val="D0D0D0"/>
                      </a:solidFill>
                      <a:prstDash val="solid"/>
                    </a:lnR>
                    <a:lnT w="9525" cap="flat" cmpd="sng" algn="ctr">
                      <a:solidFill>
                        <a:srgbClr val="D0D0D0"/>
                      </a:solidFill>
                      <a:prstDash val="solid"/>
                    </a:lnT>
                    <a:lnB w="9525" cap="flat" cmpd="sng" algn="ctr">
                      <a:solidFill>
                        <a:srgbClr val="D0D0D0"/>
                      </a:solidFill>
                      <a:prstDash val="solid"/>
                    </a:lnB>
                  </a:tcPr>
                </a:tc>
              </a:tr>
              <a:tr h="458914">
                <a:tc>
                  <a:txBody>
                    <a:bodyPr lIns="88900" rIns="88900" tIns="38100" bIns="38100" wrap="square" anchor="ctr"/>
                    <a:lstStyle/>
                    <a:p>
                      <a:r>
                        <a:rPr lang="ja-JP" sz="1200" b="1" i="0" dirty="0">
                          <a:solidFill>
                            <a:srgbClr val="FFFFFF"/>
                          </a:solidFill>
                          <a:ea typeface="Meiryo"/>
                        </a:rPr>
                        <a:t>作業ルール</a:t>
                      </a:r>
                    </a:p>
                  </a:txBody>
                  <a:tcPr anchor="ctr">
                    <a:solidFill>
                      <a:srgbClr val="6B7A99"/>
                    </a:solidFill>
                    <a:lnL w="9525" cap="flat" cmpd="sng" algn="ctr">
                      <a:solidFill>
                        <a:srgbClr val="D0D0D0"/>
                      </a:solidFill>
                      <a:prstDash val="solid"/>
                    </a:lnL>
                    <a:lnR w="9525" cap="flat" cmpd="sng" algn="ctr">
                      <a:solidFill>
                        <a:srgbClr val="D0D0D0"/>
                      </a:solidFill>
                      <a:prstDash val="solid"/>
                    </a:lnR>
                    <a:lnT w="9525" cap="flat" cmpd="sng" algn="ctr">
                      <a:solidFill>
                        <a:srgbClr val="D0D0D0"/>
                      </a:solidFill>
                      <a:prstDash val="solid"/>
                    </a:lnT>
                    <a:lnB w="9525" cap="flat" cmpd="sng" algn="ctr">
                      <a:solidFill>
                        <a:srgbClr val="D0D0D0"/>
                      </a:solidFill>
                      <a:prstDash val="solid"/>
                    </a:lnB>
                  </a:tcPr>
                </a:tc>
                <a:tc>
                  <a:txBody>
                    <a:bodyPr lIns="88900" rIns="88900" tIns="38100" bIns="38100" wrap="square" anchor="ctr"/>
                    <a:lstStyle/>
                    <a:p>
                      <a:r>
                        <a:rPr lang="ja-JP" sz="1200" b="0" i="0" dirty="0">
                          <a:solidFill>
                            <a:srgbClr val="333333"/>
                          </a:solidFill>
                          <a:ea typeface="Meiryo"/>
                        </a:rPr>
                        <a:t>調査、計画、検証、報告の順序</a:t>
                      </a:r>
                    </a:p>
                  </a:txBody>
                  <a:tcPr anchor="ctr">
                    <a:solidFill>
                      <a:srgbClr val="FFFFFF"/>
                    </a:solidFill>
                    <a:lnL w="9525" cap="flat" cmpd="sng" algn="ctr">
                      <a:solidFill>
                        <a:srgbClr val="D0D0D0"/>
                      </a:solidFill>
                      <a:prstDash val="solid"/>
                    </a:lnL>
                    <a:lnR w="9525" cap="flat" cmpd="sng" algn="ctr">
                      <a:solidFill>
                        <a:srgbClr val="D0D0D0"/>
                      </a:solidFill>
                      <a:prstDash val="solid"/>
                    </a:lnR>
                    <a:lnT w="9525" cap="flat" cmpd="sng" algn="ctr">
                      <a:solidFill>
                        <a:srgbClr val="D0D0D0"/>
                      </a:solidFill>
                      <a:prstDash val="solid"/>
                    </a:lnT>
                    <a:lnB w="9525" cap="flat" cmpd="sng" algn="ctr">
                      <a:solidFill>
                        <a:srgbClr val="D0D0D0"/>
                      </a:solidFill>
                      <a:prstDash val="solid"/>
                    </a:lnB>
                  </a:tcPr>
                </a:tc>
                <a:tc>
                  <a:txBody>
                    <a:bodyPr lIns="88900" rIns="88900" tIns="38100" bIns="38100" wrap="square" anchor="ctr"/>
                    <a:lstStyle/>
                    <a:p>
                      <a:r>
                        <a:rPr lang="ja-JP" sz="1200" b="0" i="0" dirty="0">
                          <a:solidFill>
                            <a:srgbClr val="333333"/>
                          </a:solidFill>
                          <a:ea typeface="Meiryo"/>
                        </a:rPr>
                        <a:t>期待する進め方を固定できる</a:t>
                      </a:r>
                    </a:p>
                  </a:txBody>
                  <a:tcPr anchor="ctr">
                    <a:solidFill>
                      <a:srgbClr val="FFFFFF"/>
                    </a:solidFill>
                    <a:lnL w="9525" cap="flat" cmpd="sng" algn="ctr">
                      <a:solidFill>
                        <a:srgbClr val="D0D0D0"/>
                      </a:solidFill>
                      <a:prstDash val="solid"/>
                    </a:lnL>
                    <a:lnR w="9525" cap="flat" cmpd="sng" algn="ctr">
                      <a:solidFill>
                        <a:srgbClr val="D0D0D0"/>
                      </a:solidFill>
                      <a:prstDash val="solid"/>
                    </a:lnR>
                    <a:lnT w="9525" cap="flat" cmpd="sng" algn="ctr">
                      <a:solidFill>
                        <a:srgbClr val="D0D0D0"/>
                      </a:solidFill>
                      <a:prstDash val="solid"/>
                    </a:lnT>
                    <a:lnB w="9525" cap="flat" cmpd="sng" algn="ctr">
                      <a:solidFill>
                        <a:srgbClr val="D0D0D0"/>
                      </a:solidFill>
                      <a:prstDash val="solid"/>
                    </a:lnB>
                  </a:tcPr>
                </a:tc>
              </a:tr>
            </a:tbl>
          </a:graphicData>
        </a:graphic>
      </p:graphicFrame>
      <p:sp>
        <p:nvSpPr>
          <p:cNvPr id="6" name="Rectangle 5"/>
          <p:cNvSpPr/>
          <p:nvPr/>
        </p:nvSpPr>
        <p:spPr>
          <a:xfrm>
            <a:off x="164592" y="3768471"/>
            <a:ext cx="8814816" cy="844677"/>
          </a:xfrm>
          <a:prstGeom prst="rect">
            <a:avLst/>
          </a:prstGeom>
          <a:solidFill>
            <a:srgbClr val="EEF2FF"/>
          </a:solidFill>
          <a:ln w="19050">
            <a:solidFill>
              <a:srgbClr val="6B7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4592" y="3768471"/>
            <a:ext cx="64008" cy="844677"/>
          </a:xfrm>
          <a:prstGeom prst="rect">
            <a:avLst/>
          </a:prstGeom>
          <a:solidFill>
            <a:srgbClr val="6B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3878199"/>
            <a:ext cx="8476488" cy="625221"/>
          </a:xfrm>
          <a:prstGeom prst="rect">
            <a:avLst/>
          </a:prstGeom>
          <a:noFill/>
          <a:effectLst/>
        </p:spPr>
        <p:txBody>
          <a:bodyPr wrap="square" lIns="0" rIns="0" tIns="0" bIns="0">
            <a:noAutofit/>
          </a:bodyPr>
          <a:lstStyle/>
          <a:p>
            <a:pPr>
              <a:spcBef>
                <a:spcPts val="0"/>
              </a:spcBef>
              <a:spcAft>
                <a:spcPts val="400"/>
              </a:spcAft>
              <a:buNone/>
              <a:lnSpc>
                <a:spcPts val="2160"/>
              </a:lnSpc>
            </a:pPr>
            <a:r>
              <a:rPr lang="en-US" sz="1200" b="0" i="0" dirty="0">
                <a:solidFill>
                  <a:srgbClr val="1A2A5A"/>
                </a:solidFill>
                <a:latin typeface="Segoe UI"/>
              </a:rPr>
              <a:t>CLAUDE.md</a:t>
            </a:r>
            <a:r>
              <a:rPr lang="ja-JP" sz="1200" b="0" i="0" dirty="0">
                <a:solidFill>
                  <a:srgbClr val="1A2A5A"/>
                </a:solidFill>
                <a:ea typeface="Meiryo"/>
              </a:rPr>
              <a:t>は、読むだけの文書ではなく、</a:t>
            </a:r>
            <a:r>
              <a:rPr lang="en-US" sz="1200" b="0" i="0" dirty="0">
                <a:solidFill>
                  <a:srgbClr val="1A2A5A"/>
                </a:solidFill>
                <a:latin typeface="Segoe UI"/>
              </a:rPr>
              <a:t>AI</a:t>
            </a:r>
            <a:r>
              <a:rPr lang="ja-JP" sz="1200" b="0" i="0" dirty="0">
                <a:solidFill>
                  <a:srgbClr val="1A2A5A"/>
                </a:solidFill>
                <a:ea typeface="Meiryo"/>
              </a:rPr>
              <a:t>が作業空間を理解するための最短地図である。</a:t>
            </a:r>
          </a:p>
        </p:txBody>
      </p:sp>
      <p:sp>
        <p:nvSpPr>
          <p:cNvPr id="9" name="Rectangle 8"/>
          <p:cNvSpPr/>
          <p:nvPr/>
        </p:nvSpPr>
        <p:spPr>
          <a:xfrm>
            <a:off x="0" y="4777740"/>
            <a:ext cx="9144000" cy="9525"/>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 y="4823459"/>
            <a:ext cx="1828800" cy="274320"/>
          </a:xfrm>
          <a:prstGeom prst="rect">
            <a:avLst/>
          </a:prstGeom>
          <a:noFill/>
        </p:spPr>
        <p:txBody>
          <a:bodyPr wrap="none" anchor="ctr" lIns="0" rIns="0" tIns="0" bIns="0">
            <a:spAutoFit/>
          </a:bodyPr>
          <a:lstStyle/>
          <a:p>
            <a:fld id="{12300401-7FE5-43AD-A70B-5521978220A7}" type="slidenum">
              <a:rPr lang="ja-JP" smtClean="0" sz="1000">
                <a:solidFill>
                  <a:srgbClr val="888888"/>
                </a:solidFill>
              </a:rPr>
              <a:t>&lt;#&gt;</a:t>
            </a:fld>
            <a:r>
              <a:rPr lang="ja-JP" smtClean="0" sz="1000">
                <a:solidFill>
                  <a:srgbClr val="888888"/>
                </a:solidFill>
              </a:rPr>
              <a:t>/</a:t>
            </a:r>
            <a:r>
              <a:rPr lang="ja-JP" smtClean="0" sz="1000">
                <a:solidFill>
                  <a:srgbClr val="888888"/>
                </a:solidFill>
              </a:rPr>
              <a:t>9</a:t>
            </a:r>
          </a:p>
        </p:txBody>
      </p:sp>
      <p:pic>
        <p:nvPicPr>
          <p:cNvPr id="11" name="Picture 10" descr="logo.png"/>
          <p:cNvPicPr>
            <a:picLocks noChangeAspect="1"/>
          </p:cNvPicPr>
          <p:nvPr/>
        </p:nvPicPr>
        <p:blipFill>
          <a:blip r:embed="rId2"/>
          <a:stretch>
            <a:fillRect/>
          </a:stretch>
        </p:blipFill>
        <p:spPr>
          <a:xfrm>
            <a:off x="8001000" y="4846320"/>
            <a:ext cx="762000" cy="228600"/>
          </a:xfrm>
          <a:prstGeom prst="rect">
            <a:avLst/>
          </a:prstGeom>
          <a:effectLst/>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77240"/>
          </a:xfrm>
          <a:prstGeom prst="rect">
            <a:avLst/>
          </a:prstGeom>
          <a:solidFill>
            <a:srgbClr val="4A4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85039"/>
            <a:ext cx="8686800" cy="411480"/>
          </a:xfrm>
          <a:prstGeom prst="rect">
            <a:avLst/>
          </a:prstGeom>
          <a:noFill/>
          <a:effectLst/>
        </p:spPr>
        <p:txBody>
          <a:bodyPr wrap="square" lIns="0" rIns="0" tIns="0" bIns="0" anchor="ctr">
            <a:noAutofit/>
          </a:bodyPr>
          <a:lstStyle/>
          <a:p>
            <a:r>
              <a:rPr lang="en-US" sz="2400" b="1" i="0" dirty="0">
                <a:solidFill>
                  <a:srgbClr val="FFFFFF"/>
                </a:solidFill>
                <a:latin typeface="Segoe UI"/>
              </a:rPr>
              <a:t>rules</a:t>
            </a:r>
            <a:r>
              <a:rPr lang="ja-JP" sz="2400" b="1" i="0" dirty="0">
                <a:solidFill>
                  <a:srgbClr val="FFFFFF"/>
                </a:solidFill>
                <a:ea typeface="Meiryo"/>
              </a:rPr>
              <a:t>で文脈を局所化し、認知負荷を下げる</a:t>
            </a:r>
          </a:p>
        </p:txBody>
      </p:sp>
      <p:sp>
        <p:nvSpPr>
          <p:cNvPr id="4" name="TextBox 3"/>
          <p:cNvSpPr txBox="1"/>
          <p:nvPr/>
        </p:nvSpPr>
        <p:spPr>
          <a:xfrm>
            <a:off x="228600" y="523036"/>
            <a:ext cx="8686800" cy="274320"/>
          </a:xfrm>
          <a:prstGeom prst="rect">
            <a:avLst/>
          </a:prstGeom>
          <a:noFill/>
          <a:effectLst/>
        </p:spPr>
        <p:txBody>
          <a:bodyPr wrap="square" lIns="0" rIns="0" tIns="0" bIns="0" anchor="ctr">
            <a:noAutofit/>
          </a:bodyPr>
          <a:lstStyle/>
          <a:p>
            <a:r>
              <a:rPr lang="ja-JP" sz="1200" b="0" i="0" dirty="0">
                <a:solidFill>
                  <a:srgbClr val="FFFFFF"/>
                </a:solidFill>
                <a:ea typeface="Meiryo"/>
              </a:rPr>
              <a:t>全体ルールと領域別ルールを分けて適用する</a:t>
            </a:r>
          </a:p>
        </p:txBody>
      </p:sp>
      <p:sp>
        <p:nvSpPr>
          <p:cNvPr id="5" name="Step5"/>
          <p:cNvSpPr/>
          <p:nvPr/>
        </p:nvSpPr>
        <p:spPr>
          <a:xfrm>
            <a:off x="164592" y="941832"/>
            <a:ext cx="2889504" cy="959205"/>
          </a:xfrm>
          <a:custGeom>
            <a:avLst/>
            <a:gdLst/>
            <a:ahLst/>
            <a:cxnLst/>
            <a:rect l="0" t="0" r="r" b="b"/>
            <a:pathLst>
              <a:path w="100000" h="100000">
                <a:moveTo>
                  <a:pt x="0" y="0"/>
                </a:moveTo>
                <a:lnTo>
                  <a:pt x="88000" y="0"/>
                </a:lnTo>
                <a:lnTo>
                  <a:pt x="100000" y="50000"/>
                </a:lnTo>
                <a:lnTo>
                  <a:pt x="88000" y="100000"/>
                </a:lnTo>
                <a:lnTo>
                  <a:pt x="0" y="100000"/>
                </a:lnTo>
                <a:close/>
              </a:path>
            </a:pathLst>
          </a:custGeom>
          <a:solidFill>
            <a:srgbClr val="D0D0D0"/>
          </a:solidFill>
          <a:ln w="9525">
            <a:solidFill>
              <a:srgbClr val="CCCCCC"/>
            </a:solidFill>
          </a:ln>
          <a:effectLst/>
        </p:spPr>
        <p:txBody>
          <a:bodyPr/>
          <a:lstStyle/>
          <a:p/>
        </p:txBody>
      </p:sp>
      <p:sp>
        <p:nvSpPr>
          <p:cNvPr id="6" name="TextBox 5"/>
          <p:cNvSpPr txBox="1"/>
          <p:nvPr/>
        </p:nvSpPr>
        <p:spPr>
          <a:xfrm>
            <a:off x="301751" y="941832"/>
            <a:ext cx="2456078" cy="959205"/>
          </a:xfrm>
          <a:prstGeom prst="rect">
            <a:avLst/>
          </a:prstGeom>
          <a:noFill/>
          <a:effectLst/>
        </p:spPr>
        <p:txBody>
          <a:bodyPr wrap="square" lIns="0" rIns="0" tIns="0" bIns="0" anchor="ctr">
            <a:noAutofit/>
          </a:bodyPr>
          <a:lstStyle/>
          <a:p>
            <a:r>
              <a:rPr lang="ja-JP" sz="1400" b="1" i="0" dirty="0">
                <a:solidFill>
                  <a:srgbClr val="333333"/>
                </a:solidFill>
                <a:ea typeface="Meiryo"/>
              </a:rPr>
              <a:t>共通ルールを置く</a:t>
            </a:r>
          </a:p>
        </p:txBody>
      </p:sp>
      <p:sp>
        <p:nvSpPr>
          <p:cNvPr id="7" name="Step7"/>
          <p:cNvSpPr/>
          <p:nvPr/>
        </p:nvSpPr>
        <p:spPr>
          <a:xfrm>
            <a:off x="3127248" y="941832"/>
            <a:ext cx="2889504" cy="959205"/>
          </a:xfrm>
          <a:custGeom>
            <a:avLst/>
            <a:gdLst/>
            <a:ahLst/>
            <a:cxnLst/>
            <a:rect l="0" t="0" r="r" b="b"/>
            <a:pathLst>
              <a:path w="100000" h="100000">
                <a:moveTo>
                  <a:pt x="0" y="0"/>
                </a:moveTo>
                <a:lnTo>
                  <a:pt x="88000" y="0"/>
                </a:lnTo>
                <a:lnTo>
                  <a:pt x="100000" y="50000"/>
                </a:lnTo>
                <a:lnTo>
                  <a:pt x="88000" y="100000"/>
                </a:lnTo>
                <a:lnTo>
                  <a:pt x="0" y="100000"/>
                </a:lnTo>
                <a:close/>
              </a:path>
            </a:pathLst>
          </a:custGeom>
          <a:solidFill>
            <a:srgbClr val="D0D0D0"/>
          </a:solidFill>
          <a:ln w="9525">
            <a:solidFill>
              <a:srgbClr val="CCCCCC"/>
            </a:solidFill>
          </a:ln>
          <a:effectLst/>
        </p:spPr>
        <p:txBody>
          <a:bodyPr/>
          <a:lstStyle/>
          <a:p/>
        </p:txBody>
      </p:sp>
      <p:sp>
        <p:nvSpPr>
          <p:cNvPr id="8" name="TextBox 7"/>
          <p:cNvSpPr txBox="1"/>
          <p:nvPr/>
        </p:nvSpPr>
        <p:spPr>
          <a:xfrm>
            <a:off x="3264408" y="941832"/>
            <a:ext cx="2456078" cy="959205"/>
          </a:xfrm>
          <a:prstGeom prst="rect">
            <a:avLst/>
          </a:prstGeom>
          <a:noFill/>
          <a:effectLst/>
        </p:spPr>
        <p:txBody>
          <a:bodyPr wrap="square" lIns="0" rIns="0" tIns="0" bIns="0" anchor="ctr">
            <a:noAutofit/>
          </a:bodyPr>
          <a:lstStyle/>
          <a:p>
            <a:r>
              <a:rPr lang="ja-JP" sz="1400" b="1" i="0" dirty="0">
                <a:solidFill>
                  <a:srgbClr val="333333"/>
                </a:solidFill>
                <a:ea typeface="Meiryo"/>
              </a:rPr>
              <a:t>領域別に分ける</a:t>
            </a:r>
          </a:p>
        </p:txBody>
      </p:sp>
      <p:sp>
        <p:nvSpPr>
          <p:cNvPr id="9" name="Step9"/>
          <p:cNvSpPr/>
          <p:nvPr/>
        </p:nvSpPr>
        <p:spPr>
          <a:xfrm>
            <a:off x="6089904" y="941832"/>
            <a:ext cx="2889504" cy="959205"/>
          </a:xfrm>
          <a:custGeom>
            <a:avLst/>
            <a:gdLst/>
            <a:ahLst/>
            <a:cxnLst/>
            <a:rect l="0" t="0" r="r" b="b"/>
            <a:pathLst>
              <a:path w="100000" h="100000">
                <a:moveTo>
                  <a:pt x="0" y="0"/>
                </a:moveTo>
                <a:lnTo>
                  <a:pt x="88000" y="0"/>
                </a:lnTo>
                <a:lnTo>
                  <a:pt x="100000" y="50000"/>
                </a:lnTo>
                <a:lnTo>
                  <a:pt x="88000" y="100000"/>
                </a:lnTo>
                <a:lnTo>
                  <a:pt x="0" y="100000"/>
                </a:lnTo>
                <a:close/>
              </a:path>
            </a:pathLst>
          </a:custGeom>
          <a:solidFill>
            <a:srgbClr val="D0D0D0"/>
          </a:solidFill>
          <a:ln w="9525">
            <a:solidFill>
              <a:srgbClr val="CCCCCC"/>
            </a:solidFill>
          </a:ln>
          <a:effectLst/>
        </p:spPr>
        <p:txBody>
          <a:bodyPr/>
          <a:lstStyle/>
          <a:p/>
        </p:txBody>
      </p:sp>
      <p:sp>
        <p:nvSpPr>
          <p:cNvPr id="10" name="TextBox 9"/>
          <p:cNvSpPr txBox="1"/>
          <p:nvPr/>
        </p:nvSpPr>
        <p:spPr>
          <a:xfrm>
            <a:off x="6227064" y="941832"/>
            <a:ext cx="2456078" cy="959205"/>
          </a:xfrm>
          <a:prstGeom prst="rect">
            <a:avLst/>
          </a:prstGeom>
          <a:noFill/>
          <a:effectLst/>
        </p:spPr>
        <p:txBody>
          <a:bodyPr wrap="square" lIns="0" rIns="0" tIns="0" bIns="0" anchor="ctr">
            <a:noAutofit/>
          </a:bodyPr>
          <a:lstStyle/>
          <a:p>
            <a:r>
              <a:rPr lang="ja-JP" sz="1400" b="1" i="0" dirty="0">
                <a:solidFill>
                  <a:srgbClr val="333333"/>
                </a:solidFill>
                <a:ea typeface="Meiryo"/>
              </a:rPr>
              <a:t>関係する文脈だけ読む</a:t>
            </a:r>
          </a:p>
        </p:txBody>
      </p:sp>
      <p:sp>
        <p:nvSpPr>
          <p:cNvPr id="11" name="Rectangle 10"/>
          <p:cNvSpPr/>
          <p:nvPr/>
        </p:nvSpPr>
        <p:spPr>
          <a:xfrm>
            <a:off x="164592" y="1974189"/>
            <a:ext cx="2889504" cy="2638958"/>
          </a:xfrm>
          <a:prstGeom prst="rect">
            <a:avLst/>
          </a:prstGeom>
          <a:solidFill>
            <a:srgbClr val="F5F5F5"/>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1751" y="2083917"/>
            <a:ext cx="2615184" cy="2419502"/>
          </a:xfrm>
          <a:prstGeom prst="rect">
            <a:avLst/>
          </a:prstGeom>
          <a:noFill/>
          <a:effectLst/>
        </p:spPr>
        <p:txBody>
          <a:bodyPr wrap="square" lIns="0" rIns="0" tIns="0" bIns="0">
            <a:noAutofit/>
          </a:bodyPr>
          <a:lstStyle/>
          <a:p>
            <a:pPr>
              <a:spcBef>
                <a:spcPts val="0"/>
              </a:spcBef>
              <a:spcAft>
                <a:spcPts val="400"/>
              </a:spcAft>
              <a:buNone/>
              <a:lnSpc>
                <a:spcPts val="1980"/>
              </a:lnSpc>
            </a:pPr>
            <a:r>
              <a:rPr lang="ja-JP" sz="1100" b="0" i="0" dirty="0">
                <a:solidFill>
                  <a:srgbClr val="333333"/>
                </a:solidFill>
                <a:ea typeface="Meiryo"/>
              </a:rPr>
              <a:t>ルート</a:t>
            </a:r>
            <a:r>
              <a:rPr lang="en-US" sz="1100" b="0" i="0" dirty="0">
                <a:solidFill>
                  <a:srgbClr val="333333"/>
                </a:solidFill>
                <a:latin typeface="Segoe UI"/>
              </a:rPr>
              <a:t>CLAUDE.md</a:t>
            </a:r>
            <a:r>
              <a:rPr lang="ja-JP" sz="1100" b="0" i="0" dirty="0">
                <a:solidFill>
                  <a:srgbClr val="333333"/>
                </a:solidFill>
                <a:ea typeface="Meiryo"/>
              </a:rPr>
              <a:t>には、全体で常に守る安全策と基本方針を残す。</a:t>
            </a:r>
          </a:p>
        </p:txBody>
      </p:sp>
      <p:sp>
        <p:nvSpPr>
          <p:cNvPr id="13" name="Rectangle 12"/>
          <p:cNvSpPr/>
          <p:nvPr/>
        </p:nvSpPr>
        <p:spPr>
          <a:xfrm>
            <a:off x="3127248" y="1974189"/>
            <a:ext cx="2889504" cy="2638958"/>
          </a:xfrm>
          <a:prstGeom prst="rect">
            <a:avLst/>
          </a:prstGeom>
          <a:solidFill>
            <a:srgbClr val="F5F5F5"/>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64408" y="2083917"/>
            <a:ext cx="2615184" cy="2419502"/>
          </a:xfrm>
          <a:prstGeom prst="rect">
            <a:avLst/>
          </a:prstGeom>
          <a:noFill/>
          <a:effectLst/>
        </p:spPr>
        <p:txBody>
          <a:bodyPr wrap="square" lIns="0" rIns="0" tIns="0" bIns="0">
            <a:noAutofit/>
          </a:bodyPr>
          <a:lstStyle/>
          <a:p>
            <a:pPr>
              <a:spcBef>
                <a:spcPts val="0"/>
              </a:spcBef>
              <a:spcAft>
                <a:spcPts val="400"/>
              </a:spcAft>
              <a:buNone/>
              <a:lnSpc>
                <a:spcPts val="1980"/>
              </a:lnSpc>
            </a:pPr>
            <a:r>
              <a:rPr lang="en-US" sz="1100" b="0" i="0" dirty="0">
                <a:solidFill>
                  <a:srgbClr val="333333"/>
                </a:solidFill>
                <a:latin typeface="Segoe UI"/>
              </a:rPr>
              <a:t>frontend</a:t>
            </a:r>
            <a:r>
              <a:rPr lang="ja-JP" sz="1100" b="0" i="0" dirty="0">
                <a:solidFill>
                  <a:srgbClr val="333333"/>
                </a:solidFill>
                <a:ea typeface="Meiryo"/>
              </a:rPr>
              <a:t>、</a:t>
            </a:r>
            <a:r>
              <a:rPr lang="en-US" sz="1100" b="0" i="0" dirty="0">
                <a:solidFill>
                  <a:srgbClr val="333333"/>
                </a:solidFill>
                <a:latin typeface="Segoe UI"/>
              </a:rPr>
              <a:t>infra</a:t>
            </a:r>
            <a:r>
              <a:rPr lang="ja-JP" sz="1100" b="0" i="0" dirty="0">
                <a:solidFill>
                  <a:srgbClr val="333333"/>
                </a:solidFill>
                <a:ea typeface="Meiryo"/>
              </a:rPr>
              <a:t>、</a:t>
            </a:r>
            <a:r>
              <a:rPr lang="en-US" sz="1100" b="0" i="0" dirty="0">
                <a:solidFill>
                  <a:srgbClr val="333333"/>
                </a:solidFill>
                <a:latin typeface="Segoe UI"/>
              </a:rPr>
              <a:t>data</a:t>
            </a:r>
            <a:r>
              <a:rPr lang="ja-JP" sz="1100" b="0" i="0" dirty="0">
                <a:solidFill>
                  <a:srgbClr val="333333"/>
                </a:solidFill>
                <a:ea typeface="Meiryo"/>
              </a:rPr>
              <a:t>など、判断基準が異なる場所へ専用ルールを置く。</a:t>
            </a:r>
          </a:p>
        </p:txBody>
      </p:sp>
      <p:sp>
        <p:nvSpPr>
          <p:cNvPr id="15" name="Rectangle 14"/>
          <p:cNvSpPr/>
          <p:nvPr/>
        </p:nvSpPr>
        <p:spPr>
          <a:xfrm>
            <a:off x="6089904" y="1974189"/>
            <a:ext cx="2889504" cy="2638958"/>
          </a:xfrm>
          <a:prstGeom prst="rect">
            <a:avLst/>
          </a:prstGeom>
          <a:solidFill>
            <a:srgbClr val="F5F5F5"/>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27064" y="2083917"/>
            <a:ext cx="2615184" cy="2419502"/>
          </a:xfrm>
          <a:prstGeom prst="rect">
            <a:avLst/>
          </a:prstGeom>
          <a:noFill/>
          <a:effectLst/>
        </p:spPr>
        <p:txBody>
          <a:bodyPr wrap="square" lIns="0" rIns="0" tIns="0" bIns="0">
            <a:noAutofit/>
          </a:bodyPr>
          <a:lstStyle/>
          <a:p>
            <a:pPr>
              <a:spcBef>
                <a:spcPts val="0"/>
              </a:spcBef>
              <a:spcAft>
                <a:spcPts val="400"/>
              </a:spcAft>
              <a:buNone/>
              <a:lnSpc>
                <a:spcPts val="1980"/>
              </a:lnSpc>
            </a:pPr>
            <a:r>
              <a:rPr lang="ja-JP" sz="1100" b="0" i="0" dirty="0">
                <a:solidFill>
                  <a:srgbClr val="333333"/>
                </a:solidFill>
                <a:ea typeface="Meiryo"/>
              </a:rPr>
              <a:t>今の変更対象に近いルールを優先し、無関係な制約で判断を濁らせない。</a:t>
            </a:r>
          </a:p>
        </p:txBody>
      </p:sp>
      <p:sp>
        <p:nvSpPr>
          <p:cNvPr id="17" name="Rectangle 16"/>
          <p:cNvSpPr/>
          <p:nvPr/>
        </p:nvSpPr>
        <p:spPr>
          <a:xfrm>
            <a:off x="0" y="4777740"/>
            <a:ext cx="9144000" cy="9525"/>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28600" y="4823459"/>
            <a:ext cx="1828800" cy="274320"/>
          </a:xfrm>
          <a:prstGeom prst="rect">
            <a:avLst/>
          </a:prstGeom>
          <a:noFill/>
        </p:spPr>
        <p:txBody>
          <a:bodyPr wrap="none" anchor="ctr" lIns="0" rIns="0" tIns="0" bIns="0">
            <a:spAutoFit/>
          </a:bodyPr>
          <a:lstStyle/>
          <a:p>
            <a:fld id="{AD474EB5-8C86-4231-B655-3638EC81D736}" type="slidenum">
              <a:rPr lang="ja-JP" smtClean="0" sz="1000">
                <a:solidFill>
                  <a:srgbClr val="888888"/>
                </a:solidFill>
              </a:rPr>
              <a:t>&lt;#&gt;</a:t>
            </a:fld>
            <a:r>
              <a:rPr lang="ja-JP" smtClean="0" sz="1000">
                <a:solidFill>
                  <a:srgbClr val="888888"/>
                </a:solidFill>
              </a:rPr>
              <a:t>/</a:t>
            </a:r>
            <a:r>
              <a:rPr lang="ja-JP" smtClean="0" sz="1000">
                <a:solidFill>
                  <a:srgbClr val="888888"/>
                </a:solidFill>
              </a:rPr>
              <a:t>9</a:t>
            </a:r>
          </a:p>
        </p:txBody>
      </p:sp>
      <p:pic>
        <p:nvPicPr>
          <p:cNvPr id="19" name="Picture 18" descr="logo.png"/>
          <p:cNvPicPr>
            <a:picLocks noChangeAspect="1"/>
          </p:cNvPicPr>
          <p:nvPr/>
        </p:nvPicPr>
        <p:blipFill>
          <a:blip r:embed="rId2"/>
          <a:stretch>
            <a:fillRect/>
          </a:stretch>
        </p:blipFill>
        <p:spPr>
          <a:xfrm>
            <a:off x="8001000" y="4846320"/>
            <a:ext cx="762000" cy="228600"/>
          </a:xfrm>
          <a:prstGeom prst="rect">
            <a:avLst/>
          </a:prstGeom>
          <a:effectLst/>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77240"/>
          </a:xfrm>
          <a:prstGeom prst="rect">
            <a:avLst/>
          </a:prstGeom>
          <a:solidFill>
            <a:srgbClr val="4A4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85039"/>
            <a:ext cx="8686800" cy="411480"/>
          </a:xfrm>
          <a:prstGeom prst="rect">
            <a:avLst/>
          </a:prstGeom>
          <a:noFill/>
          <a:effectLst/>
        </p:spPr>
        <p:txBody>
          <a:bodyPr wrap="square" lIns="0" rIns="0" tIns="0" bIns="0" anchor="ctr">
            <a:noAutofit/>
          </a:bodyPr>
          <a:lstStyle/>
          <a:p>
            <a:r>
              <a:rPr lang="ja-JP" sz="2400" b="1" i="0" dirty="0">
                <a:solidFill>
                  <a:srgbClr val="FFFFFF"/>
                </a:solidFill>
                <a:ea typeface="Meiryo"/>
              </a:rPr>
              <a:t>用途別テンプレートは現場制約から作る</a:t>
            </a:r>
          </a:p>
        </p:txBody>
      </p:sp>
      <p:sp>
        <p:nvSpPr>
          <p:cNvPr id="4" name="TextBox 3"/>
          <p:cNvSpPr txBox="1"/>
          <p:nvPr/>
        </p:nvSpPr>
        <p:spPr>
          <a:xfrm>
            <a:off x="228600" y="523036"/>
            <a:ext cx="8686800" cy="274320"/>
          </a:xfrm>
          <a:prstGeom prst="rect">
            <a:avLst/>
          </a:prstGeom>
          <a:noFill/>
          <a:effectLst/>
        </p:spPr>
        <p:txBody>
          <a:bodyPr wrap="square" lIns="0" rIns="0" tIns="0" bIns="0" anchor="ctr">
            <a:noAutofit/>
          </a:bodyPr>
          <a:lstStyle/>
          <a:p>
            <a:r>
              <a:rPr lang="en-US" sz="1200" b="0" i="0" dirty="0">
                <a:solidFill>
                  <a:srgbClr val="FFFFFF"/>
                </a:solidFill>
                <a:latin typeface="Segoe UI"/>
              </a:rPr>
              <a:t>Web</a:t>
            </a:r>
            <a:r>
              <a:rPr lang="ja-JP" sz="1200" b="0" i="0" dirty="0">
                <a:solidFill>
                  <a:srgbClr val="FFFFFF"/>
                </a:solidFill>
                <a:ea typeface="Meiryo"/>
              </a:rPr>
              <a:t>、データ、自動化では、</a:t>
            </a:r>
            <a:r>
              <a:rPr lang="en-US" sz="1200" b="0" i="0" dirty="0">
                <a:solidFill>
                  <a:srgbClr val="FFFFFF"/>
                </a:solidFill>
                <a:latin typeface="Segoe UI"/>
              </a:rPr>
              <a:t>AI</a:t>
            </a:r>
            <a:r>
              <a:rPr lang="ja-JP" sz="1200" b="0" i="0" dirty="0">
                <a:solidFill>
                  <a:srgbClr val="FFFFFF"/>
                </a:solidFill>
                <a:ea typeface="Meiryo"/>
              </a:rPr>
              <a:t>に渡す前提が変わる</a:t>
            </a:r>
          </a:p>
        </p:txBody>
      </p:sp>
      <p:sp>
        <p:nvSpPr>
          <p:cNvPr id="5" name="Rectangle 4"/>
          <p:cNvSpPr/>
          <p:nvPr/>
        </p:nvSpPr>
        <p:spPr>
          <a:xfrm>
            <a:off x="164592" y="941832"/>
            <a:ext cx="8814816" cy="844677"/>
          </a:xfrm>
          <a:prstGeom prst="rect">
            <a:avLst/>
          </a:prstGeom>
          <a:solidFill>
            <a:srgbClr val="E8EDF2"/>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01751" y="1051560"/>
            <a:ext cx="8540496" cy="625221"/>
          </a:xfrm>
          <a:prstGeom prst="rect">
            <a:avLst/>
          </a:prstGeom>
          <a:noFill/>
          <a:effectLst/>
        </p:spPr>
        <p:txBody>
          <a:bodyPr wrap="square" lIns="0" rIns="0" tIns="0" bIns="0">
            <a:noAutofit/>
          </a:bodyPr>
          <a:lstStyle/>
          <a:p>
            <a:pPr>
              <a:spcBef>
                <a:spcPts val="0"/>
              </a:spcBef>
              <a:spcAft>
                <a:spcPts val="300"/>
              </a:spcAft>
              <a:buNone/>
              <a:lnSpc>
                <a:spcPts val="1820"/>
              </a:lnSpc>
            </a:pPr>
            <a:r>
              <a:rPr lang="ja-JP" sz="1300" b="1" i="0" dirty="0">
                <a:solidFill>
                  <a:srgbClr val="333333"/>
                </a:solidFill>
                <a:ea typeface="Meiryo"/>
              </a:rPr>
              <a:t>用途が変わると、書くべき制約も変わる</a:t>
            </a:r>
          </a:p>
          <a:p>
            <a:pPr>
              <a:spcBef>
                <a:spcPts val="0"/>
              </a:spcBef>
              <a:spcAft>
                <a:spcPts val="400"/>
              </a:spcAft>
              <a:buNone/>
              <a:lnSpc>
                <a:spcPts val="2160"/>
              </a:lnSpc>
            </a:pPr>
            <a:r>
              <a:rPr lang="ja-JP" sz="1200" b="0" i="0" dirty="0">
                <a:solidFill>
                  <a:srgbClr val="333333"/>
                </a:solidFill>
                <a:ea typeface="Meiryo"/>
              </a:rPr>
              <a:t>同じ</a:t>
            </a:r>
            <a:r>
              <a:rPr lang="en-US" sz="1200" b="0" i="0" dirty="0">
                <a:solidFill>
                  <a:srgbClr val="333333"/>
                </a:solidFill>
                <a:latin typeface="Segoe UI"/>
              </a:rPr>
              <a:t>CLAUDE.md</a:t>
            </a:r>
            <a:r>
              <a:rPr lang="ja-JP" sz="1200" b="0" i="0" dirty="0">
                <a:solidFill>
                  <a:srgbClr val="333333"/>
                </a:solidFill>
                <a:ea typeface="Meiryo"/>
              </a:rPr>
              <a:t>でも、</a:t>
            </a:r>
            <a:r>
              <a:rPr lang="en-US" sz="1200" b="0" i="0" dirty="0">
                <a:solidFill>
                  <a:srgbClr val="333333"/>
                </a:solidFill>
                <a:latin typeface="Segoe UI"/>
              </a:rPr>
              <a:t>Web</a:t>
            </a:r>
            <a:r>
              <a:rPr lang="ja-JP" sz="1200" b="0" i="0" dirty="0">
                <a:solidFill>
                  <a:srgbClr val="333333"/>
                </a:solidFill>
                <a:ea typeface="Meiryo"/>
              </a:rPr>
              <a:t>アプリ、データ分析、自動化では</a:t>
            </a:r>
            <a:r>
              <a:rPr lang="en-US" sz="1200" b="0" i="0" dirty="0">
                <a:solidFill>
                  <a:srgbClr val="333333"/>
                </a:solidFill>
                <a:latin typeface="Segoe UI"/>
              </a:rPr>
              <a:t>AI</a:t>
            </a:r>
            <a:r>
              <a:rPr lang="ja-JP" sz="1200" b="0" i="0" dirty="0">
                <a:solidFill>
                  <a:srgbClr val="333333"/>
                </a:solidFill>
                <a:ea typeface="Meiryo"/>
              </a:rPr>
              <a:t>が誤りやすい地点が異なる。テンプレートは章の形ではなく、現場の制約から逆算する。</a:t>
            </a:r>
          </a:p>
        </p:txBody>
      </p:sp>
      <p:sp>
        <p:nvSpPr>
          <p:cNvPr id="7" name="Rectangle 6"/>
          <p:cNvSpPr/>
          <p:nvPr/>
        </p:nvSpPr>
        <p:spPr>
          <a:xfrm>
            <a:off x="164592" y="1859661"/>
            <a:ext cx="2889504" cy="2753486"/>
          </a:xfrm>
          <a:prstGeom prst="rect">
            <a:avLst/>
          </a:prstGeom>
          <a:solidFill>
            <a:srgbClr val="F5F5F5"/>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1751" y="1969389"/>
            <a:ext cx="2615184" cy="320040"/>
          </a:xfrm>
          <a:prstGeom prst="rect">
            <a:avLst/>
          </a:prstGeom>
          <a:noFill/>
          <a:effectLst/>
        </p:spPr>
        <p:txBody>
          <a:bodyPr wrap="square" lIns="0" rIns="0" tIns="0" bIns="0" anchor="t">
            <a:noAutofit/>
          </a:bodyPr>
          <a:lstStyle/>
          <a:p>
            <a:r>
              <a:rPr lang="en-US" sz="1400" b="1" i="0" dirty="0">
                <a:solidFill>
                  <a:srgbClr val="333333"/>
                </a:solidFill>
                <a:latin typeface="Segoe UI"/>
              </a:rPr>
              <a:t>Web</a:t>
            </a:r>
            <a:r>
              <a:rPr lang="ja-JP" sz="1400" b="1" i="0" dirty="0">
                <a:solidFill>
                  <a:srgbClr val="333333"/>
                </a:solidFill>
                <a:ea typeface="Meiryo"/>
              </a:rPr>
              <a:t>アプリ</a:t>
            </a:r>
          </a:p>
        </p:txBody>
      </p:sp>
      <p:sp>
        <p:nvSpPr>
          <p:cNvPr id="9" name="Rectangle 8"/>
          <p:cNvSpPr/>
          <p:nvPr/>
        </p:nvSpPr>
        <p:spPr>
          <a:xfrm>
            <a:off x="301751" y="2225421"/>
            <a:ext cx="2615184" cy="1270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1751" y="2298573"/>
            <a:ext cx="2615184" cy="2204847"/>
          </a:xfrm>
          <a:prstGeom prst="rect">
            <a:avLst/>
          </a:prstGeom>
          <a:noFill/>
          <a:effectLst/>
        </p:spPr>
        <p:txBody>
          <a:bodyPr wrap="square" lIns="0" rIns="0" tIns="0" bIns="0">
            <a:noAutofit/>
          </a:bodyPr>
          <a:lstStyle/>
          <a:p>
            <a:pPr>
              <a:spcBef>
                <a:spcPts val="0"/>
              </a:spcBef>
              <a:spcAft>
                <a:spcPts val="400"/>
              </a:spcAft>
              <a:buNone/>
              <a:lnSpc>
                <a:spcPts val="1980"/>
              </a:lnSpc>
            </a:pPr>
            <a:r>
              <a:rPr lang="en-US" sz="1100" b="0" i="0" dirty="0">
                <a:solidFill>
                  <a:srgbClr val="333333"/>
                </a:solidFill>
                <a:latin typeface="Segoe UI"/>
              </a:rPr>
              <a:t>UI</a:t>
            </a:r>
            <a:r>
              <a:rPr lang="ja-JP" sz="1100" b="0" i="0" dirty="0">
                <a:solidFill>
                  <a:srgbClr val="333333"/>
                </a:solidFill>
                <a:ea typeface="Meiryo"/>
              </a:rPr>
              <a:t>と</a:t>
            </a:r>
            <a:r>
              <a:rPr lang="en-US" sz="1100" b="0" i="0" dirty="0">
                <a:solidFill>
                  <a:srgbClr val="333333"/>
                </a:solidFill>
                <a:latin typeface="Segoe UI"/>
              </a:rPr>
              <a:t>API</a:t>
            </a:r>
            <a:r>
              <a:rPr lang="ja-JP" sz="1100" b="0" i="0" dirty="0">
                <a:solidFill>
                  <a:srgbClr val="333333"/>
                </a:solidFill>
                <a:ea typeface="Meiryo"/>
              </a:rPr>
              <a:t>の責務を固定し、勝手な設計分岐を減らす。</a:t>
            </a:r>
          </a:p>
          <a:p>
            <a:pPr marL="228600" indent="-228600">
              <a:spcBef>
                <a:spcPts val="0"/>
              </a:spcBef>
              <a:spcAft>
                <a:spcPts val="400"/>
              </a:spcAft>
              <a:buChar char="•"/>
              <a:lnSpc>
                <a:spcPts val="1980"/>
              </a:lnSpc>
            </a:pPr>
            <a:r>
              <a:rPr lang="en-US" sz="1100" b="0" i="0" dirty="0">
                <a:solidFill>
                  <a:srgbClr val="333333"/>
                </a:solidFill>
                <a:latin typeface="Segoe UI"/>
              </a:rPr>
              <a:t>CSS</a:t>
            </a:r>
            <a:r>
              <a:rPr lang="ja-JP" sz="1100" b="0" i="0" dirty="0">
                <a:solidFill>
                  <a:srgbClr val="333333"/>
                </a:solidFill>
                <a:ea typeface="Meiryo"/>
              </a:rPr>
              <a:t>フレームワークを指定する</a:t>
            </a:r>
          </a:p>
          <a:p>
            <a:pPr marL="228600" indent="-228600">
              <a:spcBef>
                <a:spcPts val="0"/>
              </a:spcBef>
              <a:spcAft>
                <a:spcPts val="400"/>
              </a:spcAft>
              <a:buChar char="•"/>
              <a:lnSpc>
                <a:spcPts val="1980"/>
              </a:lnSpc>
            </a:pPr>
            <a:r>
              <a:rPr lang="ja-JP" sz="1100" b="0" i="0" dirty="0">
                <a:solidFill>
                  <a:srgbClr val="333333"/>
                </a:solidFill>
                <a:ea typeface="Meiryo"/>
              </a:rPr>
              <a:t>状態管理の選択肢を絞る</a:t>
            </a:r>
          </a:p>
        </p:txBody>
      </p:sp>
      <p:sp>
        <p:nvSpPr>
          <p:cNvPr id="11" name="Rectangle 10"/>
          <p:cNvSpPr/>
          <p:nvPr/>
        </p:nvSpPr>
        <p:spPr>
          <a:xfrm>
            <a:off x="3127248" y="1859661"/>
            <a:ext cx="2889504" cy="2753486"/>
          </a:xfrm>
          <a:prstGeom prst="rect">
            <a:avLst/>
          </a:prstGeom>
          <a:solidFill>
            <a:srgbClr val="F5F5F5"/>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64408" y="1969389"/>
            <a:ext cx="2615184" cy="320040"/>
          </a:xfrm>
          <a:prstGeom prst="rect">
            <a:avLst/>
          </a:prstGeom>
          <a:noFill/>
          <a:effectLst/>
        </p:spPr>
        <p:txBody>
          <a:bodyPr wrap="square" lIns="0" rIns="0" tIns="0" bIns="0" anchor="t">
            <a:noAutofit/>
          </a:bodyPr>
          <a:lstStyle/>
          <a:p>
            <a:r>
              <a:rPr lang="ja-JP" sz="1400" b="1" i="0" dirty="0">
                <a:solidFill>
                  <a:srgbClr val="333333"/>
                </a:solidFill>
                <a:ea typeface="Meiryo"/>
              </a:rPr>
              <a:t>データ分析</a:t>
            </a:r>
          </a:p>
        </p:txBody>
      </p:sp>
      <p:sp>
        <p:nvSpPr>
          <p:cNvPr id="13" name="Rectangle 12"/>
          <p:cNvSpPr/>
          <p:nvPr/>
        </p:nvSpPr>
        <p:spPr>
          <a:xfrm>
            <a:off x="3264408" y="2225421"/>
            <a:ext cx="2615184" cy="1270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64408" y="2298573"/>
            <a:ext cx="2615184" cy="2204847"/>
          </a:xfrm>
          <a:prstGeom prst="rect">
            <a:avLst/>
          </a:prstGeom>
          <a:noFill/>
          <a:effectLst/>
        </p:spPr>
        <p:txBody>
          <a:bodyPr wrap="square" lIns="0" rIns="0" tIns="0" bIns="0">
            <a:noAutofit/>
          </a:bodyPr>
          <a:lstStyle/>
          <a:p>
            <a:pPr>
              <a:spcBef>
                <a:spcPts val="0"/>
              </a:spcBef>
              <a:spcAft>
                <a:spcPts val="400"/>
              </a:spcAft>
              <a:buNone/>
              <a:lnSpc>
                <a:spcPts val="1980"/>
              </a:lnSpc>
            </a:pPr>
            <a:r>
              <a:rPr lang="ja-JP" sz="1100" b="0" i="0" dirty="0">
                <a:solidFill>
                  <a:srgbClr val="333333"/>
                </a:solidFill>
                <a:ea typeface="Meiryo"/>
              </a:rPr>
              <a:t>再現性と保存場所を明示し、結果の揺れを抑える。</a:t>
            </a:r>
          </a:p>
          <a:p>
            <a:pPr marL="228600" indent="-228600">
              <a:spcBef>
                <a:spcPts val="0"/>
              </a:spcBef>
              <a:spcAft>
                <a:spcPts val="400"/>
              </a:spcAft>
              <a:buChar char="•"/>
              <a:lnSpc>
                <a:spcPts val="1980"/>
              </a:lnSpc>
            </a:pPr>
            <a:r>
              <a:rPr lang="en-US" sz="1100" b="0" i="0" dirty="0">
                <a:solidFill>
                  <a:srgbClr val="333333"/>
                </a:solidFill>
                <a:latin typeface="Segoe UI"/>
              </a:rPr>
              <a:t>raw</a:t>
            </a:r>
            <a:r>
              <a:rPr lang="ja-JP" sz="1100" b="0" i="0" dirty="0">
                <a:solidFill>
                  <a:srgbClr val="333333"/>
                </a:solidFill>
                <a:ea typeface="Meiryo"/>
              </a:rPr>
              <a:t>と</a:t>
            </a:r>
            <a:r>
              <a:rPr lang="en-US" sz="1100" b="0" i="0" dirty="0">
                <a:solidFill>
                  <a:srgbClr val="333333"/>
                </a:solidFill>
                <a:latin typeface="Segoe UI"/>
              </a:rPr>
              <a:t>processed</a:t>
            </a:r>
            <a:r>
              <a:rPr lang="ja-JP" sz="1100" b="0" i="0" dirty="0">
                <a:solidFill>
                  <a:srgbClr val="333333"/>
                </a:solidFill>
                <a:ea typeface="Meiryo"/>
              </a:rPr>
              <a:t>を分離する</a:t>
            </a:r>
          </a:p>
          <a:p>
            <a:pPr marL="228600" indent="-228600">
              <a:spcBef>
                <a:spcPts val="0"/>
              </a:spcBef>
              <a:spcAft>
                <a:spcPts val="400"/>
              </a:spcAft>
              <a:buChar char="•"/>
              <a:lnSpc>
                <a:spcPts val="1980"/>
              </a:lnSpc>
            </a:pPr>
            <a:r>
              <a:rPr lang="ja-JP" sz="1100" b="0" i="0" dirty="0">
                <a:solidFill>
                  <a:srgbClr val="333333"/>
                </a:solidFill>
                <a:ea typeface="Meiryo"/>
              </a:rPr>
              <a:t>ランダムシードを固定する</a:t>
            </a:r>
          </a:p>
        </p:txBody>
      </p:sp>
      <p:sp>
        <p:nvSpPr>
          <p:cNvPr id="15" name="Rectangle 14"/>
          <p:cNvSpPr/>
          <p:nvPr/>
        </p:nvSpPr>
        <p:spPr>
          <a:xfrm>
            <a:off x="6089904" y="1859661"/>
            <a:ext cx="2889504" cy="2753486"/>
          </a:xfrm>
          <a:prstGeom prst="rect">
            <a:avLst/>
          </a:prstGeom>
          <a:solidFill>
            <a:srgbClr val="F5F5F5"/>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27064" y="1969389"/>
            <a:ext cx="2615184" cy="320040"/>
          </a:xfrm>
          <a:prstGeom prst="rect">
            <a:avLst/>
          </a:prstGeom>
          <a:noFill/>
          <a:effectLst/>
        </p:spPr>
        <p:txBody>
          <a:bodyPr wrap="square" lIns="0" rIns="0" tIns="0" bIns="0" anchor="t">
            <a:noAutofit/>
          </a:bodyPr>
          <a:lstStyle/>
          <a:p>
            <a:r>
              <a:rPr lang="ja-JP" sz="1400" b="1" i="0" dirty="0">
                <a:solidFill>
                  <a:srgbClr val="333333"/>
                </a:solidFill>
                <a:ea typeface="Meiryo"/>
              </a:rPr>
              <a:t>自動化</a:t>
            </a:r>
          </a:p>
        </p:txBody>
      </p:sp>
      <p:sp>
        <p:nvSpPr>
          <p:cNvPr id="17" name="Rectangle 16"/>
          <p:cNvSpPr/>
          <p:nvPr/>
        </p:nvSpPr>
        <p:spPr>
          <a:xfrm>
            <a:off x="6227064" y="2225421"/>
            <a:ext cx="2615184" cy="1270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27064" y="2298573"/>
            <a:ext cx="2615184" cy="2204847"/>
          </a:xfrm>
          <a:prstGeom prst="rect">
            <a:avLst/>
          </a:prstGeom>
          <a:noFill/>
          <a:effectLst/>
        </p:spPr>
        <p:txBody>
          <a:bodyPr wrap="square" lIns="0" rIns="0" tIns="0" bIns="0">
            <a:noAutofit/>
          </a:bodyPr>
          <a:lstStyle/>
          <a:p>
            <a:pPr>
              <a:spcBef>
                <a:spcPts val="0"/>
              </a:spcBef>
              <a:spcAft>
                <a:spcPts val="400"/>
              </a:spcAft>
              <a:buNone/>
              <a:lnSpc>
                <a:spcPts val="1980"/>
              </a:lnSpc>
            </a:pPr>
            <a:r>
              <a:rPr lang="en-US" sz="1100" b="0" i="0" dirty="0">
                <a:solidFill>
                  <a:srgbClr val="333333"/>
                </a:solidFill>
                <a:latin typeface="Segoe UI"/>
              </a:rPr>
              <a:t>OS</a:t>
            </a:r>
            <a:r>
              <a:rPr lang="ja-JP" sz="1100" b="0" i="0" dirty="0">
                <a:solidFill>
                  <a:srgbClr val="333333"/>
                </a:solidFill>
                <a:ea typeface="Meiryo"/>
              </a:rPr>
              <a:t>とシェル、安全策を明示し、危険操作を抑止する。</a:t>
            </a:r>
          </a:p>
          <a:p>
            <a:pPr marL="228600" indent="-228600">
              <a:spcBef>
                <a:spcPts val="0"/>
              </a:spcBef>
              <a:spcAft>
                <a:spcPts val="400"/>
              </a:spcAft>
              <a:buChar char="•"/>
              <a:lnSpc>
                <a:spcPts val="1980"/>
              </a:lnSpc>
            </a:pPr>
            <a:r>
              <a:rPr lang="en-US" sz="1100" b="0" i="0" dirty="0">
                <a:solidFill>
                  <a:srgbClr val="333333"/>
                </a:solidFill>
                <a:latin typeface="Segoe UI"/>
              </a:rPr>
              <a:t>PowerShell</a:t>
            </a:r>
            <a:r>
              <a:rPr lang="ja-JP" sz="1100" b="0" i="0" dirty="0">
                <a:solidFill>
                  <a:srgbClr val="333333"/>
                </a:solidFill>
                <a:ea typeface="Meiryo"/>
              </a:rPr>
              <a:t>や</a:t>
            </a:r>
            <a:r>
              <a:rPr lang="en-US" sz="1100" b="0" i="0" dirty="0">
                <a:solidFill>
                  <a:srgbClr val="333333"/>
                </a:solidFill>
                <a:latin typeface="Segoe UI"/>
              </a:rPr>
              <a:t>WSL</a:t>
            </a:r>
            <a:r>
              <a:rPr lang="ja-JP" sz="1100" b="0" i="0" dirty="0">
                <a:solidFill>
                  <a:srgbClr val="333333"/>
                </a:solidFill>
                <a:ea typeface="Meiryo"/>
              </a:rPr>
              <a:t>の前提を書く</a:t>
            </a:r>
          </a:p>
          <a:p>
            <a:pPr marL="228600" indent="-228600">
              <a:spcBef>
                <a:spcPts val="0"/>
              </a:spcBef>
              <a:spcAft>
                <a:spcPts val="400"/>
              </a:spcAft>
              <a:buChar char="•"/>
              <a:lnSpc>
                <a:spcPts val="1980"/>
              </a:lnSpc>
            </a:pPr>
            <a:r>
              <a:rPr lang="en-US" sz="1100" b="0" i="0" dirty="0">
                <a:solidFill>
                  <a:srgbClr val="333333"/>
                </a:solidFill>
                <a:latin typeface="Segoe UI"/>
              </a:rPr>
              <a:t>dry-run</a:t>
            </a:r>
            <a:r>
              <a:rPr lang="ja-JP" sz="1100" b="0" i="0" dirty="0">
                <a:solidFill>
                  <a:srgbClr val="333333"/>
                </a:solidFill>
                <a:ea typeface="Meiryo"/>
              </a:rPr>
              <a:t>やログ出力を標準化する</a:t>
            </a:r>
          </a:p>
        </p:txBody>
      </p:sp>
      <p:sp>
        <p:nvSpPr>
          <p:cNvPr id="19" name="Rectangle 18"/>
          <p:cNvSpPr/>
          <p:nvPr/>
        </p:nvSpPr>
        <p:spPr>
          <a:xfrm>
            <a:off x="0" y="4777740"/>
            <a:ext cx="9144000" cy="9525"/>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28600" y="4823459"/>
            <a:ext cx="1828800" cy="274320"/>
          </a:xfrm>
          <a:prstGeom prst="rect">
            <a:avLst/>
          </a:prstGeom>
          <a:noFill/>
        </p:spPr>
        <p:txBody>
          <a:bodyPr wrap="none" anchor="ctr" lIns="0" rIns="0" tIns="0" bIns="0">
            <a:spAutoFit/>
          </a:bodyPr>
          <a:lstStyle/>
          <a:p>
            <a:fld id="{C9DEF2C9-5738-4222-9B6B-07D88B0A9098}" type="slidenum">
              <a:rPr lang="ja-JP" smtClean="0" sz="1000">
                <a:solidFill>
                  <a:srgbClr val="888888"/>
                </a:solidFill>
              </a:rPr>
              <a:t>&lt;#&gt;</a:t>
            </a:fld>
            <a:r>
              <a:rPr lang="ja-JP" smtClean="0" sz="1000">
                <a:solidFill>
                  <a:srgbClr val="888888"/>
                </a:solidFill>
              </a:rPr>
              <a:t>/</a:t>
            </a:r>
            <a:r>
              <a:rPr lang="ja-JP" smtClean="0" sz="1000">
                <a:solidFill>
                  <a:srgbClr val="888888"/>
                </a:solidFill>
              </a:rPr>
              <a:t>9</a:t>
            </a:r>
          </a:p>
        </p:txBody>
      </p:sp>
      <p:pic>
        <p:nvPicPr>
          <p:cNvPr id="21" name="Picture 20" descr="logo.png"/>
          <p:cNvPicPr>
            <a:picLocks noChangeAspect="1"/>
          </p:cNvPicPr>
          <p:nvPr/>
        </p:nvPicPr>
        <p:blipFill>
          <a:blip r:embed="rId2"/>
          <a:stretch>
            <a:fillRect/>
          </a:stretch>
        </p:blipFill>
        <p:spPr>
          <a:xfrm>
            <a:off x="8001000" y="4846320"/>
            <a:ext cx="762000" cy="228600"/>
          </a:xfrm>
          <a:prstGeom prst="rect">
            <a:avLst/>
          </a:prstGeom>
          <a:effectLst/>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77240"/>
          </a:xfrm>
          <a:prstGeom prst="rect">
            <a:avLst/>
          </a:prstGeom>
          <a:solidFill>
            <a:srgbClr val="4A4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85039"/>
            <a:ext cx="8686800" cy="411480"/>
          </a:xfrm>
          <a:prstGeom prst="rect">
            <a:avLst/>
          </a:prstGeom>
          <a:noFill/>
          <a:effectLst/>
        </p:spPr>
        <p:txBody>
          <a:bodyPr wrap="square" lIns="0" rIns="0" tIns="0" bIns="0" anchor="ctr">
            <a:noAutofit/>
          </a:bodyPr>
          <a:lstStyle/>
          <a:p>
            <a:r>
              <a:rPr lang="en-US" sz="2400" b="1" i="0" dirty="0">
                <a:solidFill>
                  <a:srgbClr val="FFFFFF"/>
                </a:solidFill>
                <a:latin typeface="Segoe UI"/>
              </a:rPr>
              <a:t>CLAUDE.md</a:t>
            </a:r>
            <a:r>
              <a:rPr lang="ja-JP" sz="2400" b="1" i="0" dirty="0">
                <a:solidFill>
                  <a:srgbClr val="FFFFFF"/>
                </a:solidFill>
                <a:ea typeface="Meiryo"/>
              </a:rPr>
              <a:t>は繰り返しの注意から育てる</a:t>
            </a:r>
          </a:p>
        </p:txBody>
      </p:sp>
      <p:sp>
        <p:nvSpPr>
          <p:cNvPr id="4" name="TextBox 3"/>
          <p:cNvSpPr txBox="1"/>
          <p:nvPr/>
        </p:nvSpPr>
        <p:spPr>
          <a:xfrm>
            <a:off x="228600" y="523036"/>
            <a:ext cx="8686800" cy="274320"/>
          </a:xfrm>
          <a:prstGeom prst="rect">
            <a:avLst/>
          </a:prstGeom>
          <a:noFill/>
          <a:effectLst/>
        </p:spPr>
        <p:txBody>
          <a:bodyPr wrap="square" lIns="0" rIns="0" tIns="0" bIns="0" anchor="ctr">
            <a:noAutofit/>
          </a:bodyPr>
          <a:lstStyle/>
          <a:p>
            <a:r>
              <a:rPr lang="ja-JP" sz="1200" b="0" i="0" dirty="0">
                <a:solidFill>
                  <a:srgbClr val="FFFFFF"/>
                </a:solidFill>
                <a:ea typeface="Meiryo"/>
              </a:rPr>
              <a:t>一度作って終わりではなく、運用で精度を上げる</a:t>
            </a:r>
          </a:p>
        </p:txBody>
      </p:sp>
      <p:sp>
        <p:nvSpPr>
          <p:cNvPr id="5" name="Rectangle 4"/>
          <p:cNvSpPr/>
          <p:nvPr/>
        </p:nvSpPr>
        <p:spPr>
          <a:xfrm>
            <a:off x="164592" y="941832"/>
            <a:ext cx="2889504" cy="3671315"/>
          </a:xfrm>
          <a:prstGeom prst="rect">
            <a:avLst/>
          </a:prstGeom>
          <a:solidFill>
            <a:srgbClr val="F5F5F5"/>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01751" y="1051560"/>
            <a:ext cx="2615184" cy="320040"/>
          </a:xfrm>
          <a:prstGeom prst="rect">
            <a:avLst/>
          </a:prstGeom>
          <a:noFill/>
          <a:effectLst/>
        </p:spPr>
        <p:txBody>
          <a:bodyPr wrap="square" lIns="0" rIns="0" tIns="0" bIns="0" anchor="t">
            <a:noAutofit/>
          </a:bodyPr>
          <a:lstStyle/>
          <a:p>
            <a:r>
              <a:rPr lang="en-US" sz="1400" b="1" i="0" dirty="0">
                <a:solidFill>
                  <a:srgbClr val="333333"/>
                </a:solidFill>
                <a:latin typeface="Segoe UI"/>
              </a:rPr>
              <a:t>2</a:t>
            </a:r>
            <a:r>
              <a:rPr lang="ja-JP" sz="1400" b="1" i="0" dirty="0">
                <a:solidFill>
                  <a:srgbClr val="333333"/>
                </a:solidFill>
                <a:ea typeface="Meiryo"/>
              </a:rPr>
              <a:t>回言ったら昇格</a:t>
            </a:r>
          </a:p>
        </p:txBody>
      </p:sp>
      <p:sp>
        <p:nvSpPr>
          <p:cNvPr id="7" name="Rectangle 6"/>
          <p:cNvSpPr/>
          <p:nvPr/>
        </p:nvSpPr>
        <p:spPr>
          <a:xfrm>
            <a:off x="301751" y="1307592"/>
            <a:ext cx="2615184" cy="1270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1751" y="1380744"/>
            <a:ext cx="2615184" cy="3122675"/>
          </a:xfrm>
          <a:prstGeom prst="rect">
            <a:avLst/>
          </a:prstGeom>
          <a:noFill/>
          <a:effectLst/>
        </p:spPr>
        <p:txBody>
          <a:bodyPr wrap="square" lIns="0" rIns="0" tIns="0" bIns="0">
            <a:noAutofit/>
          </a:bodyPr>
          <a:lstStyle/>
          <a:p>
            <a:pPr>
              <a:spcBef>
                <a:spcPts val="0"/>
              </a:spcBef>
              <a:spcAft>
                <a:spcPts val="400"/>
              </a:spcAft>
              <a:buNone/>
              <a:lnSpc>
                <a:spcPts val="1980"/>
              </a:lnSpc>
            </a:pPr>
            <a:r>
              <a:rPr lang="ja-JP" sz="1100" b="0" i="0" dirty="0">
                <a:solidFill>
                  <a:srgbClr val="333333"/>
                </a:solidFill>
                <a:ea typeface="Meiryo"/>
              </a:rPr>
              <a:t>同じ注意を繰り返した時点で、会話ではなく</a:t>
            </a:r>
            <a:r>
              <a:rPr lang="en-US" sz="1100" b="0" i="0" dirty="0">
                <a:solidFill>
                  <a:srgbClr val="333333"/>
                </a:solidFill>
                <a:latin typeface="Segoe UI"/>
              </a:rPr>
              <a:t>CLAUDE.md</a:t>
            </a:r>
            <a:r>
              <a:rPr lang="ja-JP" sz="1100" b="0" i="0" dirty="0">
                <a:solidFill>
                  <a:srgbClr val="333333"/>
                </a:solidFill>
                <a:ea typeface="Meiryo"/>
              </a:rPr>
              <a:t>へ移す。</a:t>
            </a:r>
          </a:p>
          <a:p>
            <a:pPr marL="228600" indent="-228600">
              <a:spcBef>
                <a:spcPts val="0"/>
              </a:spcBef>
              <a:spcAft>
                <a:spcPts val="400"/>
              </a:spcAft>
              <a:buChar char="•"/>
              <a:lnSpc>
                <a:spcPts val="1980"/>
              </a:lnSpc>
            </a:pPr>
            <a:r>
              <a:rPr lang="ja-JP" sz="1100" b="0" i="0" dirty="0">
                <a:solidFill>
                  <a:srgbClr val="333333"/>
                </a:solidFill>
                <a:ea typeface="Meiryo"/>
              </a:rPr>
              <a:t>繰り返しは設計漏れのサインである</a:t>
            </a:r>
          </a:p>
          <a:p>
            <a:pPr marL="228600" indent="-228600">
              <a:spcBef>
                <a:spcPts val="0"/>
              </a:spcBef>
              <a:spcAft>
                <a:spcPts val="400"/>
              </a:spcAft>
              <a:buChar char="•"/>
              <a:lnSpc>
                <a:spcPts val="1980"/>
              </a:lnSpc>
            </a:pPr>
            <a:r>
              <a:rPr lang="ja-JP" sz="1100" b="0" i="0" dirty="0">
                <a:solidFill>
                  <a:srgbClr val="333333"/>
                </a:solidFill>
                <a:ea typeface="Meiryo"/>
              </a:rPr>
              <a:t>注意を短い行動ルールへ変換する</a:t>
            </a:r>
          </a:p>
          <a:p>
            <a:pPr marL="228600" indent="-228600">
              <a:spcBef>
                <a:spcPts val="0"/>
              </a:spcBef>
              <a:spcAft>
                <a:spcPts val="400"/>
              </a:spcAft>
              <a:buChar char="•"/>
              <a:lnSpc>
                <a:spcPts val="1980"/>
              </a:lnSpc>
            </a:pPr>
            <a:r>
              <a:rPr lang="ja-JP" sz="1100" b="0" i="0" dirty="0">
                <a:solidFill>
                  <a:srgbClr val="333333"/>
                </a:solidFill>
                <a:ea typeface="Meiryo"/>
              </a:rPr>
              <a:t>単発の好みは昇格させない</a:t>
            </a:r>
          </a:p>
        </p:txBody>
      </p:sp>
      <p:sp>
        <p:nvSpPr>
          <p:cNvPr id="9" name="Rectangle 8"/>
          <p:cNvSpPr/>
          <p:nvPr/>
        </p:nvSpPr>
        <p:spPr>
          <a:xfrm>
            <a:off x="3127248" y="941832"/>
            <a:ext cx="2889504" cy="3671315"/>
          </a:xfrm>
          <a:prstGeom prst="rect">
            <a:avLst/>
          </a:prstGeom>
          <a:solidFill>
            <a:srgbClr val="F5F5F5"/>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64408" y="1051560"/>
            <a:ext cx="2615184" cy="320040"/>
          </a:xfrm>
          <a:prstGeom prst="rect">
            <a:avLst/>
          </a:prstGeom>
          <a:noFill/>
          <a:effectLst/>
        </p:spPr>
        <p:txBody>
          <a:bodyPr wrap="square" lIns="0" rIns="0" tIns="0" bIns="0" anchor="t">
            <a:noAutofit/>
          </a:bodyPr>
          <a:lstStyle/>
          <a:p>
            <a:r>
              <a:rPr lang="ja-JP" sz="1400" b="1" i="0" dirty="0">
                <a:solidFill>
                  <a:srgbClr val="333333"/>
                </a:solidFill>
                <a:ea typeface="Meiryo"/>
              </a:rPr>
              <a:t>定期的に削る</a:t>
            </a:r>
          </a:p>
        </p:txBody>
      </p:sp>
      <p:sp>
        <p:nvSpPr>
          <p:cNvPr id="11" name="Rectangle 10"/>
          <p:cNvSpPr/>
          <p:nvPr/>
        </p:nvSpPr>
        <p:spPr>
          <a:xfrm>
            <a:off x="3264408" y="1307592"/>
            <a:ext cx="2615184" cy="1270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64408" y="1380744"/>
            <a:ext cx="2615184" cy="3122675"/>
          </a:xfrm>
          <a:prstGeom prst="rect">
            <a:avLst/>
          </a:prstGeom>
          <a:noFill/>
          <a:effectLst/>
        </p:spPr>
        <p:txBody>
          <a:bodyPr wrap="square" lIns="0" rIns="0" tIns="0" bIns="0">
            <a:noAutofit/>
          </a:bodyPr>
          <a:lstStyle/>
          <a:p>
            <a:pPr>
              <a:spcBef>
                <a:spcPts val="0"/>
              </a:spcBef>
              <a:spcAft>
                <a:spcPts val="400"/>
              </a:spcAft>
              <a:buNone/>
              <a:lnSpc>
                <a:spcPts val="1980"/>
              </a:lnSpc>
            </a:pPr>
            <a:r>
              <a:rPr lang="ja-JP" sz="1100" b="0" i="0" dirty="0">
                <a:solidFill>
                  <a:srgbClr val="333333"/>
                </a:solidFill>
                <a:ea typeface="Meiryo"/>
              </a:rPr>
              <a:t>古い前提や使われない制約を残すほど、重要ルールが埋もれる。</a:t>
            </a:r>
          </a:p>
          <a:p>
            <a:pPr marL="228600" indent="-228600">
              <a:spcBef>
                <a:spcPts val="0"/>
              </a:spcBef>
              <a:spcAft>
                <a:spcPts val="400"/>
              </a:spcAft>
              <a:buChar char="•"/>
              <a:lnSpc>
                <a:spcPts val="1980"/>
              </a:lnSpc>
            </a:pPr>
            <a:r>
              <a:rPr lang="ja-JP" sz="1100" b="0" i="0" dirty="0">
                <a:solidFill>
                  <a:srgbClr val="333333"/>
                </a:solidFill>
                <a:ea typeface="Meiryo"/>
              </a:rPr>
              <a:t>技術スタック変更後に見直す</a:t>
            </a:r>
          </a:p>
          <a:p>
            <a:pPr marL="228600" indent="-228600">
              <a:spcBef>
                <a:spcPts val="0"/>
              </a:spcBef>
              <a:spcAft>
                <a:spcPts val="400"/>
              </a:spcAft>
              <a:buChar char="•"/>
              <a:lnSpc>
                <a:spcPts val="1980"/>
              </a:lnSpc>
            </a:pPr>
            <a:r>
              <a:rPr lang="ja-JP" sz="1100" b="0" i="0" dirty="0">
                <a:solidFill>
                  <a:srgbClr val="333333"/>
                </a:solidFill>
                <a:ea typeface="Meiryo"/>
              </a:rPr>
              <a:t>形骸化した禁止事項を外す</a:t>
            </a:r>
          </a:p>
          <a:p>
            <a:pPr marL="228600" indent="-228600">
              <a:spcBef>
                <a:spcPts val="0"/>
              </a:spcBef>
              <a:spcAft>
                <a:spcPts val="400"/>
              </a:spcAft>
              <a:buChar char="•"/>
              <a:lnSpc>
                <a:spcPts val="1980"/>
              </a:lnSpc>
            </a:pPr>
            <a:r>
              <a:rPr lang="ja-JP" sz="1100" b="0" i="0" dirty="0">
                <a:solidFill>
                  <a:srgbClr val="333333"/>
                </a:solidFill>
                <a:ea typeface="Meiryo"/>
              </a:rPr>
              <a:t>長い背景説明を別文書へ逃がす</a:t>
            </a:r>
          </a:p>
        </p:txBody>
      </p:sp>
      <p:sp>
        <p:nvSpPr>
          <p:cNvPr id="13" name="Rectangle 12"/>
          <p:cNvSpPr/>
          <p:nvPr/>
        </p:nvSpPr>
        <p:spPr>
          <a:xfrm>
            <a:off x="6089904" y="941832"/>
            <a:ext cx="2889504" cy="3671315"/>
          </a:xfrm>
          <a:prstGeom prst="rect">
            <a:avLst/>
          </a:prstGeom>
          <a:solidFill>
            <a:srgbClr val="F5F5F5"/>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27064" y="1051560"/>
            <a:ext cx="2615184" cy="320040"/>
          </a:xfrm>
          <a:prstGeom prst="rect">
            <a:avLst/>
          </a:prstGeom>
          <a:noFill/>
          <a:effectLst/>
        </p:spPr>
        <p:txBody>
          <a:bodyPr wrap="square" lIns="0" rIns="0" tIns="0" bIns="0" anchor="t">
            <a:noAutofit/>
          </a:bodyPr>
          <a:lstStyle/>
          <a:p>
            <a:r>
              <a:rPr lang="ja-JP" sz="1400" b="1" i="0" dirty="0">
                <a:solidFill>
                  <a:srgbClr val="333333"/>
                </a:solidFill>
                <a:ea typeface="Meiryo"/>
              </a:rPr>
              <a:t>小さく検証する</a:t>
            </a:r>
          </a:p>
        </p:txBody>
      </p:sp>
      <p:sp>
        <p:nvSpPr>
          <p:cNvPr id="15" name="Rectangle 14"/>
          <p:cNvSpPr/>
          <p:nvPr/>
        </p:nvSpPr>
        <p:spPr>
          <a:xfrm>
            <a:off x="6227064" y="1307592"/>
            <a:ext cx="2615184" cy="1270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27064" y="1380744"/>
            <a:ext cx="2615184" cy="3122675"/>
          </a:xfrm>
          <a:prstGeom prst="rect">
            <a:avLst/>
          </a:prstGeom>
          <a:noFill/>
          <a:effectLst/>
        </p:spPr>
        <p:txBody>
          <a:bodyPr wrap="square" lIns="0" rIns="0" tIns="0" bIns="0">
            <a:noAutofit/>
          </a:bodyPr>
          <a:lstStyle/>
          <a:p>
            <a:pPr>
              <a:spcBef>
                <a:spcPts val="0"/>
              </a:spcBef>
              <a:spcAft>
                <a:spcPts val="400"/>
              </a:spcAft>
              <a:buNone/>
              <a:lnSpc>
                <a:spcPts val="1980"/>
              </a:lnSpc>
            </a:pPr>
            <a:r>
              <a:rPr lang="ja-JP" sz="1100" b="0" i="0" dirty="0">
                <a:solidFill>
                  <a:srgbClr val="333333"/>
                </a:solidFill>
                <a:ea typeface="Meiryo"/>
              </a:rPr>
              <a:t>ルールを書き換えたら、期待する振る舞いが出るか軽い作業で確認する。</a:t>
            </a:r>
          </a:p>
          <a:p>
            <a:pPr marL="228600" indent="-228600">
              <a:spcBef>
                <a:spcPts val="0"/>
              </a:spcBef>
              <a:spcAft>
                <a:spcPts val="400"/>
              </a:spcAft>
              <a:buChar char="•"/>
              <a:lnSpc>
                <a:spcPts val="1980"/>
              </a:lnSpc>
            </a:pPr>
            <a:r>
              <a:rPr lang="ja-JP" sz="1100" b="0" i="0" dirty="0">
                <a:solidFill>
                  <a:srgbClr val="333333"/>
                </a:solidFill>
                <a:ea typeface="Meiryo"/>
              </a:rPr>
              <a:t>テスト、</a:t>
            </a:r>
            <a:r>
              <a:rPr lang="en-US" sz="1100" b="0" i="0" dirty="0">
                <a:solidFill>
                  <a:srgbClr val="333333"/>
                </a:solidFill>
                <a:latin typeface="Segoe UI"/>
              </a:rPr>
              <a:t>lint</a:t>
            </a:r>
            <a:r>
              <a:rPr lang="ja-JP" sz="1100" b="0" i="0" dirty="0">
                <a:solidFill>
                  <a:srgbClr val="333333"/>
                </a:solidFill>
                <a:ea typeface="Meiryo"/>
              </a:rPr>
              <a:t>、調査順序を見る</a:t>
            </a:r>
          </a:p>
          <a:p>
            <a:pPr marL="228600" indent="-228600">
              <a:spcBef>
                <a:spcPts val="0"/>
              </a:spcBef>
              <a:spcAft>
                <a:spcPts val="400"/>
              </a:spcAft>
              <a:buChar char="•"/>
              <a:lnSpc>
                <a:spcPts val="1980"/>
              </a:lnSpc>
            </a:pPr>
            <a:r>
              <a:rPr lang="ja-JP" sz="1100" b="0" i="0" dirty="0">
                <a:solidFill>
                  <a:srgbClr val="333333"/>
                </a:solidFill>
                <a:ea typeface="Meiryo"/>
              </a:rPr>
              <a:t>危険操作の抑止を確認する</a:t>
            </a:r>
          </a:p>
          <a:p>
            <a:pPr marL="228600" indent="-228600">
              <a:spcBef>
                <a:spcPts val="0"/>
              </a:spcBef>
              <a:spcAft>
                <a:spcPts val="400"/>
              </a:spcAft>
              <a:buChar char="•"/>
              <a:lnSpc>
                <a:spcPts val="1980"/>
              </a:lnSpc>
            </a:pPr>
            <a:r>
              <a:rPr lang="ja-JP" sz="1100" b="0" i="0" dirty="0">
                <a:solidFill>
                  <a:srgbClr val="333333"/>
                </a:solidFill>
                <a:ea typeface="Meiryo"/>
              </a:rPr>
              <a:t>効かない表現は具体化する</a:t>
            </a:r>
          </a:p>
        </p:txBody>
      </p:sp>
      <p:sp>
        <p:nvSpPr>
          <p:cNvPr id="17" name="Rectangle 16"/>
          <p:cNvSpPr/>
          <p:nvPr/>
        </p:nvSpPr>
        <p:spPr>
          <a:xfrm>
            <a:off x="0" y="4777740"/>
            <a:ext cx="9144000" cy="9525"/>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28600" y="4823459"/>
            <a:ext cx="1828800" cy="274320"/>
          </a:xfrm>
          <a:prstGeom prst="rect">
            <a:avLst/>
          </a:prstGeom>
          <a:noFill/>
        </p:spPr>
        <p:txBody>
          <a:bodyPr wrap="none" anchor="ctr" lIns="0" rIns="0" tIns="0" bIns="0">
            <a:spAutoFit/>
          </a:bodyPr>
          <a:lstStyle/>
          <a:p>
            <a:fld id="{0E7E4B3D-3876-4CE6-9F82-81AE83DE1635}" type="slidenum">
              <a:rPr lang="ja-JP" smtClean="0" sz="1000">
                <a:solidFill>
                  <a:srgbClr val="888888"/>
                </a:solidFill>
              </a:rPr>
              <a:t>&lt;#&gt;</a:t>
            </a:fld>
            <a:r>
              <a:rPr lang="ja-JP" smtClean="0" sz="1000">
                <a:solidFill>
                  <a:srgbClr val="888888"/>
                </a:solidFill>
              </a:rPr>
              <a:t>/</a:t>
            </a:r>
            <a:r>
              <a:rPr lang="ja-JP" smtClean="0" sz="1000">
                <a:solidFill>
                  <a:srgbClr val="888888"/>
                </a:solidFill>
              </a:rPr>
              <a:t>9</a:t>
            </a:r>
          </a:p>
        </p:txBody>
      </p:sp>
      <p:pic>
        <p:nvPicPr>
          <p:cNvPr id="19" name="Picture 18" descr="logo.png"/>
          <p:cNvPicPr>
            <a:picLocks noChangeAspect="1"/>
          </p:cNvPicPr>
          <p:nvPr/>
        </p:nvPicPr>
        <p:blipFill>
          <a:blip r:embed="rId2"/>
          <a:stretch>
            <a:fillRect/>
          </a:stretch>
        </p:blipFill>
        <p:spPr>
          <a:xfrm>
            <a:off x="8001000" y="4846320"/>
            <a:ext cx="762000" cy="228600"/>
          </a:xfrm>
          <a:prstGeom prst="rect">
            <a:avLst/>
          </a:prstGeom>
          <a:effectLst/>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77240"/>
          </a:xfrm>
          <a:prstGeom prst="rect">
            <a:avLst/>
          </a:prstGeom>
          <a:solidFill>
            <a:srgbClr val="4A4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85039"/>
            <a:ext cx="8686800" cy="411480"/>
          </a:xfrm>
          <a:prstGeom prst="rect">
            <a:avLst/>
          </a:prstGeom>
          <a:noFill/>
          <a:effectLst/>
        </p:spPr>
        <p:txBody>
          <a:bodyPr wrap="square" lIns="0" rIns="0" tIns="0" bIns="0" anchor="ctr">
            <a:noAutofit/>
          </a:bodyPr>
          <a:lstStyle/>
          <a:p>
            <a:r>
              <a:rPr lang="en-US" sz="2400" b="1" i="0" dirty="0">
                <a:solidFill>
                  <a:srgbClr val="FFFFFF"/>
                </a:solidFill>
                <a:latin typeface="Segoe UI"/>
              </a:rPr>
              <a:t>3</a:t>
            </a:r>
            <a:r>
              <a:rPr lang="ja-JP" sz="2400" b="1" i="0" dirty="0">
                <a:solidFill>
                  <a:srgbClr val="FFFFFF"/>
                </a:solidFill>
                <a:ea typeface="Meiryo"/>
              </a:rPr>
              <a:t>レイヤー構造で個人と案件のルールを分ける</a:t>
            </a:r>
          </a:p>
        </p:txBody>
      </p:sp>
      <p:sp>
        <p:nvSpPr>
          <p:cNvPr id="4" name="TextBox 3"/>
          <p:cNvSpPr txBox="1"/>
          <p:nvPr/>
        </p:nvSpPr>
        <p:spPr>
          <a:xfrm>
            <a:off x="228600" y="523036"/>
            <a:ext cx="8686800" cy="274320"/>
          </a:xfrm>
          <a:prstGeom prst="rect">
            <a:avLst/>
          </a:prstGeom>
          <a:noFill/>
          <a:effectLst/>
        </p:spPr>
        <p:txBody>
          <a:bodyPr wrap="square" lIns="0" rIns="0" tIns="0" bIns="0" anchor="ctr">
            <a:noAutofit/>
          </a:bodyPr>
          <a:lstStyle/>
          <a:p>
            <a:r>
              <a:rPr lang="ja-JP" sz="1200" b="0" i="0" dirty="0">
                <a:solidFill>
                  <a:srgbClr val="FFFFFF"/>
                </a:solidFill>
                <a:ea typeface="Meiryo"/>
              </a:rPr>
              <a:t>グローバル、プロジェクト、ディレクトリを重ねて使う</a:t>
            </a:r>
          </a:p>
        </p:txBody>
      </p:sp>
      <p:sp>
        <p:nvSpPr>
          <p:cNvPr id="5" name="TextBox 4"/>
          <p:cNvSpPr txBox="1"/>
          <p:nvPr/>
        </p:nvSpPr>
        <p:spPr>
          <a:xfrm>
            <a:off x="393192" y="1033272"/>
            <a:ext cx="3913632" cy="3488435"/>
          </a:xfrm>
          <a:prstGeom prst="rect">
            <a:avLst/>
          </a:prstGeom>
          <a:noFill/>
          <a:effectLst/>
        </p:spPr>
        <p:txBody>
          <a:bodyPr wrap="square" lIns="0" rIns="0" tIns="0" bIns="0">
            <a:noAutofit/>
          </a:bodyPr>
          <a:lstStyle/>
          <a:p>
            <a:pPr>
              <a:spcBef>
                <a:spcPts val="0"/>
              </a:spcBef>
              <a:spcAft>
                <a:spcPts val="300"/>
              </a:spcAft>
              <a:buNone/>
              <a:lnSpc>
                <a:spcPts val="1679"/>
              </a:lnSpc>
            </a:pPr>
            <a:r>
              <a:rPr lang="ja-JP" sz="1200" b="1" i="0" dirty="0">
                <a:solidFill>
                  <a:srgbClr val="333333"/>
                </a:solidFill>
                <a:ea typeface="Meiryo"/>
              </a:rPr>
              <a:t>実務での配置方針</a:t>
            </a:r>
          </a:p>
          <a:p>
            <a:pPr>
              <a:spcBef>
                <a:spcPts val="0"/>
              </a:spcBef>
              <a:spcAft>
                <a:spcPts val="400"/>
              </a:spcAft>
              <a:buNone/>
              <a:lnSpc>
                <a:spcPts val="2160"/>
              </a:lnSpc>
            </a:pPr>
            <a:r>
              <a:rPr lang="en-US" sz="1200" b="0" i="0" dirty="0">
                <a:solidFill>
                  <a:srgbClr val="333333"/>
                </a:solidFill>
                <a:latin typeface="Segoe UI"/>
              </a:rPr>
              <a:t>CLAUDE.md</a:t>
            </a:r>
            <a:r>
              <a:rPr lang="ja-JP" sz="1200" b="0" i="0" dirty="0">
                <a:solidFill>
                  <a:srgbClr val="333333"/>
                </a:solidFill>
                <a:ea typeface="Meiryo"/>
              </a:rPr>
              <a:t>の設計は、ルールの内容だけでなくスコープ設計で決まる。</a:t>
            </a:r>
          </a:p>
          <a:p>
            <a:pPr marL="228600" indent="-228600">
              <a:spcBef>
                <a:spcPts val="0"/>
              </a:spcBef>
              <a:spcAft>
                <a:spcPts val="400"/>
              </a:spcAft>
              <a:buNone/>
              <a:lnSpc>
                <a:spcPts val="2160"/>
              </a:lnSpc>
            </a:pPr>
            <a:r>
              <a:rPr lang="en-US" sz="1200" b="0" i="0" dirty="0">
                <a:solidFill>
                  <a:srgbClr val="333333"/>
                </a:solidFill>
                <a:latin typeface="Segoe UI"/>
              </a:rPr>
              <a:t>1. </a:t>
            </a:r>
            <a:r>
              <a:rPr lang="ja-JP" sz="1200" b="1" i="0" dirty="0">
                <a:solidFill>
                  <a:srgbClr val="333333"/>
                </a:solidFill>
                <a:ea typeface="Meiryo"/>
              </a:rPr>
              <a:t>グローバル</a:t>
            </a:r>
            <a:r>
              <a:rPr lang="en-US" sz="1200" b="1" i="0" dirty="0">
                <a:solidFill>
                  <a:srgbClr val="333333"/>
                </a:solidFill>
                <a:latin typeface="Segoe UI"/>
              </a:rPr>
              <a:t>:</a:t>
            </a:r>
            <a:r>
              <a:rPr lang="en-US" sz="1200" b="0" i="0" dirty="0">
                <a:solidFill>
                  <a:srgbClr val="333333"/>
                </a:solidFill>
                <a:latin typeface="Segoe UI"/>
              </a:rPr>
              <a:t> </a:t>
            </a:r>
            <a:r>
              <a:rPr lang="ja-JP" sz="1200" b="0" i="0" dirty="0">
                <a:solidFill>
                  <a:srgbClr val="333333"/>
                </a:solidFill>
                <a:ea typeface="Meiryo"/>
              </a:rPr>
              <a:t>日本語回答、テスト重視、報告形式など個人の共通好みを置く。</a:t>
            </a:r>
          </a:p>
          <a:p>
            <a:pPr marL="228600" indent="-228600">
              <a:spcBef>
                <a:spcPts val="0"/>
              </a:spcBef>
              <a:spcAft>
                <a:spcPts val="400"/>
              </a:spcAft>
              <a:buNone/>
              <a:lnSpc>
                <a:spcPts val="2160"/>
              </a:lnSpc>
            </a:pPr>
            <a:r>
              <a:rPr lang="en-US" sz="1200" b="0" i="0" dirty="0">
                <a:solidFill>
                  <a:srgbClr val="333333"/>
                </a:solidFill>
                <a:latin typeface="Segoe UI"/>
              </a:rPr>
              <a:t>2. </a:t>
            </a:r>
            <a:r>
              <a:rPr lang="ja-JP" sz="1200" b="1" i="0" dirty="0">
                <a:solidFill>
                  <a:srgbClr val="333333"/>
                </a:solidFill>
                <a:ea typeface="Meiryo"/>
              </a:rPr>
              <a:t>プロジェクト単位</a:t>
            </a:r>
            <a:r>
              <a:rPr lang="en-US" sz="1200" b="1" i="0" dirty="0">
                <a:solidFill>
                  <a:srgbClr val="333333"/>
                </a:solidFill>
                <a:latin typeface="Segoe UI"/>
              </a:rPr>
              <a:t>:</a:t>
            </a:r>
            <a:r>
              <a:rPr lang="en-US" sz="1200" b="0" i="0" dirty="0">
                <a:solidFill>
                  <a:srgbClr val="333333"/>
                </a:solidFill>
                <a:latin typeface="Segoe UI"/>
              </a:rPr>
              <a:t> </a:t>
            </a:r>
            <a:r>
              <a:rPr lang="ja-JP" sz="1200" b="0" i="0" dirty="0">
                <a:solidFill>
                  <a:srgbClr val="333333"/>
                </a:solidFill>
                <a:ea typeface="Meiryo"/>
              </a:rPr>
              <a:t>技術スタック、ディレクトリ構成、危険操作の禁止を置く。</a:t>
            </a:r>
          </a:p>
          <a:p>
            <a:pPr marL="228600" indent="-228600">
              <a:spcBef>
                <a:spcPts val="0"/>
              </a:spcBef>
              <a:spcAft>
                <a:spcPts val="400"/>
              </a:spcAft>
              <a:buNone/>
              <a:lnSpc>
                <a:spcPts val="2160"/>
              </a:lnSpc>
            </a:pPr>
            <a:r>
              <a:rPr lang="en-US" sz="1200" b="0" i="0" dirty="0">
                <a:solidFill>
                  <a:srgbClr val="333333"/>
                </a:solidFill>
                <a:latin typeface="Segoe UI"/>
              </a:rPr>
              <a:t>3. </a:t>
            </a:r>
            <a:r>
              <a:rPr lang="ja-JP" sz="1200" b="1" i="0" dirty="0">
                <a:solidFill>
                  <a:srgbClr val="333333"/>
                </a:solidFill>
                <a:ea typeface="Meiryo"/>
              </a:rPr>
              <a:t>ディレクトリ単位</a:t>
            </a:r>
            <a:r>
              <a:rPr lang="en-US" sz="1200" b="1" i="0" dirty="0">
                <a:solidFill>
                  <a:srgbClr val="333333"/>
                </a:solidFill>
                <a:latin typeface="Segoe UI"/>
              </a:rPr>
              <a:t>:</a:t>
            </a:r>
            <a:r>
              <a:rPr lang="en-US" sz="1200" b="0" i="0" dirty="0">
                <a:solidFill>
                  <a:srgbClr val="333333"/>
                </a:solidFill>
                <a:latin typeface="Segoe UI"/>
              </a:rPr>
              <a:t> frontend</a:t>
            </a:r>
            <a:r>
              <a:rPr lang="ja-JP" sz="1200" b="0" i="0" dirty="0">
                <a:solidFill>
                  <a:srgbClr val="333333"/>
                </a:solidFill>
                <a:ea typeface="Meiryo"/>
              </a:rPr>
              <a:t>や</a:t>
            </a:r>
            <a:r>
              <a:rPr lang="en-US" sz="1200" b="0" i="0" dirty="0">
                <a:solidFill>
                  <a:srgbClr val="333333"/>
                </a:solidFill>
                <a:latin typeface="Segoe UI"/>
              </a:rPr>
              <a:t>infra</a:t>
            </a:r>
            <a:r>
              <a:rPr lang="ja-JP" sz="1200" b="0" i="0" dirty="0">
                <a:solidFill>
                  <a:srgbClr val="333333"/>
                </a:solidFill>
                <a:ea typeface="Meiryo"/>
              </a:rPr>
              <a:t>など、領域ごとの実装制約を置く。</a:t>
            </a:r>
          </a:p>
          <a:p>
            <a:pPr>
              <a:spcBef>
                <a:spcPts val="0"/>
              </a:spcBef>
              <a:spcAft>
                <a:spcPts val="400"/>
              </a:spcAft>
              <a:buNone/>
              <a:lnSpc>
                <a:spcPts val="2160"/>
              </a:lnSpc>
            </a:pPr>
            <a:r>
              <a:rPr lang="ja-JP" sz="1200" b="0" i="0" dirty="0">
                <a:solidFill>
                  <a:srgbClr val="333333"/>
                </a:solidFill>
                <a:ea typeface="Meiryo"/>
              </a:rPr>
              <a:t>この分離により、</a:t>
            </a:r>
            <a:r>
              <a:rPr lang="en-US" sz="1200" b="0" i="0" dirty="0">
                <a:solidFill>
                  <a:srgbClr val="333333"/>
                </a:solidFill>
                <a:latin typeface="Segoe UI"/>
              </a:rPr>
              <a:t>AI</a:t>
            </a:r>
            <a:r>
              <a:rPr lang="ja-JP" sz="1200" b="0" i="0" dirty="0">
                <a:solidFill>
                  <a:srgbClr val="333333"/>
                </a:solidFill>
                <a:ea typeface="Meiryo"/>
              </a:rPr>
              <a:t>は「常に守ること」と「今だけ関係すること」を混同しにくくなる。</a:t>
            </a:r>
          </a:p>
        </p:txBody>
      </p:sp>
      <p:sp>
        <p:nvSpPr>
          <p:cNvPr id="6" name="TextBox 5"/>
          <p:cNvSpPr txBox="1"/>
          <p:nvPr/>
        </p:nvSpPr>
        <p:spPr>
          <a:xfrm>
            <a:off x="4837176" y="1033272"/>
            <a:ext cx="3913632" cy="3488435"/>
          </a:xfrm>
          <a:prstGeom prst="rect">
            <a:avLst/>
          </a:prstGeom>
          <a:noFill/>
          <a:effectLst/>
        </p:spPr>
        <p:txBody>
          <a:bodyPr wrap="square" lIns="0" rIns="0" tIns="0" bIns="0">
            <a:noAutofit/>
          </a:bodyPr>
          <a:lstStyle/>
          <a:p>
            <a:pPr>
              <a:spcBef>
                <a:spcPts val="0"/>
              </a:spcBef>
              <a:spcAft>
                <a:spcPts val="300"/>
              </a:spcAft>
              <a:buNone/>
              <a:lnSpc>
                <a:spcPts val="1679"/>
              </a:lnSpc>
            </a:pPr>
            <a:r>
              <a:rPr lang="en-US" sz="1200" b="1" i="0" dirty="0">
                <a:solidFill>
                  <a:srgbClr val="333333"/>
                </a:solidFill>
                <a:latin typeface="Segoe UI"/>
              </a:rPr>
              <a:t>nanobanana</a:t>
            </a:r>
            <a:r>
              <a:rPr lang="ja-JP" sz="1200" b="1" i="0" dirty="0">
                <a:solidFill>
                  <a:srgbClr val="333333"/>
                </a:solidFill>
                <a:ea typeface="Meiryo"/>
              </a:rPr>
              <a:t>プロンプト</a:t>
            </a:r>
          </a:p>
          <a:p>
            <a:pPr>
              <a:spcBef>
                <a:spcPts val="0"/>
              </a:spcBef>
              <a:spcAft>
                <a:spcPts val="400"/>
              </a:spcAft>
              <a:buNone/>
              <a:lnSpc>
                <a:spcPts val="2160"/>
              </a:lnSpc>
            </a:pPr>
            <a:r>
              <a:rPr lang="en-US" sz="1200" b="0" i="0" dirty="0">
                <a:solidFill>
                  <a:srgbClr val="333333"/>
                </a:solidFill>
                <a:latin typeface="Segoe UI"/>
              </a:rPr>
              <a:t>Create a 6:5 flat explanatory diagram for a Japanese business slide, white background, full-canvas composition with no letterbox and no large top or bottom whitespace. Show three stacked layers: </a:t>
            </a:r>
            <a:r>
              <a:rPr lang="ja-JP" sz="1200" b="0" i="0" dirty="0">
                <a:solidFill>
                  <a:srgbClr val="333333"/>
                </a:solidFill>
                <a:ea typeface="Meiryo"/>
              </a:rPr>
              <a:t>グローバル</a:t>
            </a:r>
            <a:r>
              <a:rPr lang="en-US" sz="1200" b="0" i="0" dirty="0">
                <a:solidFill>
                  <a:srgbClr val="333333"/>
                </a:solidFill>
                <a:latin typeface="Segoe UI"/>
              </a:rPr>
              <a:t> at the top as personal preferences, </a:t>
            </a:r>
            <a:r>
              <a:rPr lang="ja-JP" sz="1200" b="0" i="0" dirty="0">
                <a:solidFill>
                  <a:srgbClr val="333333"/>
                </a:solidFill>
                <a:ea typeface="Meiryo"/>
              </a:rPr>
              <a:t>プロジェクト</a:t>
            </a:r>
            <a:r>
              <a:rPr lang="en-US" sz="1200" b="0" i="0" dirty="0">
                <a:solidFill>
                  <a:srgbClr val="333333"/>
                </a:solidFill>
                <a:latin typeface="Segoe UI"/>
              </a:rPr>
              <a:t> in the middle as technical rules and safety constraints, </a:t>
            </a:r>
            <a:r>
              <a:rPr lang="ja-JP" sz="1200" b="0" i="0" dirty="0">
                <a:solidFill>
                  <a:srgbClr val="333333"/>
                </a:solidFill>
                <a:ea typeface="Meiryo"/>
              </a:rPr>
              <a:t>ディレクトリ</a:t>
            </a:r>
            <a:r>
              <a:rPr lang="en-US" sz="1200" b="0" i="0" dirty="0">
                <a:solidFill>
                  <a:srgbClr val="333333"/>
                </a:solidFill>
                <a:latin typeface="Segoe UI"/>
              </a:rPr>
              <a:t> at the bottom as local frontend or infra rules. Use simple documents, folders, arrows, and small Japanese labels. Make it a coherent explanatory diagram, not separate icons.</a:t>
            </a:r>
          </a:p>
        </p:txBody>
      </p:sp>
      <p:sp>
        <p:nvSpPr>
          <p:cNvPr id="7" name="Rectangle 6"/>
          <p:cNvSpPr/>
          <p:nvPr/>
        </p:nvSpPr>
        <p:spPr>
          <a:xfrm>
            <a:off x="0" y="4777740"/>
            <a:ext cx="9144000" cy="9525"/>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4823459"/>
            <a:ext cx="1828800" cy="274320"/>
          </a:xfrm>
          <a:prstGeom prst="rect">
            <a:avLst/>
          </a:prstGeom>
          <a:noFill/>
        </p:spPr>
        <p:txBody>
          <a:bodyPr wrap="none" anchor="ctr" lIns="0" rIns="0" tIns="0" bIns="0">
            <a:spAutoFit/>
          </a:bodyPr>
          <a:lstStyle/>
          <a:p>
            <a:fld id="{9B6F5E5F-3CCE-46AB-9A73-E9BFFD16E1C2}" type="slidenum">
              <a:rPr lang="ja-JP" smtClean="0" sz="1000">
                <a:solidFill>
                  <a:srgbClr val="888888"/>
                </a:solidFill>
              </a:rPr>
              <a:t>&lt;#&gt;</a:t>
            </a:fld>
            <a:r>
              <a:rPr lang="ja-JP" smtClean="0" sz="1000">
                <a:solidFill>
                  <a:srgbClr val="888888"/>
                </a:solidFill>
              </a:rPr>
              <a:t>/</a:t>
            </a:r>
            <a:r>
              <a:rPr lang="ja-JP" smtClean="0" sz="1000">
                <a:solidFill>
                  <a:srgbClr val="888888"/>
                </a:solidFill>
              </a:rPr>
              <a:t>9</a:t>
            </a:r>
          </a:p>
        </p:txBody>
      </p:sp>
      <p:pic>
        <p:nvPicPr>
          <p:cNvPr id="9" name="Picture 8" descr="logo.png"/>
          <p:cNvPicPr>
            <a:picLocks noChangeAspect="1"/>
          </p:cNvPicPr>
          <p:nvPr/>
        </p:nvPicPr>
        <p:blipFill>
          <a:blip r:embed="rId2"/>
          <a:stretch>
            <a:fillRect/>
          </a:stretch>
        </p:blipFill>
        <p:spPr>
          <a:xfrm>
            <a:off x="8001000" y="4846320"/>
            <a:ext cx="762000" cy="228600"/>
          </a:xfrm>
          <a:prstGeom prst="rect">
            <a:avLst/>
          </a:prstGeom>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