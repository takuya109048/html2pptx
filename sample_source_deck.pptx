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firstSlideNum="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このデッキは、Claude CodeにおけるCLAUDE.mdの役割と設計方法を整理するものである。単なる設定ファイルではなく、セッション開始時に読み込まれるルールブックとして扱い、AIの振る舞いをプロジェクト基準へ安定して寄せることが目的であ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目次は、スライドタイトルを単純に前半と後半へ割るのではなく、内容上のまとまりを大見出しでくくり、その配下に各スライドの小見出しを置く構成である。左カラムに導入と設計原則を順に積み、入りきらない運用領域を右カラムへ送っている。したがって聴衆は、最初に概念を理解し、次に設計判断、最後に運用方法を確認する流れを把握でき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で伝えたいことは、CLAUDE.mdは単なるメモではなく、セッション開始時に読み込まれる行動基準であるという点である。ルール、前提、手順をここに置くことで、毎回同じ説明を繰り返す必要が減る。さらに、AIの出力がプロジェクト固有の期待値から外れにくくなる。したがってCLAUDE.mdは、開発者の意図を長期的に固定するための入口であ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では、CLAUDE.mdとMEMORY.mdを同じコンテキストとして扱わないことが重要である。CLAUDE.mdはユーザーが意図的に書く強制ルールであり、プロジェクトや組織の基準を示す。MEMORY.mdはAIが作業から学んだ傾向を記録する補助メモである。両者を分けることで、必ず守るべき規約と、参考にするだけの好みが混線しない。つまり、安定性は役割分担から生まれ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で伝えたいことは、CLAUDE.mdは長ければよいわけではないという点である。AIが安定して守れるルール数には限界があり、重要でない指示が増えるほど本当に守ってほしい基準が埋もれる。1ルール1文、宣言調、実行可能な指示という3条件を満たすことで、読み取りやすく運用しやすいルールになる。したがってCLAUDE.mdは、網羅ではなく選別の成果物である。 --- [nanobanana2 icon prompt] 3つのフラットアイコンを横一列に並べた1枚の画像を生成する。左から順に: アイコン1: 重要ルールだけを選別するフィルター, アイコン2: 1文ルールを示す短い文書, アイコン3: 実行コマンドを示す端末。各アイコンは正方形の枠内に収まるシンプルなフラットデザイン。白背景、色統一、ミニマルスタイル、文字なし。</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では、CLAUDE.mdに入れるべき代表的な章立てを整理している。プロジェクト概要は何を作るかを示し、技術スタックと禁止事項は使う道具を揃える。ディレクトリ構成はファイル探索の地図になり、コマンド集は実行手順を明確にする。さらに、コーディング規約、作業ワークフロー、固有の落とし穴を加えることで、AIは作業前後の判断を一貫させやすくな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で伝えたいことは、大規模リポジトリほどルールを一箇所へ詰め込まない方がよいという点である。まずルートCLAUDE.mdには全体共通の原則を置く。次にfrontendやinfraなど、領域別のルールへ分ける。最後に、作業対象に近いルールだけを優先して読ませることで、AIの認知負荷が下がる。したがってスコープ分離は、ルール量を増やしながらノイズを増やさないための設計である。 --- [nanobanana2 icon prompt] 3つのフラットアイコンを横一列に並べた1枚の画像を生成する。左から順に: アイコン1: ルートフォルダと共通ルール, アイコン2: frontendとinfraに分かれたフォルダ, アイコン3: 作業ファイルへ必要なルールだけが流れる矢印。各アイコンは正方形の枠内に収まるシンプルなフラットデザイン。白背景、色統一、ミニマルスタイル、文字なし。</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では、CLAUDE.mdのテンプレートは用途によって変えるべきであることを示している。WebアプリではUIライブラリやAPI配置が品質に直結する。データ分析では保存場所や再現性が重要になる。スクリプトや自動化では対象OSや安全策が事故防止の中心である。つまり、同じCLAUDE.mdでも、現場で起きやすい失敗に合わせて章の重みを変える必要がある。 --- [nanobanana2 icon prompt] 3つのフラットアイコンを横一列に並べた1枚の画像を生成する。左から順に: アイコン1: Webアプリ画面とUI部品, アイコン2: データ表と分析グラフ, アイコン3: 自動化スクリプトと安全確認。各アイコンは正方形の枠内に収まるシンプルなフラットデザイン。白背景、色統一、ミニマルスタイル、文字なし。</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で伝えたいことは、CLAUDE.mdは一度書いて終わる文書ではなく、運用しながら育てる対象であるという点である。会話で同じ注意を二度したら、ルールに昇格させる価値がある。一方で、古い技術スタックや形骸化したルールは削る必要がある。最後に、小さなタスクで振る舞いを確認することで、ルール変更が本当に効いているかを検証できる。 --- [nanobanana2 icon prompt] 3つのフラットアイコンを横一列に並べた1枚の画像を生成する。左から順に: アイコン1: 会話メモからルールへ昇格する矢印, アイコン2: 古い項目を削る整理された文書, アイコン3: 小さなテストタスクで確認するチェックマーク。各アイコンは正方形の枠内に収まるシンプルなフラットデザイン。白背景、色統一、ミニマルスタイル、文字なし。</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では、Takuyaさんの環境に適したCLAUDE.md設計を3レイヤーで示している。グローバルには回答言語や安全姿勢など、全プロジェクト共通の好みを置く。プロジェクト単位には技術スタックや危険操作の禁止を置く。ディレクトリ単位にはフロントエンドやPowerShell、Pythonなど領域固有のルールを置く。この分離により、全体の一貫性と局所的な精度を両立できる。 --- [nanobanana2 icon prompt] 3つのフラットアイコンを横一列に並べた1枚の画像を生成する。左から順に: アイコン1: 全体設定を表す地球と歯車, アイコン2: プロジェクトフォルダと技術スタック, アイコン3: サブフォルダ別ルールと精密なチェック。各アイコンは正方形の枠内に収まるシンプルなフラットデザイン。白背景、色統一、ミニマルスタイル、文字なし。</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最終スライドで伝えたいことは、CLAUDE.mdの価値はファイルを置くこと自体ではなく、継続的にAIの判断を整えることにあるという点である。ルールを厳選し、具体的に書き、スコープを分け、運用の中で更新する。この流れがそろうと、AIは毎回の会話に依存せず、プロジェクトに合った振る舞いを再現しやすくなる。したがって、CLAUDE.mdは長期文脈の設計図であ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457200" y="1243584"/>
            <a:ext cx="5029200" cy="1234440"/>
          </a:xfrm>
          <a:prstGeom prst="rect">
            <a:avLst/>
          </a:prstGeom>
          <a:noFill/>
          <a:effectLst/>
        </p:spPr>
        <p:txBody>
          <a:bodyPr wrap="none" lIns="0" rIns="0" tIns="0" bIns="0" anchor="b">
            <a:noAutofit/>
          </a:bodyPr>
          <a:lstStyle/>
          <a:p>
            <a:pPr>
              <a:lnSpc>
                <a:spcPts val="3919"/>
              </a:lnSpc>
            </a:pPr>
            <a:r>
              <a:rPr lang="en-US" sz="2800" b="1" i="0" dirty="0">
                <a:solidFill>
                  <a:srgbClr val="000000"/>
                </a:solidFill>
                <a:latin typeface="Segoe UI"/>
              </a:rPr>
              <a:t>CLAUDE.md</a:t>
            </a:r>
            <a:r>
              <a:rPr lang="ja-JP" sz="2800" b="1" i="0" dirty="0">
                <a:solidFill>
                  <a:srgbClr val="000000"/>
                </a:solidFill>
                <a:ea typeface="Meiryo"/>
              </a:rPr>
              <a:t>設計ガイド</a:t>
            </a:r>
          </a:p>
          <a:p>
            <a:pPr>
              <a:lnSpc>
                <a:spcPts val="3919"/>
              </a:lnSpc>
            </a:pPr>
            <a:r>
              <a:rPr lang="en-US" sz="2800" b="1" i="0" dirty="0">
                <a:solidFill>
                  <a:srgbClr val="000000"/>
                </a:solidFill>
                <a:latin typeface="Segoe UI"/>
              </a:rPr>
              <a:t>AI</a:t>
            </a:r>
            <a:r>
              <a:rPr lang="ja-JP" sz="2800" b="1" i="0" dirty="0">
                <a:solidFill>
                  <a:srgbClr val="000000"/>
                </a:solidFill>
                <a:ea typeface="Meiryo"/>
              </a:rPr>
              <a:t>の長期文脈を安定させる実務ルール</a:t>
            </a:r>
          </a:p>
        </p:txBody>
      </p:sp>
      <p:sp>
        <p:nvSpPr>
          <p:cNvPr id="4" name="Rectangle 3"/>
          <p:cNvSpPr/>
          <p:nvPr/>
        </p:nvSpPr>
        <p:spPr>
          <a:xfrm>
            <a:off x="457200" y="2569464"/>
            <a:ext cx="3657600" cy="952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752344"/>
            <a:ext cx="5029200" cy="320040"/>
          </a:xfrm>
          <a:prstGeom prst="rect">
            <a:avLst/>
          </a:prstGeom>
          <a:noFill/>
          <a:effectLst/>
        </p:spPr>
        <p:txBody>
          <a:bodyPr wrap="square" lIns="0" rIns="0" tIns="0" bIns="0" anchor="ctr">
            <a:noAutofit/>
          </a:bodyPr>
          <a:lstStyle/>
          <a:p>
            <a:r>
              <a:rPr lang="en-US" sz="1600" b="0" i="0" dirty="0">
                <a:solidFill>
                  <a:srgbClr val="333333"/>
                </a:solidFill>
                <a:latin typeface="Segoe UI"/>
              </a:rPr>
              <a:t>Project Knowledge Design</a:t>
            </a:r>
          </a:p>
        </p:txBody>
      </p:sp>
      <p:sp>
        <p:nvSpPr>
          <p:cNvPr id="6" name="TextBox 5"/>
          <p:cNvSpPr txBox="1"/>
          <p:nvPr/>
        </p:nvSpPr>
        <p:spPr>
          <a:xfrm>
            <a:off x="457200" y="3072384"/>
            <a:ext cx="5029200" cy="320040"/>
          </a:xfrm>
          <a:prstGeom prst="rect">
            <a:avLst/>
          </a:prstGeom>
          <a:noFill/>
          <a:effectLst/>
        </p:spPr>
        <p:txBody>
          <a:bodyPr wrap="square" lIns="0" rIns="0" tIns="0" bIns="0" anchor="ctr">
            <a:noAutofit/>
          </a:bodyPr>
          <a:lstStyle/>
          <a:p>
            <a:r>
              <a:rPr lang="ja-JP" sz="1600" b="0" i="0" dirty="0">
                <a:solidFill>
                  <a:srgbClr val="333333"/>
                </a:solidFill>
                <a:ea typeface="Meiryo"/>
              </a:rPr>
              <a:t>山田</a:t>
            </a:r>
            <a:r>
              <a:rPr lang="en-US" sz="1600" b="0" i="0" dirty="0">
                <a:solidFill>
                  <a:srgbClr val="333333"/>
                </a:solidFill>
                <a:latin typeface="Segoe UI"/>
              </a:rPr>
              <a:t> </a:t>
            </a:r>
            <a:r>
              <a:rPr lang="ja-JP" sz="1600" b="0" i="0" dirty="0">
                <a:solidFill>
                  <a:srgbClr val="333333"/>
                </a:solidFill>
                <a:ea typeface="Meiryo"/>
              </a:rPr>
              <a:t>花子</a:t>
            </a:r>
          </a:p>
        </p:txBody>
      </p:sp>
      <p:sp>
        <p:nvSpPr>
          <p:cNvPr id="7" name="TextBox 6"/>
          <p:cNvSpPr txBox="1"/>
          <p:nvPr/>
        </p:nvSpPr>
        <p:spPr>
          <a:xfrm>
            <a:off x="457200" y="3392424"/>
            <a:ext cx="5029200" cy="320040"/>
          </a:xfrm>
          <a:prstGeom prst="rect">
            <a:avLst/>
          </a:prstGeom>
          <a:noFill/>
          <a:effectLst/>
        </p:spPr>
        <p:txBody>
          <a:bodyPr wrap="square" lIns="0" rIns="0" tIns="0" bIns="0" anchor="ctr">
            <a:noAutofit/>
          </a:bodyPr>
          <a:lstStyle/>
          <a:p>
            <a:r>
              <a:rPr lang="en-US" sz="1600" b="0" i="0" dirty="0">
                <a:solidFill>
                  <a:srgbClr val="333333"/>
                </a:solidFill>
                <a:latin typeface="Segoe UI"/>
              </a:rPr>
              <a:t>2026-04-28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目次</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左から積み上げ、入りきらない範囲を右へ送る構成である</a:t>
            </a:r>
          </a:p>
        </p:txBody>
      </p:sp>
      <p:sp>
        <p:nvSpPr>
          <p:cNvPr id="5" name="TextBox 4"/>
          <p:cNvSpPr txBox="1"/>
          <p:nvPr/>
        </p:nvSpPr>
        <p:spPr>
          <a:xfrm>
            <a:off x="393192" y="1033272"/>
            <a:ext cx="3913632" cy="3488435"/>
          </a:xfrm>
          <a:prstGeom prst="rect">
            <a:avLst/>
          </a:prstGeom>
          <a:noFill/>
          <a:effectLst/>
        </p:spPr>
        <p:txBody>
          <a:bodyPr wrap="square" lIns="0" rIns="0" tIns="0" bIns="0">
            <a:noAutofit/>
          </a:bodyPr>
          <a:lstStyle/>
          <a:p>
            <a:pPr>
              <a:spcBef>
                <a:spcPts val="0"/>
              </a:spcBef>
              <a:spcAft>
                <a:spcPts val="300"/>
              </a:spcAft>
              <a:buNone/>
              <a:lnSpc>
                <a:spcPts val="1679"/>
              </a:lnSpc>
            </a:pPr>
            <a:r>
              <a:rPr lang="ja-JP" sz="1200" b="1" i="0" dirty="0">
                <a:solidFill>
                  <a:srgbClr val="333333"/>
                </a:solidFill>
                <a:ea typeface="Meiryo"/>
              </a:rPr>
              <a:t>導入</a:t>
            </a:r>
          </a:p>
          <a:p>
            <a:pPr marL="228600" indent="-228600">
              <a:spcBef>
                <a:spcPts val="0"/>
              </a:spcBef>
              <a:spcAft>
                <a:spcPts val="400"/>
              </a:spcAft>
              <a:buChar char="•"/>
              <a:lnSpc>
                <a:spcPts val="2160"/>
              </a:lnSpc>
            </a:pPr>
            <a:r>
              <a:rPr lang="en-US" sz="1200" b="0" i="0" dirty="0">
                <a:solidFill>
                  <a:srgbClr val="333333"/>
                </a:solidFill>
                <a:latin typeface="Segoe UI"/>
              </a:rPr>
              <a:t>CLAUDE.md</a:t>
            </a:r>
            <a:r>
              <a:rPr lang="ja-JP" sz="1200" b="0" i="0" dirty="0">
                <a:solidFill>
                  <a:srgbClr val="333333"/>
                </a:solidFill>
                <a:ea typeface="Meiryo"/>
              </a:rPr>
              <a:t>はセッションのルールブックである</a:t>
            </a:r>
          </a:p>
          <a:p>
            <a:pPr marL="228600" indent="-228600">
              <a:spcBef>
                <a:spcPts val="0"/>
              </a:spcBef>
              <a:spcAft>
                <a:spcPts val="400"/>
              </a:spcAft>
              <a:buChar char="•"/>
              <a:lnSpc>
                <a:spcPts val="2160"/>
              </a:lnSpc>
            </a:pPr>
            <a:r>
              <a:rPr lang="en-US" sz="1200" b="0" i="0" dirty="0">
                <a:solidFill>
                  <a:srgbClr val="333333"/>
                </a:solidFill>
                <a:latin typeface="Segoe UI"/>
              </a:rPr>
              <a:t>CLAUDE.md</a:t>
            </a:r>
            <a:r>
              <a:rPr lang="ja-JP" sz="1200" b="0" i="0" dirty="0">
                <a:solidFill>
                  <a:srgbClr val="333333"/>
                </a:solidFill>
                <a:ea typeface="Meiryo"/>
              </a:rPr>
              <a:t>と</a:t>
            </a:r>
            <a:r>
              <a:rPr lang="en-US" sz="1200" b="0" i="0" dirty="0">
                <a:solidFill>
                  <a:srgbClr val="333333"/>
                </a:solidFill>
                <a:latin typeface="Segoe UI"/>
              </a:rPr>
              <a:t>MEMORY.md</a:t>
            </a:r>
            <a:r>
              <a:rPr lang="ja-JP" sz="1200" b="0" i="0" dirty="0">
                <a:solidFill>
                  <a:srgbClr val="333333"/>
                </a:solidFill>
                <a:ea typeface="Meiryo"/>
              </a:rPr>
              <a:t>は役割が異なる</a:t>
            </a:r>
          </a:p>
          <a:p>
            <a:pPr>
              <a:spcBef>
                <a:spcPts val="800"/>
              </a:spcBef>
              <a:spcAft>
                <a:spcPts val="300"/>
              </a:spcAft>
              <a:buNone/>
              <a:lnSpc>
                <a:spcPts val="1679"/>
              </a:lnSpc>
            </a:pPr>
            <a:r>
              <a:rPr lang="ja-JP" sz="1200" b="1" i="0" dirty="0">
                <a:solidFill>
                  <a:srgbClr val="333333"/>
                </a:solidFill>
                <a:ea typeface="Meiryo"/>
              </a:rPr>
              <a:t>設計原則</a:t>
            </a:r>
          </a:p>
          <a:p>
            <a:pPr marL="228600" indent="-228600">
              <a:spcBef>
                <a:spcPts val="0"/>
              </a:spcBef>
              <a:spcAft>
                <a:spcPts val="400"/>
              </a:spcAft>
              <a:buChar char="•"/>
              <a:lnSpc>
                <a:spcPts val="2160"/>
              </a:lnSpc>
            </a:pPr>
            <a:r>
              <a:rPr lang="ja-JP" sz="1200" b="0" i="0" dirty="0">
                <a:solidFill>
                  <a:srgbClr val="333333"/>
                </a:solidFill>
                <a:ea typeface="Meiryo"/>
              </a:rPr>
              <a:t>重要ルールは少なく、具体的に書く</a:t>
            </a:r>
          </a:p>
          <a:p>
            <a:pPr marL="228600" indent="-228600">
              <a:spcBef>
                <a:spcPts val="0"/>
              </a:spcBef>
              <a:spcAft>
                <a:spcPts val="400"/>
              </a:spcAft>
              <a:buChar char="•"/>
              <a:lnSpc>
                <a:spcPts val="2160"/>
              </a:lnSpc>
            </a:pPr>
            <a:r>
              <a:rPr lang="ja-JP" sz="1200" b="0" i="0" dirty="0">
                <a:solidFill>
                  <a:srgbClr val="333333"/>
                </a:solidFill>
                <a:ea typeface="Meiryo"/>
              </a:rPr>
              <a:t>推奨章立ては</a:t>
            </a:r>
            <a:r>
              <a:rPr lang="en-US" sz="1200" b="0" i="0" dirty="0">
                <a:solidFill>
                  <a:srgbClr val="333333"/>
                </a:solidFill>
                <a:latin typeface="Segoe UI"/>
              </a:rPr>
              <a:t>AI</a:t>
            </a:r>
            <a:r>
              <a:rPr lang="ja-JP" sz="1200" b="0" i="0" dirty="0">
                <a:solidFill>
                  <a:srgbClr val="333333"/>
                </a:solidFill>
                <a:ea typeface="Meiryo"/>
              </a:rPr>
              <a:t>の迷いを減らす</a:t>
            </a:r>
          </a:p>
          <a:p>
            <a:pPr marL="228600" indent="-228600">
              <a:spcBef>
                <a:spcPts val="0"/>
              </a:spcBef>
              <a:spcAft>
                <a:spcPts val="400"/>
              </a:spcAft>
              <a:buChar char="•"/>
              <a:lnSpc>
                <a:spcPts val="2160"/>
              </a:lnSpc>
            </a:pPr>
            <a:r>
              <a:rPr lang="ja-JP" sz="1200" b="0" i="0" dirty="0">
                <a:solidFill>
                  <a:srgbClr val="333333"/>
                </a:solidFill>
                <a:ea typeface="Meiryo"/>
              </a:rPr>
              <a:t>スコープ分離が文脈ノイズを抑える</a:t>
            </a:r>
          </a:p>
        </p:txBody>
      </p:sp>
      <p:sp>
        <p:nvSpPr>
          <p:cNvPr id="6" name="TextBox 5"/>
          <p:cNvSpPr txBox="1"/>
          <p:nvPr/>
        </p:nvSpPr>
        <p:spPr>
          <a:xfrm>
            <a:off x="4837176" y="1033272"/>
            <a:ext cx="3913632" cy="3488435"/>
          </a:xfrm>
          <a:prstGeom prst="rect">
            <a:avLst/>
          </a:prstGeom>
          <a:noFill/>
          <a:effectLst/>
        </p:spPr>
        <p:txBody>
          <a:bodyPr wrap="square" lIns="0" rIns="0" tIns="0" bIns="0">
            <a:noAutofit/>
          </a:bodyPr>
          <a:lstStyle/>
          <a:p>
            <a:pPr>
              <a:spcBef>
                <a:spcPts val="0"/>
              </a:spcBef>
              <a:spcAft>
                <a:spcPts val="300"/>
              </a:spcAft>
              <a:buNone/>
              <a:lnSpc>
                <a:spcPts val="1679"/>
              </a:lnSpc>
            </a:pPr>
            <a:r>
              <a:rPr lang="ja-JP" sz="1200" b="1" i="0" dirty="0">
                <a:solidFill>
                  <a:srgbClr val="333333"/>
                </a:solidFill>
                <a:ea typeface="Meiryo"/>
              </a:rPr>
              <a:t>運用</a:t>
            </a:r>
          </a:p>
          <a:p>
            <a:pPr marL="228600" indent="-228600">
              <a:spcBef>
                <a:spcPts val="0"/>
              </a:spcBef>
              <a:spcAft>
                <a:spcPts val="400"/>
              </a:spcAft>
              <a:buChar char="•"/>
              <a:lnSpc>
                <a:spcPts val="2160"/>
              </a:lnSpc>
            </a:pPr>
            <a:r>
              <a:rPr lang="ja-JP" sz="1200" b="0" i="0" dirty="0">
                <a:solidFill>
                  <a:srgbClr val="333333"/>
                </a:solidFill>
                <a:ea typeface="Meiryo"/>
              </a:rPr>
              <a:t>用途別テンプレートで現場差分を吸収する</a:t>
            </a:r>
          </a:p>
          <a:p>
            <a:pPr marL="228600" indent="-228600">
              <a:spcBef>
                <a:spcPts val="0"/>
              </a:spcBef>
              <a:spcAft>
                <a:spcPts val="400"/>
              </a:spcAft>
              <a:buChar char="•"/>
              <a:lnSpc>
                <a:spcPts val="2160"/>
              </a:lnSpc>
            </a:pPr>
            <a:r>
              <a:rPr lang="en-US" sz="1200" b="0" i="0" dirty="0">
                <a:solidFill>
                  <a:srgbClr val="333333"/>
                </a:solidFill>
                <a:latin typeface="Segoe UI"/>
              </a:rPr>
              <a:t>CLAUDE.md</a:t>
            </a:r>
            <a:r>
              <a:rPr lang="ja-JP" sz="1200" b="0" i="0" dirty="0">
                <a:solidFill>
                  <a:srgbClr val="333333"/>
                </a:solidFill>
                <a:ea typeface="Meiryo"/>
              </a:rPr>
              <a:t>は育て続ける対象である</a:t>
            </a:r>
          </a:p>
          <a:p>
            <a:pPr marL="228600" indent="-228600">
              <a:spcBef>
                <a:spcPts val="0"/>
              </a:spcBef>
              <a:spcAft>
                <a:spcPts val="400"/>
              </a:spcAft>
              <a:buChar char="•"/>
              <a:lnSpc>
                <a:spcPts val="2160"/>
              </a:lnSpc>
            </a:pPr>
            <a:r>
              <a:rPr lang="en-US" sz="1200" b="0" i="0" dirty="0">
                <a:solidFill>
                  <a:srgbClr val="333333"/>
                </a:solidFill>
                <a:latin typeface="Segoe UI"/>
              </a:rPr>
              <a:t>Takuya</a:t>
            </a:r>
            <a:r>
              <a:rPr lang="ja-JP" sz="1200" b="0" i="0" dirty="0">
                <a:solidFill>
                  <a:srgbClr val="333333"/>
                </a:solidFill>
                <a:ea typeface="Meiryo"/>
              </a:rPr>
              <a:t>さんの環境は</a:t>
            </a:r>
            <a:r>
              <a:rPr lang="en-US" sz="1200" b="0" i="0" dirty="0">
                <a:solidFill>
                  <a:srgbClr val="333333"/>
                </a:solidFill>
                <a:latin typeface="Segoe UI"/>
              </a:rPr>
              <a:t>3</a:t>
            </a:r>
            <a:r>
              <a:rPr lang="ja-JP" sz="1200" b="0" i="0" dirty="0">
                <a:solidFill>
                  <a:srgbClr val="333333"/>
                </a:solidFill>
                <a:ea typeface="Meiryo"/>
              </a:rPr>
              <a:t>レイヤー設計が有効である</a:t>
            </a:r>
          </a:p>
          <a:p>
            <a:pPr>
              <a:spcBef>
                <a:spcPts val="800"/>
              </a:spcBef>
              <a:spcAft>
                <a:spcPts val="300"/>
              </a:spcAft>
              <a:buNone/>
              <a:lnSpc>
                <a:spcPts val="1679"/>
              </a:lnSpc>
            </a:pPr>
            <a:r>
              <a:rPr lang="ja-JP" sz="1200" b="1" i="0" dirty="0">
                <a:solidFill>
                  <a:srgbClr val="333333"/>
                </a:solidFill>
                <a:ea typeface="Meiryo"/>
              </a:rPr>
              <a:t>まとめ</a:t>
            </a:r>
          </a:p>
          <a:p>
            <a:pPr marL="228600" indent="-228600">
              <a:spcBef>
                <a:spcPts val="0"/>
              </a:spcBef>
              <a:spcAft>
                <a:spcPts val="400"/>
              </a:spcAft>
              <a:buChar char="•"/>
              <a:lnSpc>
                <a:spcPts val="2160"/>
              </a:lnSpc>
            </a:pPr>
            <a:r>
              <a:rPr lang="ja-JP" sz="1200" b="0" i="0" dirty="0">
                <a:solidFill>
                  <a:srgbClr val="333333"/>
                </a:solidFill>
                <a:ea typeface="Meiryo"/>
              </a:rPr>
              <a:t>長期文脈は設計と運用で安定する</a:t>
            </a:r>
          </a:p>
        </p:txBody>
      </p:sp>
      <p:sp>
        <p:nvSpPr>
          <p:cNvPr id="7" name="Rectangle 6"/>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8600" y="4823459"/>
            <a:ext cx="1828800" cy="274320"/>
          </a:xfrm>
          <a:prstGeom prst="rect">
            <a:avLst/>
          </a:prstGeom>
          <a:noFill/>
        </p:spPr>
        <p:txBody>
          <a:bodyPr wrap="none" anchor="ctr" lIns="0" rIns="0" tIns="0" bIns="0">
            <a:spAutoFit/>
          </a:bodyPr>
          <a:lstStyle/>
          <a:p>
            <a:fld id="{CE47763D-D802-4D5E-8B83-1E2B61243952}" type="slidenum">
              <a:rPr lang="ja-JP" smtClean="0" sz="1000">
                <a:solidFill>
                  <a:srgbClr val="888888"/>
                </a:solidFill>
              </a:rPr>
              <a:t>&lt;#&gt;</a:t>
            </a:fld>
            <a:r>
              <a:rPr lang="ja-JP" smtClean="0" sz="1000">
                <a:solidFill>
                  <a:srgbClr val="888888"/>
                </a:solidFill>
              </a:rPr>
              <a:t>/</a:t>
            </a:r>
            <a:fld id="{EA1286AE-E73B-4F67-A49D-27E5B91E32E0}" type="slidecount">
              <a:rPr lang="ja-JP" smtClean="0" sz="1000">
                <a:solidFill>
                  <a:srgbClr val="888888"/>
                </a:solidFill>
              </a:rPr>
              <a:t>11</a:t>
            </a:fld>
          </a:p>
        </p:txBody>
      </p:sp>
      <p:pic>
        <p:nvPicPr>
          <p:cNvPr id="9" name="Picture 8"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en-US" sz="2400" b="1" i="0" dirty="0">
                <a:solidFill>
                  <a:srgbClr val="FFFFFF"/>
                </a:solidFill>
                <a:latin typeface="Segoe UI"/>
              </a:rPr>
              <a:t>CLAUDE.md</a:t>
            </a:r>
            <a:r>
              <a:rPr lang="ja-JP" sz="2400" b="1" i="0" dirty="0">
                <a:solidFill>
                  <a:srgbClr val="FFFFFF"/>
                </a:solidFill>
                <a:ea typeface="Meiryo"/>
              </a:rPr>
              <a:t>はセッションのルールブックである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毎回の説明を、プロジェクト標準の振る舞いへ置き換える</a:t>
            </a:r>
          </a:p>
        </p:txBody>
      </p:sp>
      <p:sp>
        <p:nvSpPr>
          <p:cNvPr id="5" name="TextBox 4"/>
          <p:cNvSpPr txBox="1"/>
          <p:nvPr/>
        </p:nvSpPr>
        <p:spPr>
          <a:xfrm>
            <a:off x="393192" y="1033272"/>
            <a:ext cx="3913632" cy="3488435"/>
          </a:xfrm>
          <a:prstGeom prst="rect">
            <a:avLst/>
          </a:prstGeom>
          <a:noFill/>
          <a:effectLst/>
        </p:spPr>
        <p:txBody>
          <a:bodyPr wrap="square" lIns="0" rIns="0" tIns="0" bIns="0">
            <a:noAutofit/>
          </a:bodyPr>
          <a:lstStyle/>
          <a:p>
            <a:pPr>
              <a:spcBef>
                <a:spcPts val="0"/>
              </a:spcBef>
              <a:spcAft>
                <a:spcPts val="300"/>
              </a:spcAft>
              <a:buNone/>
              <a:lnSpc>
                <a:spcPts val="1679"/>
              </a:lnSpc>
            </a:pPr>
            <a:r>
              <a:rPr lang="ja-JP" sz="1200" b="1" i="0" dirty="0">
                <a:solidFill>
                  <a:srgbClr val="333333"/>
                </a:solidFill>
                <a:ea typeface="Meiryo"/>
              </a:rPr>
              <a:t>役割の中心</a:t>
            </a:r>
          </a:p>
          <a:p>
            <a:pPr>
              <a:spcBef>
                <a:spcPts val="0"/>
              </a:spcBef>
              <a:spcAft>
                <a:spcPts val="400"/>
              </a:spcAft>
              <a:buNone/>
              <a:lnSpc>
                <a:spcPts val="2160"/>
              </a:lnSpc>
            </a:pPr>
            <a:r>
              <a:rPr lang="en-US" sz="1200" b="0" i="0" dirty="0">
                <a:solidFill>
                  <a:srgbClr val="333333"/>
                </a:solidFill>
                <a:latin typeface="Segoe UI"/>
              </a:rPr>
              <a:t>CLAUDE.md</a:t>
            </a:r>
            <a:r>
              <a:rPr lang="ja-JP" sz="1200" b="0" i="0" dirty="0">
                <a:solidFill>
                  <a:srgbClr val="333333"/>
                </a:solidFill>
                <a:ea typeface="Meiryo"/>
              </a:rPr>
              <a:t>は、</a:t>
            </a:r>
            <a:r>
              <a:rPr lang="en-US" sz="1200" b="0" i="0" dirty="0">
                <a:solidFill>
                  <a:srgbClr val="333333"/>
                </a:solidFill>
                <a:latin typeface="Segoe UI"/>
              </a:rPr>
              <a:t>AI</a:t>
            </a:r>
            <a:r>
              <a:rPr lang="ja-JP" sz="1200" b="0" i="0" dirty="0">
                <a:solidFill>
                  <a:srgbClr val="333333"/>
                </a:solidFill>
                <a:ea typeface="Meiryo"/>
              </a:rPr>
              <a:t>に「この現場ではどう振る舞うか」を伝える</a:t>
            </a:r>
            <a:r>
              <a:rPr lang="ja-JP" sz="1200" b="1" i="0" dirty="0">
                <a:solidFill>
                  <a:srgbClr val="333333"/>
                </a:solidFill>
                <a:ea typeface="Meiryo"/>
              </a:rPr>
              <a:t>開始時の基準線</a:t>
            </a:r>
            <a:r>
              <a:rPr lang="ja-JP" sz="1200" b="0" i="0" dirty="0">
                <a:solidFill>
                  <a:srgbClr val="333333"/>
                </a:solidFill>
                <a:ea typeface="Meiryo"/>
              </a:rPr>
              <a:t>である。</a:t>
            </a:r>
          </a:p>
          <a:p>
            <a:pPr marL="228600" indent="-228600">
              <a:spcBef>
                <a:spcPts val="0"/>
              </a:spcBef>
              <a:spcAft>
                <a:spcPts val="400"/>
              </a:spcAft>
              <a:buNone/>
              <a:lnSpc>
                <a:spcPts val="2160"/>
              </a:lnSpc>
            </a:pPr>
            <a:r>
              <a:rPr lang="en-US" sz="1200" b="0" i="0" dirty="0">
                <a:solidFill>
                  <a:srgbClr val="333333"/>
                </a:solidFill>
                <a:latin typeface="Segoe UI"/>
              </a:rPr>
              <a:t>1. </a:t>
            </a:r>
            <a:r>
              <a:rPr lang="ja-JP" sz="1200" b="1" i="0" dirty="0">
                <a:solidFill>
                  <a:srgbClr val="333333"/>
                </a:solidFill>
                <a:ea typeface="Meiryo"/>
              </a:rPr>
              <a:t>ルール化</a:t>
            </a:r>
            <a:r>
              <a:rPr lang="en-US" sz="1200" b="1" i="0" dirty="0">
                <a:solidFill>
                  <a:srgbClr val="333333"/>
                </a:solidFill>
                <a:latin typeface="Segoe UI"/>
              </a:rPr>
              <a:t>:</a:t>
            </a:r>
            <a:r>
              <a:rPr lang="en-US" sz="1200" b="0" i="0" dirty="0">
                <a:solidFill>
                  <a:srgbClr val="333333"/>
                </a:solidFill>
                <a:latin typeface="Segoe UI"/>
              </a:rPr>
              <a:t> </a:t>
            </a:r>
            <a:r>
              <a:rPr lang="ja-JP" sz="1200" b="0" i="0" dirty="0">
                <a:solidFill>
                  <a:srgbClr val="333333"/>
                </a:solidFill>
                <a:ea typeface="Meiryo"/>
              </a:rPr>
              <a:t>単発指示ではなく、繰り返し守る前提を置く</a:t>
            </a:r>
          </a:p>
          <a:p>
            <a:pPr marL="228600" indent="-228600">
              <a:spcBef>
                <a:spcPts val="0"/>
              </a:spcBef>
              <a:spcAft>
                <a:spcPts val="400"/>
              </a:spcAft>
              <a:buNone/>
              <a:lnSpc>
                <a:spcPts val="2160"/>
              </a:lnSpc>
            </a:pPr>
            <a:r>
              <a:rPr lang="en-US" sz="1200" b="0" i="0" dirty="0">
                <a:solidFill>
                  <a:srgbClr val="333333"/>
                </a:solidFill>
                <a:latin typeface="Segoe UI"/>
              </a:rPr>
              <a:t>2. </a:t>
            </a:r>
            <a:r>
              <a:rPr lang="en-US" sz="1200" b="0" i="0" dirty="0">
                <a:solidFill>
                  <a:srgbClr val="333333"/>
                </a:solidFill>
                <a:latin typeface="Consolas"/>
              </a:rPr>
              <a:t>CLAUDE.md</a:t>
            </a:r>
            <a:r>
              <a:rPr lang="en-US" sz="1200" b="0" i="0" dirty="0">
                <a:solidFill>
                  <a:srgbClr val="333333"/>
                </a:solidFill>
                <a:latin typeface="Segoe UI"/>
              </a:rPr>
              <a:t> → </a:t>
            </a:r>
            <a:r>
              <a:rPr lang="ja-JP" sz="1200" b="0" i="0" dirty="0">
                <a:solidFill>
                  <a:srgbClr val="333333"/>
                </a:solidFill>
                <a:ea typeface="Meiryo"/>
              </a:rPr>
              <a:t>セッション開始時に読み込まれる</a:t>
            </a:r>
          </a:p>
          <a:p>
            <a:pPr marL="228600" indent="-228600">
              <a:spcBef>
                <a:spcPts val="0"/>
              </a:spcBef>
              <a:spcAft>
                <a:spcPts val="400"/>
              </a:spcAft>
              <a:buNone/>
              <a:lnSpc>
                <a:spcPts val="2160"/>
              </a:lnSpc>
            </a:pPr>
            <a:r>
              <a:rPr lang="en-US" sz="1200" b="0" i="0" dirty="0">
                <a:solidFill>
                  <a:srgbClr val="333333"/>
                </a:solidFill>
                <a:latin typeface="Segoe UI"/>
              </a:rPr>
              <a:t>3. </a:t>
            </a:r>
            <a:r>
              <a:rPr lang="ja-JP" sz="1200" b="0" i="0" dirty="0">
                <a:solidFill>
                  <a:srgbClr val="333333"/>
                </a:solidFill>
                <a:ea typeface="Meiryo"/>
              </a:rPr>
              <a:t>毎回の口頭説明を、</a:t>
            </a:r>
            <a:r>
              <a:rPr lang="ja-JP" sz="1200" b="0" i="0" dirty="0" strike="sngStrike">
                <a:solidFill>
                  <a:srgbClr val="333333"/>
                </a:solidFill>
                <a:ea typeface="Meiryo"/>
              </a:rPr>
              <a:t>その場限り</a:t>
            </a:r>
            <a:r>
              <a:rPr lang="en-US" sz="1200" b="0" i="0" dirty="0">
                <a:solidFill>
                  <a:srgbClr val="333333"/>
                </a:solidFill>
                <a:latin typeface="Segoe UI"/>
              </a:rPr>
              <a:t> </a:t>
            </a:r>
            <a:r>
              <a:rPr lang="ja-JP" sz="1200" b="0" i="0" dirty="0">
                <a:solidFill>
                  <a:srgbClr val="333333"/>
                </a:solidFill>
                <a:ea typeface="Meiryo"/>
              </a:rPr>
              <a:t>から</a:t>
            </a:r>
            <a:r>
              <a:rPr lang="en-US" sz="1200" b="0" i="0" dirty="0">
                <a:solidFill>
                  <a:srgbClr val="333333"/>
                </a:solidFill>
                <a:latin typeface="Segoe UI"/>
              </a:rPr>
              <a:t> </a:t>
            </a:r>
            <a:r>
              <a:rPr lang="ja-JP" sz="1200" b="1" i="0" dirty="0">
                <a:solidFill>
                  <a:srgbClr val="333333"/>
                </a:solidFill>
                <a:ea typeface="Meiryo"/>
              </a:rPr>
              <a:t>再利用可能な文脈</a:t>
            </a:r>
            <a:r>
              <a:rPr lang="ja-JP" sz="1200" b="0" i="0" dirty="0">
                <a:solidFill>
                  <a:srgbClr val="333333"/>
                </a:solidFill>
                <a:ea typeface="Meiryo"/>
              </a:rPr>
              <a:t>へ変える</a:t>
            </a:r>
          </a:p>
          <a:p>
            <a:pPr>
              <a:spcBef>
                <a:spcPts val="800"/>
              </a:spcBef>
              <a:spcAft>
                <a:spcPts val="300"/>
              </a:spcAft>
              <a:buNone/>
              <a:lnSpc>
                <a:spcPts val="1679"/>
              </a:lnSpc>
            </a:pPr>
            <a:r>
              <a:rPr lang="ja-JP" sz="1200" b="1" i="0" dirty="0">
                <a:solidFill>
                  <a:srgbClr val="333333"/>
                </a:solidFill>
                <a:ea typeface="Meiryo"/>
              </a:rPr>
              <a:t>判断の効果</a:t>
            </a:r>
          </a:p>
          <a:p>
            <a:pPr>
              <a:spcBef>
                <a:spcPts val="0"/>
              </a:spcBef>
              <a:spcAft>
                <a:spcPts val="400"/>
              </a:spcAft>
              <a:buNone/>
              <a:lnSpc>
                <a:spcPts val="2160"/>
              </a:lnSpc>
            </a:pPr>
            <a:r>
              <a:rPr lang="ja-JP" sz="1200" b="0" i="0" dirty="0">
                <a:solidFill>
                  <a:srgbClr val="333333"/>
                </a:solidFill>
                <a:ea typeface="Meiryo"/>
              </a:rPr>
              <a:t>曖昧な依頼でも、命名、禁止事項、確認手順がプロジェクトの流儀に寄る。</a:t>
            </a:r>
          </a:p>
        </p:txBody>
      </p:sp>
      <p:sp>
        <p:nvSpPr>
          <p:cNvPr id="6" name="TextBox 5"/>
          <p:cNvSpPr txBox="1"/>
          <p:nvPr/>
        </p:nvSpPr>
        <p:spPr>
          <a:xfrm>
            <a:off x="4608576" y="941832"/>
            <a:ext cx="4370832" cy="3671315"/>
          </a:xfrm>
          <a:prstGeom prst="rect">
            <a:avLst/>
          </a:prstGeom>
          <a:noFill/>
          <a:effectLst/>
        </p:spPr>
        <p:txBody>
          <a:bodyPr wrap="square" lIns="0" rIns="0" tIns="0" bIns="0" anchor="ctr">
            <a:noAutofit/>
          </a:bodyPr>
          <a:lstStyle/>
          <a:p>
            <a:pPr algn="ctr"/>
            <a:r>
              <a:rPr lang="en-US" sz="1200" b="0" i="0" dirty="0">
                <a:solidFill>
                  <a:srgbClr val="888888"/>
                </a:solidFill>
                <a:latin typeface="Segoe UI"/>
              </a:rPr>
              <a:t>CLAUDE.md</a:t>
            </a:r>
            <a:r>
              <a:rPr lang="ja-JP" sz="1200" b="0" i="0" dirty="0">
                <a:solidFill>
                  <a:srgbClr val="888888"/>
                </a:solidFill>
                <a:ea typeface="Meiryo"/>
              </a:rPr>
              <a:t>がプロジェクトのルールブックとして</a:t>
            </a:r>
            <a:r>
              <a:rPr lang="en-US" sz="1200" b="0" i="0" dirty="0">
                <a:solidFill>
                  <a:srgbClr val="888888"/>
                </a:solidFill>
                <a:latin typeface="Segoe UI"/>
              </a:rPr>
              <a:t>AI</a:t>
            </a:r>
            <a:r>
              <a:rPr lang="ja-JP" sz="1200" b="0" i="0" dirty="0">
                <a:solidFill>
                  <a:srgbClr val="888888"/>
                </a:solidFill>
                <a:ea typeface="Meiryo"/>
              </a:rPr>
              <a:t>の判断を整える様子を表すシンプルなイラスト。フラットデザイン、ミニマルアイコン風、ビジネス向け、白背景。</a:t>
            </a:r>
            <a:r>
              <a:rPr lang="en-US" sz="1200" b="0" i="0" dirty="0">
                <a:solidFill>
                  <a:srgbClr val="888888"/>
                </a:solidFill>
                <a:latin typeface="Segoe UI"/>
              </a:rPr>
              <a:t>6:5</a:t>
            </a:r>
            <a:r>
              <a:rPr lang="ja-JP" sz="1200" b="0" i="0" dirty="0">
                <a:solidFill>
                  <a:srgbClr val="888888"/>
                </a:solidFill>
                <a:ea typeface="Meiryo"/>
              </a:rPr>
              <a:t>の比率で、開いたドキュメント、チェックリスト、</a:t>
            </a:r>
            <a:r>
              <a:rPr lang="en-US" sz="1200" b="0" i="0" dirty="0">
                <a:solidFill>
                  <a:srgbClr val="888888"/>
                </a:solidFill>
                <a:latin typeface="Segoe UI"/>
              </a:rPr>
              <a:t>AI</a:t>
            </a:r>
            <a:r>
              <a:rPr lang="ja-JP" sz="1200" b="0" i="0" dirty="0">
                <a:solidFill>
                  <a:srgbClr val="888888"/>
                </a:solidFill>
                <a:ea typeface="Meiryo"/>
              </a:rPr>
              <a:t>アシスタント、プロジェクトフォルダを</a:t>
            </a:r>
            <a:r>
              <a:rPr lang="en-US" sz="1200" b="0" i="0" dirty="0">
                <a:solidFill>
                  <a:srgbClr val="888888"/>
                </a:solidFill>
                <a:latin typeface="Segoe UI"/>
              </a:rPr>
              <a:t>1</a:t>
            </a:r>
            <a:r>
              <a:rPr lang="ja-JP" sz="1200" b="0" i="0" dirty="0">
                <a:solidFill>
                  <a:srgbClr val="888888"/>
                </a:solidFill>
                <a:ea typeface="Meiryo"/>
              </a:rPr>
              <a:t>枚のビジュアルで表現する。文字なし。</a:t>
            </a:r>
          </a:p>
        </p:txBody>
      </p:sp>
      <p:sp>
        <p:nvSpPr>
          <p:cNvPr id="7" name="Rectangle 6"/>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8600" y="4823459"/>
            <a:ext cx="1828800" cy="274320"/>
          </a:xfrm>
          <a:prstGeom prst="rect">
            <a:avLst/>
          </a:prstGeom>
          <a:noFill/>
        </p:spPr>
        <p:txBody>
          <a:bodyPr wrap="none" anchor="ctr" lIns="0" rIns="0" tIns="0" bIns="0">
            <a:spAutoFit/>
          </a:bodyPr>
          <a:lstStyle/>
          <a:p>
            <a:fld id="{FB318067-F0F3-45C7-929F-D380B66D17D5}" type="slidenum">
              <a:rPr lang="ja-JP" smtClean="0" sz="1000">
                <a:solidFill>
                  <a:srgbClr val="888888"/>
                </a:solidFill>
              </a:rPr>
              <a:t>&lt;#&gt;</a:t>
            </a:fld>
            <a:r>
              <a:rPr lang="ja-JP" smtClean="0" sz="1000">
                <a:solidFill>
                  <a:srgbClr val="888888"/>
                </a:solidFill>
              </a:rPr>
              <a:t>/</a:t>
            </a:r>
            <a:fld id="{38568161-31A7-4686-A82B-31FE8A167110}" type="slidecount">
              <a:rPr lang="ja-JP" smtClean="0" sz="1000">
                <a:solidFill>
                  <a:srgbClr val="888888"/>
                </a:solidFill>
              </a:rPr>
              <a:t>11</a:t>
            </a:fld>
          </a:p>
        </p:txBody>
      </p:sp>
      <p:pic>
        <p:nvPicPr>
          <p:cNvPr id="9" name="Picture 8"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en-US" sz="2400" b="1" i="0" dirty="0">
                <a:solidFill>
                  <a:srgbClr val="FFFFFF"/>
                </a:solidFill>
                <a:latin typeface="Segoe UI"/>
              </a:rPr>
              <a:t>CLAUDE.md</a:t>
            </a:r>
            <a:r>
              <a:rPr lang="ja-JP" sz="2400" b="1" i="0" dirty="0">
                <a:solidFill>
                  <a:srgbClr val="FFFFFF"/>
                </a:solidFill>
                <a:ea typeface="Meiryo"/>
              </a:rPr>
              <a:t>と</a:t>
            </a:r>
            <a:r>
              <a:rPr lang="en-US" sz="2400" b="1" i="0" dirty="0">
                <a:solidFill>
                  <a:srgbClr val="FFFFFF"/>
                </a:solidFill>
                <a:latin typeface="Segoe UI"/>
              </a:rPr>
              <a:t>MEMORY.md</a:t>
            </a:r>
            <a:r>
              <a:rPr lang="ja-JP" sz="2400" b="1" i="0" dirty="0">
                <a:solidFill>
                  <a:srgbClr val="FFFFFF"/>
                </a:solidFill>
                <a:ea typeface="Meiryo"/>
              </a:rPr>
              <a:t>は役割が異なる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強制ルールと学習メモを混ぜないことが安定性を生む</a:t>
            </a:r>
          </a:p>
        </p:txBody>
      </p:sp>
      <p:sp>
        <p:nvSpPr>
          <p:cNvPr id="5" name="Rectangle 4"/>
          <p:cNvSpPr/>
          <p:nvPr/>
        </p:nvSpPr>
        <p:spPr>
          <a:xfrm>
            <a:off x="3027970" y="941832"/>
            <a:ext cx="2808514" cy="876680"/>
          </a:xfrm>
          <a:prstGeom prst="rect">
            <a:avLst/>
          </a:prstGeom>
          <a:solidFill>
            <a:srgbClr val="6B7A99"/>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en-US" sz="1200" b="1" i="0" dirty="0">
                <a:solidFill>
                  <a:srgbClr val="FFFFFF"/>
                </a:solidFill>
                <a:latin typeface="Segoe UI"/>
              </a:rPr>
              <a:t>CLAUDE.md</a:t>
            </a:r>
          </a:p>
        </p:txBody>
      </p:sp>
      <p:sp>
        <p:nvSpPr>
          <p:cNvPr id="6" name="Rectangle 5"/>
          <p:cNvSpPr/>
          <p:nvPr/>
        </p:nvSpPr>
        <p:spPr>
          <a:xfrm>
            <a:off x="6170893" y="941832"/>
            <a:ext cx="2808514" cy="876680"/>
          </a:xfrm>
          <a:prstGeom prst="rect">
            <a:avLst/>
          </a:prstGeom>
          <a:solidFill>
            <a:srgbClr val="6B7A99"/>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en-US" sz="1200" b="1" i="0" dirty="0">
                <a:solidFill>
                  <a:srgbClr val="FFFFFF"/>
                </a:solidFill>
                <a:latin typeface="Segoe UI"/>
              </a:rPr>
              <a:t>MEMORY.md / Auto memory</a:t>
            </a:r>
          </a:p>
        </p:txBody>
      </p:sp>
      <p:sp>
        <p:nvSpPr>
          <p:cNvPr id="7" name="Rectangle 6"/>
          <p:cNvSpPr/>
          <p:nvPr/>
        </p:nvSpPr>
        <p:spPr>
          <a:xfrm>
            <a:off x="164592" y="1873377"/>
            <a:ext cx="2808514" cy="876680"/>
          </a:xfrm>
          <a:prstGeom prst="rect">
            <a:avLst/>
          </a:prstGeom>
          <a:solidFill>
            <a:srgbClr val="E8ED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1" i="0" dirty="0">
                <a:solidFill>
                  <a:srgbClr val="333333"/>
                </a:solidFill>
                <a:ea typeface="Meiryo"/>
              </a:rPr>
              <a:t>作成者</a:t>
            </a:r>
          </a:p>
        </p:txBody>
      </p:sp>
      <p:sp>
        <p:nvSpPr>
          <p:cNvPr id="8" name="Rectangle 7"/>
          <p:cNvSpPr/>
          <p:nvPr/>
        </p:nvSpPr>
        <p:spPr>
          <a:xfrm>
            <a:off x="3027970" y="1873377"/>
            <a:ext cx="2808514" cy="876680"/>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0" i="0" dirty="0">
                <a:solidFill>
                  <a:srgbClr val="333333"/>
                </a:solidFill>
                <a:ea typeface="Meiryo"/>
              </a:rPr>
              <a:t>ユーザーが明示的に記述する</a:t>
            </a:r>
          </a:p>
        </p:txBody>
      </p:sp>
      <p:sp>
        <p:nvSpPr>
          <p:cNvPr id="9" name="Rectangle 8"/>
          <p:cNvSpPr/>
          <p:nvPr/>
        </p:nvSpPr>
        <p:spPr>
          <a:xfrm>
            <a:off x="6170893" y="1873377"/>
            <a:ext cx="2808514" cy="876680"/>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en-US" sz="1200" b="0" i="0" dirty="0">
                <a:solidFill>
                  <a:srgbClr val="333333"/>
                </a:solidFill>
                <a:latin typeface="Segoe UI"/>
              </a:rPr>
              <a:t>Claude</a:t>
            </a:r>
            <a:r>
              <a:rPr lang="ja-JP" sz="1200" b="0" i="0" dirty="0">
                <a:solidFill>
                  <a:srgbClr val="333333"/>
                </a:solidFill>
                <a:ea typeface="Meiryo"/>
              </a:rPr>
              <a:t>が作業から自動学習する</a:t>
            </a:r>
          </a:p>
        </p:txBody>
      </p:sp>
      <p:sp>
        <p:nvSpPr>
          <p:cNvPr id="10" name="Rectangle 9"/>
          <p:cNvSpPr/>
          <p:nvPr/>
        </p:nvSpPr>
        <p:spPr>
          <a:xfrm>
            <a:off x="164592" y="2804922"/>
            <a:ext cx="2808514" cy="876680"/>
          </a:xfrm>
          <a:prstGeom prst="rect">
            <a:avLst/>
          </a:prstGeom>
          <a:solidFill>
            <a:srgbClr val="E8ED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1" i="0" dirty="0">
                <a:solidFill>
                  <a:srgbClr val="333333"/>
                </a:solidFill>
                <a:ea typeface="Meiryo"/>
              </a:rPr>
              <a:t>内容</a:t>
            </a:r>
          </a:p>
        </p:txBody>
      </p:sp>
      <p:sp>
        <p:nvSpPr>
          <p:cNvPr id="11" name="Rectangle 10"/>
          <p:cNvSpPr/>
          <p:nvPr/>
        </p:nvSpPr>
        <p:spPr>
          <a:xfrm>
            <a:off x="3027970" y="2804922"/>
            <a:ext cx="2808514" cy="876680"/>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0" i="0" dirty="0">
                <a:solidFill>
                  <a:srgbClr val="333333"/>
                </a:solidFill>
                <a:ea typeface="Meiryo"/>
              </a:rPr>
              <a:t>普遍的なルール、前提、手順</a:t>
            </a:r>
          </a:p>
        </p:txBody>
      </p:sp>
      <p:sp>
        <p:nvSpPr>
          <p:cNvPr id="12" name="Rectangle 11"/>
          <p:cNvSpPr/>
          <p:nvPr/>
        </p:nvSpPr>
        <p:spPr>
          <a:xfrm>
            <a:off x="6170893" y="2804922"/>
            <a:ext cx="2808514" cy="876680"/>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0" i="0" dirty="0">
                <a:solidFill>
                  <a:srgbClr val="333333"/>
                </a:solidFill>
                <a:ea typeface="Meiryo"/>
              </a:rPr>
              <a:t>癖、好み、最近の対処パターン</a:t>
            </a:r>
          </a:p>
        </p:txBody>
      </p:sp>
      <p:sp>
        <p:nvSpPr>
          <p:cNvPr id="13" name="Rectangle 12"/>
          <p:cNvSpPr/>
          <p:nvPr/>
        </p:nvSpPr>
        <p:spPr>
          <a:xfrm>
            <a:off x="164592" y="3736466"/>
            <a:ext cx="2808514" cy="876680"/>
          </a:xfrm>
          <a:prstGeom prst="rect">
            <a:avLst/>
          </a:prstGeom>
          <a:solidFill>
            <a:srgbClr val="E8ED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1" i="0" dirty="0">
                <a:solidFill>
                  <a:srgbClr val="333333"/>
                </a:solidFill>
                <a:ea typeface="Meiryo"/>
              </a:rPr>
              <a:t>用途</a:t>
            </a:r>
          </a:p>
        </p:txBody>
      </p:sp>
      <p:sp>
        <p:nvSpPr>
          <p:cNvPr id="14" name="Rectangle 13"/>
          <p:cNvSpPr/>
          <p:nvPr/>
        </p:nvSpPr>
        <p:spPr>
          <a:xfrm>
            <a:off x="3027970" y="3736466"/>
            <a:ext cx="2808514" cy="876680"/>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0" i="0" dirty="0">
                <a:solidFill>
                  <a:srgbClr val="333333"/>
                </a:solidFill>
                <a:ea typeface="Meiryo"/>
              </a:rPr>
              <a:t>「必ずこう振る舞う」を固定する</a:t>
            </a:r>
          </a:p>
        </p:txBody>
      </p:sp>
      <p:sp>
        <p:nvSpPr>
          <p:cNvPr id="15" name="Rectangle 14"/>
          <p:cNvSpPr/>
          <p:nvPr/>
        </p:nvSpPr>
        <p:spPr>
          <a:xfrm>
            <a:off x="6170893" y="3736466"/>
            <a:ext cx="2808514" cy="876680"/>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0" i="0" dirty="0">
                <a:solidFill>
                  <a:srgbClr val="333333"/>
                </a:solidFill>
                <a:ea typeface="Meiryo"/>
              </a:rPr>
              <a:t>「いつもこうしている」を補助する</a:t>
            </a:r>
          </a:p>
        </p:txBody>
      </p:sp>
      <p:sp>
        <p:nvSpPr>
          <p:cNvPr id="16" name="CmpArrow16"/>
          <p:cNvSpPr/>
          <p:nvPr/>
        </p:nvSpPr>
        <p:spPr>
          <a:xfrm>
            <a:off x="5891348" y="1873377"/>
            <a:ext cx="224681" cy="2739771"/>
          </a:xfrm>
          <a:custGeom>
            <a:avLst/>
            <a:gdLst/>
            <a:ahLst/>
            <a:cxnLst/>
            <a:rect l="0" t="0" r="r" b="b"/>
            <a:pathLst>
              <a:path w="100000" h="100000">
                <a:moveTo>
                  <a:pt x="0" y="50000"/>
                </a:moveTo>
                <a:lnTo>
                  <a:pt x="35000" y="20000"/>
                </a:lnTo>
                <a:lnTo>
                  <a:pt x="35000" y="40000"/>
                </a:lnTo>
                <a:lnTo>
                  <a:pt x="65000" y="40000"/>
                </a:lnTo>
                <a:lnTo>
                  <a:pt x="65000" y="20000"/>
                </a:lnTo>
                <a:lnTo>
                  <a:pt x="100000" y="50000"/>
                </a:lnTo>
                <a:lnTo>
                  <a:pt x="65000" y="80000"/>
                </a:lnTo>
                <a:lnTo>
                  <a:pt x="65000" y="60000"/>
                </a:lnTo>
                <a:lnTo>
                  <a:pt x="35000" y="60000"/>
                </a:lnTo>
                <a:lnTo>
                  <a:pt x="35000" y="80000"/>
                </a:lnTo>
                <a:close/>
              </a:path>
            </a:pathLst>
          </a:custGeom>
          <a:solidFill>
            <a:srgbClr val="CCCCCC"/>
          </a:solidFill>
          <a:ln w="9525">
            <a:solidFill>
              <a:srgbClr val="CCCCCC"/>
            </a:solidFill>
          </a:ln>
          <a:effectLst/>
        </p:spPr>
        <p:txBody>
          <a:bodyPr/>
          <a:lstStyle/>
          <a:p/>
        </p:txBody>
      </p:sp>
      <p:sp>
        <p:nvSpPr>
          <p:cNvPr id="17" name="Rectangle 16"/>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8600" y="4823459"/>
            <a:ext cx="1828800" cy="274320"/>
          </a:xfrm>
          <a:prstGeom prst="rect">
            <a:avLst/>
          </a:prstGeom>
          <a:noFill/>
        </p:spPr>
        <p:txBody>
          <a:bodyPr wrap="none" anchor="ctr" lIns="0" rIns="0" tIns="0" bIns="0">
            <a:spAutoFit/>
          </a:bodyPr>
          <a:lstStyle/>
          <a:p>
            <a:fld id="{5E980310-7203-45B8-9AC3-56F629D310CA}" type="slidenum">
              <a:rPr lang="ja-JP" smtClean="0" sz="1000">
                <a:solidFill>
                  <a:srgbClr val="888888"/>
                </a:solidFill>
              </a:rPr>
              <a:t>&lt;#&gt;</a:t>
            </a:fld>
            <a:r>
              <a:rPr lang="ja-JP" smtClean="0" sz="1000">
                <a:solidFill>
                  <a:srgbClr val="888888"/>
                </a:solidFill>
              </a:rPr>
              <a:t>/</a:t>
            </a:r>
            <a:fld id="{7BDCF6B2-6209-4D31-90CE-2B400C95AB1F}" type="slidecount">
              <a:rPr lang="ja-JP" smtClean="0" sz="1000">
                <a:solidFill>
                  <a:srgbClr val="888888"/>
                </a:solidFill>
              </a:rPr>
              <a:t>11</a:t>
            </a:fld>
          </a:p>
        </p:txBody>
      </p:sp>
      <p:pic>
        <p:nvPicPr>
          <p:cNvPr id="19" name="Picture 18"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重要ルールは少なく、具体的に書く</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en-US" sz="1200" b="0" i="0" dirty="0">
                <a:solidFill>
                  <a:srgbClr val="FFFFFF"/>
                </a:solidFill>
                <a:latin typeface="Segoe UI"/>
              </a:rPr>
              <a:t>60</a:t>
            </a:r>
            <a:r>
              <a:rPr lang="ja-JP" sz="1200" b="0" i="0" dirty="0">
                <a:solidFill>
                  <a:srgbClr val="FFFFFF"/>
                </a:solidFill>
                <a:ea typeface="Meiryo"/>
              </a:rPr>
              <a:t>〜</a:t>
            </a:r>
            <a:r>
              <a:rPr lang="en-US" sz="1200" b="0" i="0" dirty="0">
                <a:solidFill>
                  <a:srgbClr val="FFFFFF"/>
                </a:solidFill>
                <a:latin typeface="Segoe UI"/>
              </a:rPr>
              <a:t>300</a:t>
            </a:r>
            <a:r>
              <a:rPr lang="ja-JP" sz="1200" b="0" i="0" dirty="0">
                <a:solidFill>
                  <a:srgbClr val="FFFFFF"/>
                </a:solidFill>
                <a:ea typeface="Meiryo"/>
              </a:rPr>
              <a:t>行に絞り、守れる密度にする</a:t>
            </a:r>
          </a:p>
        </p:txBody>
      </p:sp>
      <p:sp>
        <p:nvSpPr>
          <p:cNvPr id="5" name="Rectangle 4"/>
          <p:cNvSpPr/>
          <p:nvPr/>
        </p:nvSpPr>
        <p:spPr>
          <a:xfrm>
            <a:off x="164592" y="941832"/>
            <a:ext cx="8814816" cy="844677"/>
          </a:xfrm>
          <a:prstGeom prst="rect">
            <a:avLst/>
          </a:prstGeom>
          <a:solidFill>
            <a:srgbClr val="E8EDF2"/>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1751" y="1051560"/>
            <a:ext cx="8540496" cy="625221"/>
          </a:xfrm>
          <a:prstGeom prst="rect">
            <a:avLst/>
          </a:prstGeom>
          <a:noFill/>
          <a:effectLst/>
        </p:spPr>
        <p:txBody>
          <a:bodyPr wrap="square" lIns="0" rIns="0" tIns="0" bIns="0">
            <a:noAutofit/>
          </a:bodyPr>
          <a:lstStyle/>
          <a:p>
            <a:pPr>
              <a:spcBef>
                <a:spcPts val="0"/>
              </a:spcBef>
              <a:spcAft>
                <a:spcPts val="400"/>
              </a:spcAft>
              <a:buNone/>
              <a:lnSpc>
                <a:spcPts val="2160"/>
              </a:lnSpc>
            </a:pPr>
            <a:r>
              <a:rPr lang="en-US" sz="1200" b="0" i="0" dirty="0">
                <a:solidFill>
                  <a:srgbClr val="333333"/>
                </a:solidFill>
                <a:latin typeface="Segoe UI"/>
              </a:rPr>
              <a:t>CLAUDE.md</a:t>
            </a:r>
            <a:r>
              <a:rPr lang="ja-JP" sz="1200" b="0" i="0" dirty="0">
                <a:solidFill>
                  <a:srgbClr val="333333"/>
                </a:solidFill>
                <a:ea typeface="Meiryo"/>
              </a:rPr>
              <a:t>の品質は、情報量の多さではなく</a:t>
            </a:r>
            <a:r>
              <a:rPr lang="ja-JP" sz="1200" b="1" i="0" dirty="0">
                <a:solidFill>
                  <a:srgbClr val="333333"/>
                </a:solidFill>
                <a:ea typeface="Meiryo"/>
              </a:rPr>
              <a:t>遵守される密度</a:t>
            </a:r>
            <a:r>
              <a:rPr lang="ja-JP" sz="1200" b="0" i="0" dirty="0">
                <a:solidFill>
                  <a:srgbClr val="333333"/>
                </a:solidFill>
                <a:ea typeface="Meiryo"/>
              </a:rPr>
              <a:t>で決まる。</a:t>
            </a:r>
          </a:p>
        </p:txBody>
      </p:sp>
      <p:sp>
        <p:nvSpPr>
          <p:cNvPr id="7" name="Rectangle 6"/>
          <p:cNvSpPr/>
          <p:nvPr/>
        </p:nvSpPr>
        <p:spPr>
          <a:xfrm>
            <a:off x="164592" y="1859661"/>
            <a:ext cx="2889504" cy="2753486"/>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1" y="1969389"/>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厳選</a:t>
            </a:r>
          </a:p>
        </p:txBody>
      </p:sp>
      <p:sp>
        <p:nvSpPr>
          <p:cNvPr id="9" name="Rectangle 8"/>
          <p:cNvSpPr/>
          <p:nvPr/>
        </p:nvSpPr>
        <p:spPr>
          <a:xfrm>
            <a:off x="301751" y="2225421"/>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1751" y="2298573"/>
            <a:ext cx="2615184" cy="2204847"/>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常に守るルールだけを残す。</a:t>
            </a:r>
          </a:p>
          <a:p>
            <a:pPr marL="228600" indent="-228600">
              <a:spcBef>
                <a:spcPts val="0"/>
              </a:spcBef>
              <a:spcAft>
                <a:spcPts val="400"/>
              </a:spcAft>
              <a:buChar char="•"/>
              <a:lnSpc>
                <a:spcPts val="1980"/>
              </a:lnSpc>
            </a:pPr>
            <a:r>
              <a:rPr lang="ja-JP" sz="1100" b="0" i="0" dirty="0">
                <a:solidFill>
                  <a:srgbClr val="333333"/>
                </a:solidFill>
                <a:ea typeface="Meiryo"/>
              </a:rPr>
              <a:t>単発の依頼は会話で処理する</a:t>
            </a:r>
          </a:p>
          <a:p>
            <a:pPr marL="228600" indent="-228600">
              <a:spcBef>
                <a:spcPts val="0"/>
              </a:spcBef>
              <a:spcAft>
                <a:spcPts val="400"/>
              </a:spcAft>
              <a:buChar char="•"/>
              <a:lnSpc>
                <a:spcPts val="1980"/>
              </a:lnSpc>
            </a:pPr>
            <a:r>
              <a:rPr lang="ja-JP" sz="1100" b="0" i="0" dirty="0">
                <a:solidFill>
                  <a:srgbClr val="333333"/>
                </a:solidFill>
                <a:ea typeface="Meiryo"/>
              </a:rPr>
              <a:t>重複や古い技術前提は削る</a:t>
            </a:r>
          </a:p>
          <a:p>
            <a:pPr marL="228600" indent="-228600">
              <a:spcBef>
                <a:spcPts val="0"/>
              </a:spcBef>
              <a:spcAft>
                <a:spcPts val="400"/>
              </a:spcAft>
              <a:buChar char="•"/>
              <a:lnSpc>
                <a:spcPts val="1980"/>
              </a:lnSpc>
            </a:pPr>
            <a:r>
              <a:rPr lang="ja-JP" sz="1100" b="0" i="0" dirty="0">
                <a:solidFill>
                  <a:srgbClr val="333333"/>
                </a:solidFill>
                <a:ea typeface="Meiryo"/>
              </a:rPr>
              <a:t>重要度の低い好みは</a:t>
            </a:r>
            <a:r>
              <a:rPr lang="en-US" sz="1100" b="0" i="0" dirty="0">
                <a:solidFill>
                  <a:srgbClr val="333333"/>
                </a:solidFill>
                <a:latin typeface="Segoe UI"/>
              </a:rPr>
              <a:t>MEMORY</a:t>
            </a:r>
            <a:r>
              <a:rPr lang="ja-JP" sz="1100" b="0" i="0" dirty="0">
                <a:solidFill>
                  <a:srgbClr val="333333"/>
                </a:solidFill>
                <a:ea typeface="Meiryo"/>
              </a:rPr>
              <a:t>側へ逃がす</a:t>
            </a:r>
          </a:p>
        </p:txBody>
      </p:sp>
      <p:sp>
        <p:nvSpPr>
          <p:cNvPr id="11" name="Rectangle 10"/>
          <p:cNvSpPr/>
          <p:nvPr/>
        </p:nvSpPr>
        <p:spPr>
          <a:xfrm>
            <a:off x="3127248" y="1859661"/>
            <a:ext cx="2889504" cy="2753486"/>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64408" y="1969389"/>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具体性</a:t>
            </a:r>
          </a:p>
        </p:txBody>
      </p:sp>
      <p:sp>
        <p:nvSpPr>
          <p:cNvPr id="13" name="Rectangle 12"/>
          <p:cNvSpPr/>
          <p:nvPr/>
        </p:nvSpPr>
        <p:spPr>
          <a:xfrm>
            <a:off x="3264408" y="2225421"/>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4408" y="2298573"/>
            <a:ext cx="2615184" cy="2204847"/>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抽象語ではなく行動を書く。</a:t>
            </a:r>
          </a:p>
          <a:p>
            <a:pPr marL="228600" indent="-228600">
              <a:spcBef>
                <a:spcPts val="0"/>
              </a:spcBef>
              <a:spcAft>
                <a:spcPts val="400"/>
              </a:spcAft>
              <a:buChar char="•"/>
              <a:lnSpc>
                <a:spcPts val="1980"/>
              </a:lnSpc>
            </a:pPr>
            <a:r>
              <a:rPr lang="ja-JP" sz="1100" b="0" i="0" dirty="0">
                <a:solidFill>
                  <a:srgbClr val="333333"/>
                </a:solidFill>
                <a:ea typeface="Meiryo"/>
              </a:rPr>
              <a:t>「しっかりテスト」では弱い</a:t>
            </a:r>
          </a:p>
          <a:p>
            <a:pPr marL="228600" indent="-228600">
              <a:spcBef>
                <a:spcPts val="0"/>
              </a:spcBef>
              <a:spcAft>
                <a:spcPts val="400"/>
              </a:spcAft>
              <a:buChar char="•"/>
              <a:lnSpc>
                <a:spcPts val="1980"/>
              </a:lnSpc>
            </a:pPr>
            <a:r>
              <a:rPr lang="en-US" sz="1100" b="0" i="0" dirty="0">
                <a:solidFill>
                  <a:srgbClr val="333333"/>
                </a:solidFill>
                <a:latin typeface="Consolas"/>
              </a:rPr>
              <a:t>pnpm test</a:t>
            </a:r>
            <a:r>
              <a:rPr lang="en-US" sz="1100" b="0" i="0" dirty="0">
                <a:solidFill>
                  <a:srgbClr val="333333"/>
                </a:solidFill>
                <a:latin typeface="Segoe UI"/>
              </a:rPr>
              <a:t> </a:t>
            </a:r>
            <a:r>
              <a:rPr lang="ja-JP" sz="1100" b="0" i="0" dirty="0">
                <a:solidFill>
                  <a:srgbClr val="333333"/>
                </a:solidFill>
                <a:ea typeface="Meiryo"/>
              </a:rPr>
              <a:t>のように実行可能にする</a:t>
            </a:r>
          </a:p>
          <a:p>
            <a:pPr marL="228600" indent="-228600">
              <a:spcBef>
                <a:spcPts val="0"/>
              </a:spcBef>
              <a:spcAft>
                <a:spcPts val="400"/>
              </a:spcAft>
              <a:buChar char="•"/>
              <a:lnSpc>
                <a:spcPts val="1980"/>
              </a:lnSpc>
            </a:pPr>
            <a:r>
              <a:rPr lang="en-US" sz="1100" b="0" i="0" dirty="0">
                <a:solidFill>
                  <a:srgbClr val="333333"/>
                </a:solidFill>
                <a:latin typeface="Segoe UI"/>
              </a:rPr>
              <a:t>1</a:t>
            </a:r>
            <a:r>
              <a:rPr lang="ja-JP" sz="1100" b="0" i="0" dirty="0">
                <a:solidFill>
                  <a:srgbClr val="333333"/>
                </a:solidFill>
                <a:ea typeface="Meiryo"/>
              </a:rPr>
              <a:t>ルール</a:t>
            </a:r>
            <a:r>
              <a:rPr lang="en-US" sz="1100" b="0" i="0" dirty="0">
                <a:solidFill>
                  <a:srgbClr val="333333"/>
                </a:solidFill>
                <a:latin typeface="Segoe UI"/>
              </a:rPr>
              <a:t>1</a:t>
            </a:r>
            <a:r>
              <a:rPr lang="ja-JP" sz="1100" b="0" i="0" dirty="0">
                <a:solidFill>
                  <a:srgbClr val="333333"/>
                </a:solidFill>
                <a:ea typeface="Meiryo"/>
              </a:rPr>
              <a:t>文で読み切れる粒度にする</a:t>
            </a:r>
          </a:p>
        </p:txBody>
      </p:sp>
      <p:sp>
        <p:nvSpPr>
          <p:cNvPr id="15" name="Rectangle 14"/>
          <p:cNvSpPr/>
          <p:nvPr/>
        </p:nvSpPr>
        <p:spPr>
          <a:xfrm>
            <a:off x="6089904" y="1859661"/>
            <a:ext cx="2889504" cy="2753486"/>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27064" y="1969389"/>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宣言調</a:t>
            </a:r>
          </a:p>
        </p:txBody>
      </p:sp>
      <p:sp>
        <p:nvSpPr>
          <p:cNvPr id="17" name="Rectangle 16"/>
          <p:cNvSpPr/>
          <p:nvPr/>
        </p:nvSpPr>
        <p:spPr>
          <a:xfrm>
            <a:off x="6227064" y="2225421"/>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27064" y="2298573"/>
            <a:ext cx="2615184" cy="2204847"/>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お願いではなく基準として書く。</a:t>
            </a:r>
          </a:p>
          <a:p>
            <a:pPr marL="228600" indent="-228600">
              <a:spcBef>
                <a:spcPts val="0"/>
              </a:spcBef>
              <a:spcAft>
                <a:spcPts val="400"/>
              </a:spcAft>
              <a:buChar char="•"/>
              <a:lnSpc>
                <a:spcPts val="1980"/>
              </a:lnSpc>
            </a:pPr>
            <a:r>
              <a:rPr lang="ja-JP" sz="1100" b="0" i="0" dirty="0">
                <a:solidFill>
                  <a:srgbClr val="333333"/>
                </a:solidFill>
                <a:ea typeface="Meiryo"/>
              </a:rPr>
              <a:t>「してください」ではなく「する」</a:t>
            </a:r>
          </a:p>
          <a:p>
            <a:pPr marL="228600" indent="-228600">
              <a:spcBef>
                <a:spcPts val="0"/>
              </a:spcBef>
              <a:spcAft>
                <a:spcPts val="400"/>
              </a:spcAft>
              <a:buChar char="•"/>
              <a:lnSpc>
                <a:spcPts val="1980"/>
              </a:lnSpc>
            </a:pPr>
            <a:r>
              <a:rPr lang="ja-JP" sz="1100" b="0" i="0" dirty="0">
                <a:solidFill>
                  <a:srgbClr val="333333"/>
                </a:solidFill>
                <a:ea typeface="Meiryo"/>
              </a:rPr>
              <a:t>禁止事項は条件と理由を添える</a:t>
            </a:r>
          </a:p>
          <a:p>
            <a:pPr marL="228600" indent="-228600">
              <a:spcBef>
                <a:spcPts val="0"/>
              </a:spcBef>
              <a:spcAft>
                <a:spcPts val="400"/>
              </a:spcAft>
              <a:buChar char="•"/>
              <a:lnSpc>
                <a:spcPts val="1980"/>
              </a:lnSpc>
            </a:pPr>
            <a:r>
              <a:rPr lang="en-US" sz="1100" b="0" i="0" dirty="0">
                <a:solidFill>
                  <a:srgbClr val="333333"/>
                </a:solidFill>
                <a:latin typeface="Segoe UI"/>
              </a:rPr>
              <a:t>AI</a:t>
            </a:r>
            <a:r>
              <a:rPr lang="ja-JP" sz="1100" b="0" i="0" dirty="0">
                <a:solidFill>
                  <a:srgbClr val="333333"/>
                </a:solidFill>
                <a:ea typeface="Meiryo"/>
              </a:rPr>
              <a:t>が迷う余地を減らす文にする</a:t>
            </a:r>
          </a:p>
        </p:txBody>
      </p:sp>
      <p:sp>
        <p:nvSpPr>
          <p:cNvPr id="19" name="Rectangle 18"/>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8600" y="4823459"/>
            <a:ext cx="1828800" cy="274320"/>
          </a:xfrm>
          <a:prstGeom prst="rect">
            <a:avLst/>
          </a:prstGeom>
          <a:noFill/>
        </p:spPr>
        <p:txBody>
          <a:bodyPr wrap="none" anchor="ctr" lIns="0" rIns="0" tIns="0" bIns="0">
            <a:spAutoFit/>
          </a:bodyPr>
          <a:lstStyle/>
          <a:p>
            <a:fld id="{F5A40927-7610-4CAA-99F0-9F285B2D87D8}" type="slidenum">
              <a:rPr lang="ja-JP" smtClean="0" sz="1000">
                <a:solidFill>
                  <a:srgbClr val="888888"/>
                </a:solidFill>
              </a:rPr>
              <a:t>&lt;#&gt;</a:t>
            </a:fld>
            <a:r>
              <a:rPr lang="ja-JP" smtClean="0" sz="1000">
                <a:solidFill>
                  <a:srgbClr val="888888"/>
                </a:solidFill>
              </a:rPr>
              <a:t>/</a:t>
            </a:r>
            <a:fld id="{C19A72DC-A6FD-41F2-BE21-7D5DE764EACE}" type="slidecount">
              <a:rPr lang="ja-JP" smtClean="0" sz="1000">
                <a:solidFill>
                  <a:srgbClr val="888888"/>
                </a:solidFill>
              </a:rPr>
              <a:t>11</a:t>
            </a:fld>
          </a:p>
        </p:txBody>
      </p:sp>
      <p:pic>
        <p:nvPicPr>
          <p:cNvPr id="21" name="Picture 20"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推奨章立ては</a:t>
            </a:r>
            <a:r>
              <a:rPr lang="en-US" sz="2400" b="1" i="0" dirty="0">
                <a:solidFill>
                  <a:srgbClr val="FFFFFF"/>
                </a:solidFill>
                <a:latin typeface="Segoe UI"/>
              </a:rPr>
              <a:t>AI</a:t>
            </a:r>
            <a:r>
              <a:rPr lang="ja-JP" sz="2400" b="1" i="0" dirty="0">
                <a:solidFill>
                  <a:srgbClr val="FFFFFF"/>
                </a:solidFill>
                <a:ea typeface="Meiryo"/>
              </a:rPr>
              <a:t>の迷いを減らす</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en-US" sz="1200" b="0" i="0" dirty="0">
                <a:solidFill>
                  <a:srgbClr val="FFFFFF"/>
                </a:solidFill>
                <a:latin typeface="Segoe UI"/>
              </a:rPr>
              <a:t>What</a:t>
            </a:r>
            <a:r>
              <a:rPr lang="ja-JP" sz="1200" b="0" i="0" dirty="0">
                <a:solidFill>
                  <a:srgbClr val="FFFFFF"/>
                </a:solidFill>
                <a:ea typeface="Meiryo"/>
              </a:rPr>
              <a:t>、</a:t>
            </a:r>
            <a:r>
              <a:rPr lang="en-US" sz="1200" b="0" i="0" dirty="0">
                <a:solidFill>
                  <a:srgbClr val="FFFFFF"/>
                </a:solidFill>
                <a:latin typeface="Segoe UI"/>
              </a:rPr>
              <a:t>How</a:t>
            </a:r>
            <a:r>
              <a:rPr lang="ja-JP" sz="1200" b="0" i="0" dirty="0">
                <a:solidFill>
                  <a:srgbClr val="FFFFFF"/>
                </a:solidFill>
                <a:ea typeface="Meiryo"/>
              </a:rPr>
              <a:t>、</a:t>
            </a:r>
            <a:r>
              <a:rPr lang="en-US" sz="1200" b="0" i="0" dirty="0">
                <a:solidFill>
                  <a:srgbClr val="FFFFFF"/>
                </a:solidFill>
                <a:latin typeface="Segoe UI"/>
              </a:rPr>
              <a:t>Workflow</a:t>
            </a:r>
            <a:r>
              <a:rPr lang="ja-JP" sz="1200" b="0" i="0" dirty="0">
                <a:solidFill>
                  <a:srgbClr val="FFFFFF"/>
                </a:solidFill>
                <a:ea typeface="Meiryo"/>
              </a:rPr>
              <a:t>、</a:t>
            </a:r>
            <a:r>
              <a:rPr lang="en-US" sz="1200" b="0" i="0" dirty="0">
                <a:solidFill>
                  <a:srgbClr val="FFFFFF"/>
                </a:solidFill>
                <a:latin typeface="Segoe UI"/>
              </a:rPr>
              <a:t>Gotchas</a:t>
            </a:r>
            <a:r>
              <a:rPr lang="ja-JP" sz="1200" b="0" i="0" dirty="0">
                <a:solidFill>
                  <a:srgbClr val="FFFFFF"/>
                </a:solidFill>
                <a:ea typeface="Meiryo"/>
              </a:rPr>
              <a:t>を地図として渡す</a:t>
            </a:r>
          </a:p>
        </p:txBody>
      </p:sp>
      <p:graphicFrame>
        <p:nvGraphicFramePr>
          <p:cNvPr id="5" name="Table 4"/>
          <p:cNvGraphicFramePr>
            <a:graphicFrameLocks noGrp="1"/>
          </p:cNvGraphicFramePr>
          <p:nvPr/>
        </p:nvGraphicFramePr>
        <p:xfrm>
          <a:off x="164592" y="941832"/>
          <a:ext cx="8814816" cy="3671311"/>
        </p:xfrm>
        <a:graphic>
          <a:graphicData uri="http://schemas.openxmlformats.org/drawingml/2006/table">
            <a:tbl>
              <a:tblPr>
                <a:tableStyleId>{5C22544A-7EE6-4342-B048-85BDC9FD1C3A}</a:tableStyleId>
              </a:tblPr>
              <a:tblGrid>
                <a:gridCol w="2938272"/>
                <a:gridCol w="2938272"/>
                <a:gridCol w="2938272"/>
              </a:tblGrid>
              <a:tr h="524473">
                <a:tc>
                  <a:txBody>
                    <a:bodyPr lIns="88900" rIns="88900" tIns="38100" bIns="38100" wrap="square" anchor="ctr"/>
                    <a:lstStyle/>
                    <a:p>
                      <a:r>
                        <a:rPr lang="ja-JP" sz="1200" b="1" i="0" dirty="0">
                          <a:solidFill>
                            <a:srgbClr val="FFFFFF"/>
                          </a:solidFill>
                          <a:ea typeface="Meiryo"/>
                        </a:rPr>
                        <a:t>章</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1" i="0" dirty="0">
                          <a:solidFill>
                            <a:srgbClr val="FFFFFF"/>
                          </a:solidFill>
                          <a:ea typeface="Meiryo"/>
                        </a:rPr>
                        <a:t>目的</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1" i="0" dirty="0">
                          <a:solidFill>
                            <a:srgbClr val="FFFFFF"/>
                          </a:solidFill>
                          <a:ea typeface="Meiryo"/>
                        </a:rPr>
                        <a:t>書くべき内容</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524473">
                <a:tc>
                  <a:txBody>
                    <a:bodyPr lIns="88900" rIns="88900" tIns="38100" bIns="38100" wrap="square" anchor="ctr"/>
                    <a:lstStyle/>
                    <a:p>
                      <a:r>
                        <a:rPr lang="ja-JP" sz="1200" b="1" i="0" dirty="0">
                          <a:solidFill>
                            <a:srgbClr val="FFFFFF"/>
                          </a:solidFill>
                          <a:ea typeface="Meiryo"/>
                        </a:rPr>
                        <a:t>プロジェクト概要</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何を作るかを理解させる</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目的、ユーザー、重要ユースケース</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524473">
                <a:tc>
                  <a:txBody>
                    <a:bodyPr lIns="88900" rIns="88900" tIns="38100" bIns="38100" wrap="square" anchor="ctr"/>
                    <a:lstStyle/>
                    <a:p>
                      <a:r>
                        <a:rPr lang="ja-JP" sz="1200" b="1" i="0" dirty="0">
                          <a:solidFill>
                            <a:srgbClr val="FFFFFF"/>
                          </a:solidFill>
                          <a:ea typeface="Meiryo"/>
                        </a:rPr>
                        <a:t>技術スタック</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提案の前提を揃える</a:t>
                      </a:r>
                    </a:p>
                  </a:txBody>
                  <a:tcPr anchor="ctr">
                    <a:solidFill>
                      <a:srgbClr val="F5F5F5"/>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言語、</a:t>
                      </a:r>
                      <a:r>
                        <a:rPr lang="en-US" sz="1200" b="0" i="0" dirty="0">
                          <a:solidFill>
                            <a:srgbClr val="333333"/>
                          </a:solidFill>
                          <a:latin typeface="Segoe UI"/>
                        </a:rPr>
                        <a:t>FW</a:t>
                      </a:r>
                      <a:r>
                        <a:rPr lang="ja-JP" sz="1200" b="0" i="0" dirty="0">
                          <a:solidFill>
                            <a:srgbClr val="333333"/>
                          </a:solidFill>
                          <a:ea typeface="Meiryo"/>
                        </a:rPr>
                        <a:t>、</a:t>
                      </a:r>
                      <a:r>
                        <a:rPr lang="en-US" sz="1200" b="0" i="0" dirty="0">
                          <a:solidFill>
                            <a:srgbClr val="333333"/>
                          </a:solidFill>
                          <a:latin typeface="Segoe UI"/>
                        </a:rPr>
                        <a:t>UI</a:t>
                      </a:r>
                      <a:r>
                        <a:rPr lang="ja-JP" sz="1200" b="0" i="0" dirty="0">
                          <a:solidFill>
                            <a:srgbClr val="333333"/>
                          </a:solidFill>
                          <a:ea typeface="Meiryo"/>
                        </a:rPr>
                        <a:t>ライブラリ、禁止ライブラリ</a:t>
                      </a:r>
                    </a:p>
                  </a:txBody>
                  <a:tcPr anchor="ctr">
                    <a:solidFill>
                      <a:srgbClr val="F5F5F5"/>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524473">
                <a:tc>
                  <a:txBody>
                    <a:bodyPr lIns="88900" rIns="88900" tIns="38100" bIns="38100" wrap="square" anchor="ctr"/>
                    <a:lstStyle/>
                    <a:p>
                      <a:r>
                        <a:rPr lang="ja-JP" sz="1200" b="1" i="0" dirty="0">
                          <a:solidFill>
                            <a:srgbClr val="FFFFFF"/>
                          </a:solidFill>
                          <a:ea typeface="Meiryo"/>
                        </a:rPr>
                        <a:t>ディレクトリ構成</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ファイル探索の地図にする</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主要フォルダの役割、隔離ルール</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524473">
                <a:tc>
                  <a:txBody>
                    <a:bodyPr lIns="88900" rIns="88900" tIns="38100" bIns="38100" wrap="square" anchor="ctr"/>
                    <a:lstStyle/>
                    <a:p>
                      <a:r>
                        <a:rPr lang="ja-JP" sz="1200" b="1" i="0" dirty="0">
                          <a:solidFill>
                            <a:srgbClr val="FFFFFF"/>
                          </a:solidFill>
                          <a:ea typeface="Meiryo"/>
                        </a:rPr>
                        <a:t>コマンド集</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実行計画へ組み込ませる</a:t>
                      </a:r>
                    </a:p>
                  </a:txBody>
                  <a:tcPr anchor="ctr">
                    <a:solidFill>
                      <a:srgbClr val="F5F5F5"/>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en-US" sz="1200" b="0" i="0" dirty="0">
                          <a:solidFill>
                            <a:srgbClr val="333333"/>
                          </a:solidFill>
                          <a:latin typeface="Consolas"/>
                        </a:rPr>
                        <a:t>dev</a:t>
                      </a:r>
                      <a:r>
                        <a:rPr lang="ja-JP" sz="1200" b="0" i="0" dirty="0">
                          <a:solidFill>
                            <a:srgbClr val="333333"/>
                          </a:solidFill>
                          <a:ea typeface="Meiryo"/>
                        </a:rPr>
                        <a:t>、</a:t>
                      </a:r>
                      <a:r>
                        <a:rPr lang="en-US" sz="1200" b="0" i="0" dirty="0">
                          <a:solidFill>
                            <a:srgbClr val="333333"/>
                          </a:solidFill>
                          <a:latin typeface="Consolas"/>
                        </a:rPr>
                        <a:t>test</a:t>
                      </a:r>
                      <a:r>
                        <a:rPr lang="ja-JP" sz="1200" b="0" i="0" dirty="0">
                          <a:solidFill>
                            <a:srgbClr val="333333"/>
                          </a:solidFill>
                          <a:ea typeface="Meiryo"/>
                        </a:rPr>
                        <a:t>、</a:t>
                      </a:r>
                      <a:r>
                        <a:rPr lang="en-US" sz="1200" b="0" i="0" dirty="0">
                          <a:solidFill>
                            <a:srgbClr val="333333"/>
                          </a:solidFill>
                          <a:latin typeface="Consolas"/>
                        </a:rPr>
                        <a:t>lint</a:t>
                      </a:r>
                      <a:r>
                        <a:rPr lang="ja-JP" sz="1200" b="0" i="0" dirty="0">
                          <a:solidFill>
                            <a:srgbClr val="333333"/>
                          </a:solidFill>
                          <a:ea typeface="Meiryo"/>
                        </a:rPr>
                        <a:t>、</a:t>
                      </a:r>
                      <a:r>
                        <a:rPr lang="en-US" sz="1200" b="0" i="0" dirty="0">
                          <a:solidFill>
                            <a:srgbClr val="333333"/>
                          </a:solidFill>
                          <a:latin typeface="Consolas"/>
                        </a:rPr>
                        <a:t>typecheck</a:t>
                      </a:r>
                    </a:p>
                  </a:txBody>
                  <a:tcPr anchor="ctr">
                    <a:solidFill>
                      <a:srgbClr val="F5F5F5"/>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524473">
                <a:tc>
                  <a:txBody>
                    <a:bodyPr lIns="88900" rIns="88900" tIns="38100" bIns="38100" wrap="square" anchor="ctr"/>
                    <a:lstStyle/>
                    <a:p>
                      <a:r>
                        <a:rPr lang="ja-JP" sz="1200" b="1" i="0" dirty="0">
                          <a:solidFill>
                            <a:srgbClr val="FFFFFF"/>
                          </a:solidFill>
                          <a:ea typeface="Meiryo"/>
                        </a:rPr>
                        <a:t>作業ルール</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en-US" sz="1200" b="0" i="0" dirty="0">
                          <a:solidFill>
                            <a:srgbClr val="333333"/>
                          </a:solidFill>
                          <a:latin typeface="Segoe UI"/>
                        </a:rPr>
                        <a:t>AI</a:t>
                      </a:r>
                      <a:r>
                        <a:rPr lang="ja-JP" sz="1200" b="0" i="0" dirty="0">
                          <a:solidFill>
                            <a:srgbClr val="333333"/>
                          </a:solidFill>
                          <a:ea typeface="Meiryo"/>
                        </a:rPr>
                        <a:t>の行動を制御する</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調査、計画、検証、要約時の保持事項</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524473">
                <a:tc>
                  <a:txBody>
                    <a:bodyPr lIns="88900" rIns="88900" tIns="38100" bIns="38100" wrap="square" anchor="ctr"/>
                    <a:lstStyle/>
                    <a:p>
                      <a:r>
                        <a:rPr lang="ja-JP" sz="1200" b="1" i="0" dirty="0">
                          <a:solidFill>
                            <a:srgbClr val="FFFFFF"/>
                          </a:solidFill>
                          <a:ea typeface="Meiryo"/>
                        </a:rPr>
                        <a:t>落とし穴</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現場固有の事故を防ぐ</a:t>
                      </a:r>
                    </a:p>
                  </a:txBody>
                  <a:tcPr anchor="ctr">
                    <a:solidFill>
                      <a:srgbClr val="F5F5F5"/>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本番環境、個人情報、シェル差分</a:t>
                      </a:r>
                    </a:p>
                  </a:txBody>
                  <a:tcPr anchor="ctr">
                    <a:solidFill>
                      <a:srgbClr val="F5F5F5"/>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bl>
          </a:graphicData>
        </a:graphic>
      </p:graphicFrame>
      <p:sp>
        <p:nvSpPr>
          <p:cNvPr id="6" name="Rectangle 5"/>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823459"/>
            <a:ext cx="1828800" cy="274320"/>
          </a:xfrm>
          <a:prstGeom prst="rect">
            <a:avLst/>
          </a:prstGeom>
          <a:noFill/>
        </p:spPr>
        <p:txBody>
          <a:bodyPr wrap="none" anchor="ctr" lIns="0" rIns="0" tIns="0" bIns="0">
            <a:spAutoFit/>
          </a:bodyPr>
          <a:lstStyle/>
          <a:p>
            <a:fld id="{8FDA796B-C08A-4C2B-BAAE-079577E1AACF}" type="slidenum">
              <a:rPr lang="ja-JP" smtClean="0" sz="1000">
                <a:solidFill>
                  <a:srgbClr val="888888"/>
                </a:solidFill>
              </a:rPr>
              <a:t>&lt;#&gt;</a:t>
            </a:fld>
            <a:r>
              <a:rPr lang="ja-JP" smtClean="0" sz="1000">
                <a:solidFill>
                  <a:srgbClr val="888888"/>
                </a:solidFill>
              </a:rPr>
              <a:t>/</a:t>
            </a:r>
            <a:fld id="{35E9A706-965B-4AE2-B19C-1139B52AD382}" type="slidecount">
              <a:rPr lang="ja-JP" smtClean="0" sz="1000">
                <a:solidFill>
                  <a:srgbClr val="888888"/>
                </a:solidFill>
              </a:rPr>
              <a:t>11</a:t>
            </a:fld>
          </a:p>
        </p:txBody>
      </p:sp>
      <p:pic>
        <p:nvPicPr>
          <p:cNvPr id="8" name="Picture 7"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スコープ分離が文脈ノイズを抑える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ルートとディレクトリ別ルールで必要な文脈だけを読ませる</a:t>
            </a:r>
          </a:p>
        </p:txBody>
      </p:sp>
      <p:sp>
        <p:nvSpPr>
          <p:cNvPr id="5" name="Step5"/>
          <p:cNvSpPr/>
          <p:nvPr/>
        </p:nvSpPr>
        <p:spPr>
          <a:xfrm>
            <a:off x="164592" y="941832"/>
            <a:ext cx="2889504" cy="959205"/>
          </a:xfrm>
          <a:custGeom>
            <a:avLst/>
            <a:gdLst/>
            <a:ahLst/>
            <a:cxnLst/>
            <a:rect l="0" t="0" r="r" b="b"/>
            <a:pathLst>
              <a:path w="100000" h="100000">
                <a:moveTo>
                  <a:pt x="0" y="0"/>
                </a:moveTo>
                <a:lnTo>
                  <a:pt x="88000" y="0"/>
                </a:lnTo>
                <a:lnTo>
                  <a:pt x="100000" y="50000"/>
                </a:lnTo>
                <a:lnTo>
                  <a:pt x="88000" y="100000"/>
                </a:lnTo>
                <a:lnTo>
                  <a:pt x="0" y="100000"/>
                </a:lnTo>
                <a:close/>
              </a:path>
            </a:pathLst>
          </a:custGeom>
          <a:solidFill>
            <a:srgbClr val="D0D0D0"/>
          </a:solidFill>
          <a:ln w="9525">
            <a:solidFill>
              <a:srgbClr val="CCCCCC"/>
            </a:solidFill>
          </a:ln>
          <a:effectLst/>
        </p:spPr>
        <p:txBody>
          <a:bodyPr/>
          <a:lstStyle/>
          <a:p/>
        </p:txBody>
      </p:sp>
      <p:sp>
        <p:nvSpPr>
          <p:cNvPr id="6" name="TextBox 5"/>
          <p:cNvSpPr txBox="1"/>
          <p:nvPr/>
        </p:nvSpPr>
        <p:spPr>
          <a:xfrm>
            <a:off x="301751" y="941832"/>
            <a:ext cx="2456078" cy="959205"/>
          </a:xfrm>
          <a:prstGeom prst="rect">
            <a:avLst/>
          </a:prstGeom>
          <a:noFill/>
          <a:effectLst/>
        </p:spPr>
        <p:txBody>
          <a:bodyPr wrap="square" lIns="0" rIns="0" tIns="0" bIns="0" anchor="ctr">
            <a:noAutofit/>
          </a:bodyPr>
          <a:lstStyle/>
          <a:p>
            <a:r>
              <a:rPr lang="en-US" sz="1400" b="1" i="0" dirty="0">
                <a:solidFill>
                  <a:srgbClr val="333333"/>
                </a:solidFill>
                <a:latin typeface="Segoe UI"/>
              </a:rPr>
              <a:t>1. </a:t>
            </a:r>
            <a:r>
              <a:rPr lang="ja-JP" sz="1400" b="1" i="0" dirty="0">
                <a:solidFill>
                  <a:srgbClr val="333333"/>
                </a:solidFill>
                <a:ea typeface="Meiryo"/>
              </a:rPr>
              <a:t>共通ルール</a:t>
            </a:r>
          </a:p>
        </p:txBody>
      </p:sp>
      <p:sp>
        <p:nvSpPr>
          <p:cNvPr id="7" name="Step7"/>
          <p:cNvSpPr/>
          <p:nvPr/>
        </p:nvSpPr>
        <p:spPr>
          <a:xfrm>
            <a:off x="3127248" y="941832"/>
            <a:ext cx="2889504" cy="959205"/>
          </a:xfrm>
          <a:custGeom>
            <a:avLst/>
            <a:gdLst/>
            <a:ahLst/>
            <a:cxnLst/>
            <a:rect l="0" t="0" r="r" b="b"/>
            <a:pathLst>
              <a:path w="100000" h="100000">
                <a:moveTo>
                  <a:pt x="0" y="0"/>
                </a:moveTo>
                <a:lnTo>
                  <a:pt x="88000" y="0"/>
                </a:lnTo>
                <a:lnTo>
                  <a:pt x="100000" y="50000"/>
                </a:lnTo>
                <a:lnTo>
                  <a:pt x="88000" y="100000"/>
                </a:lnTo>
                <a:lnTo>
                  <a:pt x="0" y="100000"/>
                </a:lnTo>
                <a:close/>
              </a:path>
            </a:pathLst>
          </a:custGeom>
          <a:solidFill>
            <a:srgbClr val="D0D0D0"/>
          </a:solidFill>
          <a:ln w="9525">
            <a:solidFill>
              <a:srgbClr val="CCCCCC"/>
            </a:solidFill>
          </a:ln>
          <a:effectLst/>
        </p:spPr>
        <p:txBody>
          <a:bodyPr/>
          <a:lstStyle/>
          <a:p/>
        </p:txBody>
      </p:sp>
      <p:sp>
        <p:nvSpPr>
          <p:cNvPr id="8" name="TextBox 7"/>
          <p:cNvSpPr txBox="1"/>
          <p:nvPr/>
        </p:nvSpPr>
        <p:spPr>
          <a:xfrm>
            <a:off x="3264408" y="941832"/>
            <a:ext cx="2456078" cy="959205"/>
          </a:xfrm>
          <a:prstGeom prst="rect">
            <a:avLst/>
          </a:prstGeom>
          <a:noFill/>
          <a:effectLst/>
        </p:spPr>
        <p:txBody>
          <a:bodyPr wrap="square" lIns="0" rIns="0" tIns="0" bIns="0" anchor="ctr">
            <a:noAutofit/>
          </a:bodyPr>
          <a:lstStyle/>
          <a:p>
            <a:r>
              <a:rPr lang="en-US" sz="1400" b="1" i="0" dirty="0">
                <a:solidFill>
                  <a:srgbClr val="333333"/>
                </a:solidFill>
                <a:latin typeface="Segoe UI"/>
              </a:rPr>
              <a:t>2. </a:t>
            </a:r>
            <a:r>
              <a:rPr lang="ja-JP" sz="1400" b="1" i="0" dirty="0">
                <a:solidFill>
                  <a:srgbClr val="333333"/>
                </a:solidFill>
                <a:ea typeface="Meiryo"/>
              </a:rPr>
              <a:t>領域別ルール</a:t>
            </a:r>
          </a:p>
        </p:txBody>
      </p:sp>
      <p:sp>
        <p:nvSpPr>
          <p:cNvPr id="9" name="Step9"/>
          <p:cNvSpPr/>
          <p:nvPr/>
        </p:nvSpPr>
        <p:spPr>
          <a:xfrm>
            <a:off x="6089904" y="941832"/>
            <a:ext cx="2889504" cy="959205"/>
          </a:xfrm>
          <a:custGeom>
            <a:avLst/>
            <a:gdLst/>
            <a:ahLst/>
            <a:cxnLst/>
            <a:rect l="0" t="0" r="r" b="b"/>
            <a:pathLst>
              <a:path w="100000" h="100000">
                <a:moveTo>
                  <a:pt x="0" y="0"/>
                </a:moveTo>
                <a:lnTo>
                  <a:pt x="88000" y="0"/>
                </a:lnTo>
                <a:lnTo>
                  <a:pt x="100000" y="50000"/>
                </a:lnTo>
                <a:lnTo>
                  <a:pt x="88000" y="100000"/>
                </a:lnTo>
                <a:lnTo>
                  <a:pt x="0" y="100000"/>
                </a:lnTo>
                <a:close/>
              </a:path>
            </a:pathLst>
          </a:custGeom>
          <a:solidFill>
            <a:srgbClr val="D0D0D0"/>
          </a:solidFill>
          <a:ln w="9525">
            <a:solidFill>
              <a:srgbClr val="CCCCCC"/>
            </a:solidFill>
          </a:ln>
          <a:effectLst/>
        </p:spPr>
        <p:txBody>
          <a:bodyPr/>
          <a:lstStyle/>
          <a:p/>
        </p:txBody>
      </p:sp>
      <p:sp>
        <p:nvSpPr>
          <p:cNvPr id="10" name="TextBox 9"/>
          <p:cNvSpPr txBox="1"/>
          <p:nvPr/>
        </p:nvSpPr>
        <p:spPr>
          <a:xfrm>
            <a:off x="6227064" y="941832"/>
            <a:ext cx="2456078" cy="959205"/>
          </a:xfrm>
          <a:prstGeom prst="rect">
            <a:avLst/>
          </a:prstGeom>
          <a:noFill/>
          <a:effectLst/>
        </p:spPr>
        <p:txBody>
          <a:bodyPr wrap="square" lIns="0" rIns="0" tIns="0" bIns="0" anchor="ctr">
            <a:noAutofit/>
          </a:bodyPr>
          <a:lstStyle/>
          <a:p>
            <a:r>
              <a:rPr lang="en-US" sz="1400" b="1" i="0" dirty="0">
                <a:solidFill>
                  <a:srgbClr val="333333"/>
                </a:solidFill>
                <a:latin typeface="Segoe UI"/>
              </a:rPr>
              <a:t>3. </a:t>
            </a:r>
            <a:r>
              <a:rPr lang="ja-JP" sz="1400" b="1" i="0" dirty="0">
                <a:solidFill>
                  <a:srgbClr val="333333"/>
                </a:solidFill>
                <a:ea typeface="Meiryo"/>
              </a:rPr>
              <a:t>対象近傍を優先</a:t>
            </a:r>
          </a:p>
        </p:txBody>
      </p:sp>
      <p:sp>
        <p:nvSpPr>
          <p:cNvPr id="11" name="Rectangle 10"/>
          <p:cNvSpPr/>
          <p:nvPr/>
        </p:nvSpPr>
        <p:spPr>
          <a:xfrm>
            <a:off x="164592" y="1974189"/>
            <a:ext cx="2889504" cy="2638958"/>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1751" y="2083917"/>
            <a:ext cx="2615184" cy="2419502"/>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ルート</a:t>
            </a:r>
            <a:r>
              <a:rPr lang="en-US" sz="1100" b="0" i="0" dirty="0">
                <a:solidFill>
                  <a:srgbClr val="333333"/>
                </a:solidFill>
                <a:latin typeface="Segoe UI"/>
              </a:rPr>
              <a:t>CLAUDE.md</a:t>
            </a:r>
            <a:r>
              <a:rPr lang="ja-JP" sz="1100" b="0" i="0" dirty="0">
                <a:solidFill>
                  <a:srgbClr val="333333"/>
                </a:solidFill>
                <a:ea typeface="Meiryo"/>
              </a:rPr>
              <a:t>に全体原則を置く。</a:t>
            </a:r>
          </a:p>
          <a:p>
            <a:pPr marL="228600" indent="-228600">
              <a:spcBef>
                <a:spcPts val="0"/>
              </a:spcBef>
              <a:spcAft>
                <a:spcPts val="400"/>
              </a:spcAft>
              <a:buChar char="•"/>
              <a:lnSpc>
                <a:spcPts val="1980"/>
              </a:lnSpc>
            </a:pPr>
            <a:r>
              <a:rPr lang="ja-JP" sz="1100" b="0" i="0" dirty="0">
                <a:solidFill>
                  <a:srgbClr val="333333"/>
                </a:solidFill>
                <a:ea typeface="Meiryo"/>
              </a:rPr>
              <a:t>全プロジェクトで守る安全策</a:t>
            </a:r>
          </a:p>
          <a:p>
            <a:pPr marL="228600" indent="-228600">
              <a:spcBef>
                <a:spcPts val="0"/>
              </a:spcBef>
              <a:spcAft>
                <a:spcPts val="400"/>
              </a:spcAft>
              <a:buChar char="•"/>
              <a:lnSpc>
                <a:spcPts val="1980"/>
              </a:lnSpc>
            </a:pPr>
            <a:r>
              <a:rPr lang="ja-JP" sz="1100" b="0" i="0" dirty="0">
                <a:solidFill>
                  <a:srgbClr val="333333"/>
                </a:solidFill>
                <a:ea typeface="Meiryo"/>
              </a:rPr>
              <a:t>テスト、レビュー、回答言語の基準</a:t>
            </a:r>
          </a:p>
        </p:txBody>
      </p:sp>
      <p:sp>
        <p:nvSpPr>
          <p:cNvPr id="13" name="Rectangle 12"/>
          <p:cNvSpPr/>
          <p:nvPr/>
        </p:nvSpPr>
        <p:spPr>
          <a:xfrm>
            <a:off x="3127248" y="1974189"/>
            <a:ext cx="2889504" cy="2638958"/>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4408" y="2083917"/>
            <a:ext cx="2615184" cy="2419502"/>
          </a:xfrm>
          <a:prstGeom prst="rect">
            <a:avLst/>
          </a:prstGeom>
          <a:noFill/>
          <a:effectLst/>
        </p:spPr>
        <p:txBody>
          <a:bodyPr wrap="square" lIns="0" rIns="0" tIns="0" bIns="0">
            <a:noAutofit/>
          </a:bodyPr>
          <a:lstStyle/>
          <a:p>
            <a:pPr>
              <a:spcBef>
                <a:spcPts val="0"/>
              </a:spcBef>
              <a:spcAft>
                <a:spcPts val="400"/>
              </a:spcAft>
              <a:buNone/>
              <a:lnSpc>
                <a:spcPts val="1980"/>
              </a:lnSpc>
            </a:pPr>
            <a:r>
              <a:rPr lang="en-US" sz="1100" b="0" i="0" dirty="0">
                <a:solidFill>
                  <a:srgbClr val="333333"/>
                </a:solidFill>
                <a:latin typeface="Consolas"/>
              </a:rPr>
              <a:t>.claude/rules/</a:t>
            </a:r>
            <a:r>
              <a:rPr lang="ja-JP" sz="1100" b="0" i="0" dirty="0">
                <a:solidFill>
                  <a:srgbClr val="333333"/>
                </a:solidFill>
                <a:ea typeface="Meiryo"/>
              </a:rPr>
              <a:t>で文脈を分ける。</a:t>
            </a:r>
          </a:p>
          <a:p>
            <a:pPr marL="228600" indent="-228600">
              <a:spcBef>
                <a:spcPts val="0"/>
              </a:spcBef>
              <a:spcAft>
                <a:spcPts val="400"/>
              </a:spcAft>
              <a:buChar char="•"/>
              <a:lnSpc>
                <a:spcPts val="1980"/>
              </a:lnSpc>
            </a:pPr>
            <a:r>
              <a:rPr lang="en-US" sz="1100" b="0" i="0" dirty="0">
                <a:solidFill>
                  <a:srgbClr val="333333"/>
                </a:solidFill>
                <a:latin typeface="Segoe UI"/>
              </a:rPr>
              <a:t>UI</a:t>
            </a:r>
            <a:r>
              <a:rPr lang="ja-JP" sz="1100" b="0" i="0" dirty="0">
                <a:solidFill>
                  <a:srgbClr val="333333"/>
                </a:solidFill>
                <a:ea typeface="Meiryo"/>
              </a:rPr>
              <a:t>なら</a:t>
            </a:r>
            <a:r>
              <a:rPr lang="en-US" sz="1100" b="0" i="0" dirty="0">
                <a:solidFill>
                  <a:srgbClr val="333333"/>
                </a:solidFill>
                <a:latin typeface="Consolas"/>
              </a:rPr>
              <a:t>frontend.md</a:t>
            </a:r>
          </a:p>
          <a:p>
            <a:pPr marL="228600" indent="-228600">
              <a:spcBef>
                <a:spcPts val="0"/>
              </a:spcBef>
              <a:spcAft>
                <a:spcPts val="400"/>
              </a:spcAft>
              <a:buChar char="•"/>
              <a:lnSpc>
                <a:spcPts val="1980"/>
              </a:lnSpc>
            </a:pPr>
            <a:r>
              <a:rPr lang="ja-JP" sz="1100" b="0" i="0" dirty="0">
                <a:solidFill>
                  <a:srgbClr val="333333"/>
                </a:solidFill>
                <a:ea typeface="Meiryo"/>
              </a:rPr>
              <a:t>自動化なら</a:t>
            </a:r>
            <a:r>
              <a:rPr lang="en-US" sz="1100" b="0" i="0" dirty="0">
                <a:solidFill>
                  <a:srgbClr val="333333"/>
                </a:solidFill>
                <a:latin typeface="Consolas"/>
              </a:rPr>
              <a:t>infra.md</a:t>
            </a:r>
          </a:p>
        </p:txBody>
      </p:sp>
      <p:sp>
        <p:nvSpPr>
          <p:cNvPr id="15" name="Rectangle 14"/>
          <p:cNvSpPr/>
          <p:nvPr/>
        </p:nvSpPr>
        <p:spPr>
          <a:xfrm>
            <a:off x="6089904" y="1974189"/>
            <a:ext cx="2889504" cy="2638958"/>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27064" y="2083917"/>
            <a:ext cx="2615184" cy="2419502"/>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今触るファイルに関係する規約を前面化する。</a:t>
            </a:r>
          </a:p>
          <a:p>
            <a:pPr marL="228600" indent="-228600">
              <a:spcBef>
                <a:spcPts val="0"/>
              </a:spcBef>
              <a:spcAft>
                <a:spcPts val="400"/>
              </a:spcAft>
              <a:buChar char="•"/>
              <a:lnSpc>
                <a:spcPts val="1980"/>
              </a:lnSpc>
            </a:pPr>
            <a:r>
              <a:rPr lang="ja-JP" sz="1100" b="0" i="0" dirty="0">
                <a:solidFill>
                  <a:srgbClr val="333333"/>
                </a:solidFill>
                <a:ea typeface="Meiryo"/>
              </a:rPr>
              <a:t>読む量を減らす</a:t>
            </a:r>
          </a:p>
          <a:p>
            <a:pPr marL="228600" indent="-228600">
              <a:spcBef>
                <a:spcPts val="0"/>
              </a:spcBef>
              <a:spcAft>
                <a:spcPts val="400"/>
              </a:spcAft>
              <a:buChar char="•"/>
              <a:lnSpc>
                <a:spcPts val="1980"/>
              </a:lnSpc>
            </a:pPr>
            <a:r>
              <a:rPr lang="ja-JP" sz="1100" b="0" i="0" dirty="0">
                <a:solidFill>
                  <a:srgbClr val="333333"/>
                </a:solidFill>
                <a:ea typeface="Meiryo"/>
              </a:rPr>
              <a:t>関係ない制約の干渉を避ける</a:t>
            </a:r>
          </a:p>
        </p:txBody>
      </p:sp>
      <p:sp>
        <p:nvSpPr>
          <p:cNvPr id="17" name="Rectangle 16"/>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8600" y="4823459"/>
            <a:ext cx="1828800" cy="274320"/>
          </a:xfrm>
          <a:prstGeom prst="rect">
            <a:avLst/>
          </a:prstGeom>
          <a:noFill/>
        </p:spPr>
        <p:txBody>
          <a:bodyPr wrap="none" anchor="ctr" lIns="0" rIns="0" tIns="0" bIns="0">
            <a:spAutoFit/>
          </a:bodyPr>
          <a:lstStyle/>
          <a:p>
            <a:fld id="{E308DEAA-83A5-4B43-8E38-E438AB374DF3}" type="slidenum">
              <a:rPr lang="ja-JP" smtClean="0" sz="1000">
                <a:solidFill>
                  <a:srgbClr val="888888"/>
                </a:solidFill>
              </a:rPr>
              <a:t>&lt;#&gt;</a:t>
            </a:fld>
            <a:r>
              <a:rPr lang="ja-JP" smtClean="0" sz="1000">
                <a:solidFill>
                  <a:srgbClr val="888888"/>
                </a:solidFill>
              </a:rPr>
              <a:t>/</a:t>
            </a:r>
            <a:fld id="{6AFDEFDE-EBD6-46D6-ADB8-2FB13DB4B3E8}" type="slidecount">
              <a:rPr lang="ja-JP" smtClean="0" sz="1000">
                <a:solidFill>
                  <a:srgbClr val="888888"/>
                </a:solidFill>
              </a:rPr>
              <a:t>11</a:t>
            </a:fld>
          </a:p>
        </p:txBody>
      </p:sp>
      <p:pic>
        <p:nvPicPr>
          <p:cNvPr id="19" name="Picture 18"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用途別テンプレートで現場差分を吸収する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en-US" sz="1200" b="0" i="0" dirty="0">
                <a:solidFill>
                  <a:srgbClr val="FFFFFF"/>
                </a:solidFill>
                <a:latin typeface="Segoe UI"/>
              </a:rPr>
              <a:t>Web</a:t>
            </a:r>
            <a:r>
              <a:rPr lang="ja-JP" sz="1200" b="0" i="0" dirty="0">
                <a:solidFill>
                  <a:srgbClr val="FFFFFF"/>
                </a:solidFill>
                <a:ea typeface="Meiryo"/>
              </a:rPr>
              <a:t>、分析、自動化では守るべき前提が違う</a:t>
            </a:r>
          </a:p>
        </p:txBody>
      </p:sp>
      <p:sp>
        <p:nvSpPr>
          <p:cNvPr id="5" name="Rectangle 4"/>
          <p:cNvSpPr/>
          <p:nvPr/>
        </p:nvSpPr>
        <p:spPr>
          <a:xfrm>
            <a:off x="164592" y="941832"/>
            <a:ext cx="2889504" cy="3671315"/>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1751" y="1051560"/>
            <a:ext cx="2615184" cy="320040"/>
          </a:xfrm>
          <a:prstGeom prst="rect">
            <a:avLst/>
          </a:prstGeom>
          <a:noFill/>
          <a:effectLst/>
        </p:spPr>
        <p:txBody>
          <a:bodyPr wrap="square" lIns="0" rIns="0" tIns="0" bIns="0" anchor="t">
            <a:noAutofit/>
          </a:bodyPr>
          <a:lstStyle/>
          <a:p>
            <a:r>
              <a:rPr lang="en-US" sz="1400" b="1" i="0" dirty="0">
                <a:solidFill>
                  <a:srgbClr val="333333"/>
                </a:solidFill>
                <a:latin typeface="Segoe UI"/>
              </a:rPr>
              <a:t>Web</a:t>
            </a:r>
            <a:r>
              <a:rPr lang="ja-JP" sz="1400" b="1" i="0" dirty="0">
                <a:solidFill>
                  <a:srgbClr val="333333"/>
                </a:solidFill>
                <a:ea typeface="Meiryo"/>
              </a:rPr>
              <a:t>アプリ</a:t>
            </a:r>
          </a:p>
        </p:txBody>
      </p:sp>
      <p:sp>
        <p:nvSpPr>
          <p:cNvPr id="7" name="Rectangle 6"/>
          <p:cNvSpPr/>
          <p:nvPr/>
        </p:nvSpPr>
        <p:spPr>
          <a:xfrm>
            <a:off x="301751" y="1307592"/>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1" y="1380744"/>
            <a:ext cx="2615184" cy="3122675"/>
          </a:xfrm>
          <a:prstGeom prst="rect">
            <a:avLst/>
          </a:prstGeom>
          <a:noFill/>
          <a:effectLst/>
        </p:spPr>
        <p:txBody>
          <a:bodyPr wrap="square" lIns="0" rIns="0" tIns="0" bIns="0">
            <a:noAutofit/>
          </a:bodyPr>
          <a:lstStyle/>
          <a:p>
            <a:pPr>
              <a:spcBef>
                <a:spcPts val="0"/>
              </a:spcBef>
              <a:spcAft>
                <a:spcPts val="400"/>
              </a:spcAft>
              <a:buNone/>
              <a:lnSpc>
                <a:spcPts val="1980"/>
              </a:lnSpc>
            </a:pPr>
            <a:r>
              <a:rPr lang="en-US" sz="1100" b="0" i="0" dirty="0">
                <a:solidFill>
                  <a:srgbClr val="333333"/>
                </a:solidFill>
                <a:latin typeface="Segoe UI"/>
              </a:rPr>
              <a:t>UI</a:t>
            </a:r>
            <a:r>
              <a:rPr lang="ja-JP" sz="1100" b="0" i="0" dirty="0">
                <a:solidFill>
                  <a:srgbClr val="333333"/>
                </a:solidFill>
                <a:ea typeface="Meiryo"/>
              </a:rPr>
              <a:t>と状態管理の選択を固定する領域である。</a:t>
            </a:r>
          </a:p>
          <a:p>
            <a:pPr marL="228600" indent="-228600">
              <a:spcBef>
                <a:spcPts val="0"/>
              </a:spcBef>
              <a:spcAft>
                <a:spcPts val="400"/>
              </a:spcAft>
              <a:buChar char="•"/>
              <a:lnSpc>
                <a:spcPts val="1980"/>
              </a:lnSpc>
            </a:pPr>
            <a:r>
              <a:rPr lang="en-US" sz="1100" b="1" i="0" dirty="0">
                <a:solidFill>
                  <a:srgbClr val="333333"/>
                </a:solidFill>
                <a:latin typeface="Segoe UI"/>
              </a:rPr>
              <a:t>CSS/FW:</a:t>
            </a:r>
            <a:r>
              <a:rPr lang="en-US" sz="1100" b="0" i="0" dirty="0">
                <a:solidFill>
                  <a:srgbClr val="333333"/>
                </a:solidFill>
                <a:latin typeface="Segoe UI"/>
              </a:rPr>
              <a:t> Tailwind</a:t>
            </a:r>
            <a:r>
              <a:rPr lang="ja-JP" sz="1100" b="0" i="0" dirty="0">
                <a:solidFill>
                  <a:srgbClr val="333333"/>
                </a:solidFill>
                <a:ea typeface="Meiryo"/>
              </a:rPr>
              <a:t>や</a:t>
            </a:r>
            <a:r>
              <a:rPr lang="en-US" sz="1100" b="0" i="0" dirty="0">
                <a:solidFill>
                  <a:srgbClr val="333333"/>
                </a:solidFill>
                <a:latin typeface="Segoe UI"/>
              </a:rPr>
              <a:t>Radix</a:t>
            </a:r>
            <a:r>
              <a:rPr lang="ja-JP" sz="1100" b="0" i="0" dirty="0">
                <a:solidFill>
                  <a:srgbClr val="333333"/>
                </a:solidFill>
                <a:ea typeface="Meiryo"/>
              </a:rPr>
              <a:t>などを明示する</a:t>
            </a:r>
          </a:p>
          <a:p>
            <a:pPr marL="228600" indent="-228600">
              <a:spcBef>
                <a:spcPts val="0"/>
              </a:spcBef>
              <a:spcAft>
                <a:spcPts val="400"/>
              </a:spcAft>
              <a:buChar char="•"/>
              <a:lnSpc>
                <a:spcPts val="1980"/>
              </a:lnSpc>
            </a:pPr>
            <a:r>
              <a:rPr lang="en-US" sz="1100" b="0" i="0" dirty="0">
                <a:solidFill>
                  <a:srgbClr val="333333"/>
                </a:solidFill>
                <a:latin typeface="Segoe UI"/>
              </a:rPr>
              <a:t>API</a:t>
            </a:r>
            <a:r>
              <a:rPr lang="ja-JP" sz="1100" b="0" i="0" dirty="0">
                <a:solidFill>
                  <a:srgbClr val="333333"/>
                </a:solidFill>
                <a:ea typeface="Meiryo"/>
              </a:rPr>
              <a:t>呼び出しの配置を決める</a:t>
            </a:r>
          </a:p>
          <a:p>
            <a:pPr marL="228600" indent="-228600">
              <a:spcBef>
                <a:spcPts val="0"/>
              </a:spcBef>
              <a:spcAft>
                <a:spcPts val="400"/>
              </a:spcAft>
              <a:buChar char="•"/>
              <a:lnSpc>
                <a:spcPts val="1980"/>
              </a:lnSpc>
            </a:pPr>
            <a:r>
              <a:rPr lang="ja-JP" sz="1100" b="0" i="0" dirty="0">
                <a:solidFill>
                  <a:srgbClr val="333333"/>
                </a:solidFill>
                <a:ea typeface="Meiryo"/>
              </a:rPr>
              <a:t>禁止ライブラリを先に書く</a:t>
            </a:r>
          </a:p>
        </p:txBody>
      </p:sp>
      <p:sp>
        <p:nvSpPr>
          <p:cNvPr id="9" name="Rectangle 8"/>
          <p:cNvSpPr/>
          <p:nvPr/>
        </p:nvSpPr>
        <p:spPr>
          <a:xfrm>
            <a:off x="3127248" y="941832"/>
            <a:ext cx="2889504" cy="3671315"/>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64408" y="1051560"/>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データ分析</a:t>
            </a:r>
          </a:p>
        </p:txBody>
      </p:sp>
      <p:sp>
        <p:nvSpPr>
          <p:cNvPr id="11" name="Rectangle 10"/>
          <p:cNvSpPr/>
          <p:nvPr/>
        </p:nvSpPr>
        <p:spPr>
          <a:xfrm>
            <a:off x="3264408" y="1307592"/>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64408" y="1380744"/>
            <a:ext cx="2615184" cy="3122675"/>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再現性とデータ管理を優先する領域である。</a:t>
            </a:r>
          </a:p>
          <a:p>
            <a:pPr marL="228600" indent="-228600">
              <a:spcBef>
                <a:spcPts val="0"/>
              </a:spcBef>
              <a:spcAft>
                <a:spcPts val="400"/>
              </a:spcAft>
              <a:buChar char="•"/>
              <a:lnSpc>
                <a:spcPts val="1980"/>
              </a:lnSpc>
            </a:pPr>
            <a:r>
              <a:rPr lang="en-US" sz="1100" b="0" i="0" dirty="0">
                <a:solidFill>
                  <a:srgbClr val="333333"/>
                </a:solidFill>
                <a:latin typeface="Consolas"/>
              </a:rPr>
              <a:t>data/raw</a:t>
            </a:r>
            <a:r>
              <a:rPr lang="en-US" sz="1100" b="0" i="0" dirty="0">
                <a:solidFill>
                  <a:srgbClr val="333333"/>
                </a:solidFill>
                <a:latin typeface="Segoe UI"/>
              </a:rPr>
              <a:t> </a:t>
            </a:r>
            <a:r>
              <a:rPr lang="ja-JP" sz="1100" b="0" i="0" dirty="0">
                <a:solidFill>
                  <a:srgbClr val="333333"/>
                </a:solidFill>
                <a:ea typeface="Meiryo"/>
              </a:rPr>
              <a:t>と</a:t>
            </a:r>
            <a:r>
              <a:rPr lang="en-US" sz="1100" b="0" i="0" dirty="0">
                <a:solidFill>
                  <a:srgbClr val="333333"/>
                </a:solidFill>
                <a:latin typeface="Segoe UI"/>
              </a:rPr>
              <a:t> </a:t>
            </a:r>
            <a:r>
              <a:rPr lang="en-US" sz="1100" b="0" i="0" dirty="0">
                <a:solidFill>
                  <a:srgbClr val="333333"/>
                </a:solidFill>
                <a:latin typeface="Consolas"/>
              </a:rPr>
              <a:t>data/processed</a:t>
            </a:r>
            <a:r>
              <a:rPr lang="en-US" sz="1100" b="0" i="0" dirty="0">
                <a:solidFill>
                  <a:srgbClr val="333333"/>
                </a:solidFill>
                <a:latin typeface="Segoe UI"/>
              </a:rPr>
              <a:t> </a:t>
            </a:r>
            <a:r>
              <a:rPr lang="ja-JP" sz="1100" b="0" i="0" dirty="0">
                <a:solidFill>
                  <a:srgbClr val="333333"/>
                </a:solidFill>
                <a:ea typeface="Meiryo"/>
              </a:rPr>
              <a:t>を分ける</a:t>
            </a:r>
          </a:p>
          <a:p>
            <a:pPr marL="228600" indent="-228600">
              <a:spcBef>
                <a:spcPts val="0"/>
              </a:spcBef>
              <a:spcAft>
                <a:spcPts val="400"/>
              </a:spcAft>
              <a:buChar char="•"/>
              <a:lnSpc>
                <a:spcPts val="1980"/>
              </a:lnSpc>
            </a:pPr>
            <a:r>
              <a:rPr lang="ja-JP" sz="1100" b="0" i="0" dirty="0">
                <a:solidFill>
                  <a:srgbClr val="333333"/>
                </a:solidFill>
                <a:ea typeface="Meiryo"/>
              </a:rPr>
              <a:t>乱数シードやライブラリを固定する</a:t>
            </a:r>
          </a:p>
          <a:p>
            <a:pPr marL="228600" indent="-228600">
              <a:spcBef>
                <a:spcPts val="0"/>
              </a:spcBef>
              <a:spcAft>
                <a:spcPts val="400"/>
              </a:spcAft>
              <a:buChar char="•"/>
              <a:lnSpc>
                <a:spcPts val="1980"/>
              </a:lnSpc>
            </a:pPr>
            <a:r>
              <a:rPr lang="ja-JP" sz="1100" b="0" i="0" dirty="0">
                <a:solidFill>
                  <a:srgbClr val="333333"/>
                </a:solidFill>
                <a:ea typeface="Meiryo"/>
              </a:rPr>
              <a:t>中間成果物の保存規則を置く</a:t>
            </a:r>
          </a:p>
        </p:txBody>
      </p:sp>
      <p:sp>
        <p:nvSpPr>
          <p:cNvPr id="13" name="Rectangle 12"/>
          <p:cNvSpPr/>
          <p:nvPr/>
        </p:nvSpPr>
        <p:spPr>
          <a:xfrm>
            <a:off x="6089904" y="941832"/>
            <a:ext cx="2889504" cy="3671315"/>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051560"/>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自動化</a:t>
            </a:r>
          </a:p>
        </p:txBody>
      </p:sp>
      <p:sp>
        <p:nvSpPr>
          <p:cNvPr id="15" name="Rectangle 14"/>
          <p:cNvSpPr/>
          <p:nvPr/>
        </p:nvSpPr>
        <p:spPr>
          <a:xfrm>
            <a:off x="6227064" y="1307592"/>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27064" y="1380744"/>
            <a:ext cx="2615184" cy="3122675"/>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安全策と実行環境が中心である。</a:t>
            </a:r>
          </a:p>
          <a:p>
            <a:pPr marL="228600" indent="-228600">
              <a:spcBef>
                <a:spcPts val="0"/>
              </a:spcBef>
              <a:spcAft>
                <a:spcPts val="400"/>
              </a:spcAft>
              <a:buChar char="•"/>
              <a:lnSpc>
                <a:spcPts val="1980"/>
              </a:lnSpc>
            </a:pPr>
            <a:r>
              <a:rPr lang="en-US" sz="1100" b="0" i="0" dirty="0">
                <a:solidFill>
                  <a:srgbClr val="333333"/>
                </a:solidFill>
                <a:latin typeface="Segoe UI"/>
              </a:rPr>
              <a:t>Windows</a:t>
            </a:r>
            <a:r>
              <a:rPr lang="ja-JP" sz="1100" b="0" i="0" dirty="0">
                <a:solidFill>
                  <a:srgbClr val="333333"/>
                </a:solidFill>
                <a:ea typeface="Meiryo"/>
              </a:rPr>
              <a:t>、</a:t>
            </a:r>
            <a:r>
              <a:rPr lang="en-US" sz="1100" b="0" i="0" dirty="0">
                <a:solidFill>
                  <a:srgbClr val="333333"/>
                </a:solidFill>
                <a:latin typeface="Segoe UI"/>
              </a:rPr>
              <a:t>PowerShell</a:t>
            </a:r>
            <a:r>
              <a:rPr lang="ja-JP" sz="1100" b="0" i="0" dirty="0">
                <a:solidFill>
                  <a:srgbClr val="333333"/>
                </a:solidFill>
                <a:ea typeface="Meiryo"/>
              </a:rPr>
              <a:t>、</a:t>
            </a:r>
            <a:r>
              <a:rPr lang="en-US" sz="1100" b="0" i="0" dirty="0">
                <a:solidFill>
                  <a:srgbClr val="333333"/>
                </a:solidFill>
                <a:latin typeface="Segoe UI"/>
              </a:rPr>
              <a:t>WSL</a:t>
            </a:r>
            <a:r>
              <a:rPr lang="ja-JP" sz="1100" b="0" i="0" dirty="0">
                <a:solidFill>
                  <a:srgbClr val="333333"/>
                </a:solidFill>
                <a:ea typeface="Meiryo"/>
              </a:rPr>
              <a:t>などを明示する</a:t>
            </a:r>
          </a:p>
          <a:p>
            <a:pPr marL="228600" indent="-228600">
              <a:spcBef>
                <a:spcPts val="0"/>
              </a:spcBef>
              <a:spcAft>
                <a:spcPts val="400"/>
              </a:spcAft>
              <a:buChar char="•"/>
              <a:lnSpc>
                <a:spcPts val="1980"/>
              </a:lnSpc>
            </a:pPr>
            <a:r>
              <a:rPr lang="en-US" sz="1100" b="0" i="0" dirty="0">
                <a:solidFill>
                  <a:srgbClr val="333333"/>
                </a:solidFill>
                <a:latin typeface="Consolas"/>
              </a:rPr>
              <a:t>dry-run</a:t>
            </a:r>
            <a:r>
              <a:rPr lang="en-US" sz="1100" b="0" i="0" dirty="0">
                <a:solidFill>
                  <a:srgbClr val="333333"/>
                </a:solidFill>
                <a:latin typeface="Segoe UI"/>
              </a:rPr>
              <a:t> </a:t>
            </a:r>
            <a:r>
              <a:rPr lang="ja-JP" sz="1100" b="0" i="0" dirty="0">
                <a:solidFill>
                  <a:srgbClr val="333333"/>
                </a:solidFill>
                <a:ea typeface="Meiryo"/>
              </a:rPr>
              <a:t>や</a:t>
            </a:r>
            <a:r>
              <a:rPr lang="en-US" sz="1100" b="0" i="0" dirty="0">
                <a:solidFill>
                  <a:srgbClr val="333333"/>
                </a:solidFill>
                <a:latin typeface="Segoe UI"/>
              </a:rPr>
              <a:t> </a:t>
            </a:r>
            <a:r>
              <a:rPr lang="en-US" sz="1100" b="0" i="0" dirty="0">
                <a:solidFill>
                  <a:srgbClr val="333333"/>
                </a:solidFill>
                <a:latin typeface="Consolas"/>
              </a:rPr>
              <a:t>-WhatIf</a:t>
            </a:r>
            <a:r>
              <a:rPr lang="en-US" sz="1100" b="0" i="0" dirty="0">
                <a:solidFill>
                  <a:srgbClr val="333333"/>
                </a:solidFill>
                <a:latin typeface="Segoe UI"/>
              </a:rPr>
              <a:t> </a:t>
            </a:r>
            <a:r>
              <a:rPr lang="ja-JP" sz="1100" b="0" i="0" dirty="0">
                <a:solidFill>
                  <a:srgbClr val="333333"/>
                </a:solidFill>
                <a:ea typeface="Meiryo"/>
              </a:rPr>
              <a:t>を用意する</a:t>
            </a:r>
          </a:p>
          <a:p>
            <a:pPr marL="228600" indent="-228600">
              <a:spcBef>
                <a:spcPts val="0"/>
              </a:spcBef>
              <a:spcAft>
                <a:spcPts val="400"/>
              </a:spcAft>
              <a:buChar char="•"/>
              <a:lnSpc>
                <a:spcPts val="1980"/>
              </a:lnSpc>
            </a:pPr>
            <a:r>
              <a:rPr lang="ja-JP" sz="1100" b="0" i="0" dirty="0">
                <a:solidFill>
                  <a:srgbClr val="333333"/>
                </a:solidFill>
                <a:ea typeface="Meiryo"/>
              </a:rPr>
              <a:t>ログ出力とエラー処理を標準化する</a:t>
            </a:r>
          </a:p>
        </p:txBody>
      </p:sp>
      <p:sp>
        <p:nvSpPr>
          <p:cNvPr id="17" name="Rectangle 16"/>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8600" y="4823459"/>
            <a:ext cx="1828800" cy="274320"/>
          </a:xfrm>
          <a:prstGeom prst="rect">
            <a:avLst/>
          </a:prstGeom>
          <a:noFill/>
        </p:spPr>
        <p:txBody>
          <a:bodyPr wrap="none" anchor="ctr" lIns="0" rIns="0" tIns="0" bIns="0">
            <a:spAutoFit/>
          </a:bodyPr>
          <a:lstStyle/>
          <a:p>
            <a:fld id="{9BE4B50F-F703-4087-B8C6-79E9B62305CC}" type="slidenum">
              <a:rPr lang="ja-JP" smtClean="0" sz="1000">
                <a:solidFill>
                  <a:srgbClr val="888888"/>
                </a:solidFill>
              </a:rPr>
              <a:t>&lt;#&gt;</a:t>
            </a:fld>
            <a:r>
              <a:rPr lang="ja-JP" smtClean="0" sz="1000">
                <a:solidFill>
                  <a:srgbClr val="888888"/>
                </a:solidFill>
              </a:rPr>
              <a:t>/</a:t>
            </a:r>
            <a:fld id="{D392A1E9-4D48-4DD1-9E5B-EE8C0F2E0CFA}" type="slidecount">
              <a:rPr lang="ja-JP" smtClean="0" sz="1000">
                <a:solidFill>
                  <a:srgbClr val="888888"/>
                </a:solidFill>
              </a:rPr>
              <a:t>11</a:t>
            </a:fld>
          </a:p>
        </p:txBody>
      </p:sp>
      <p:pic>
        <p:nvPicPr>
          <p:cNvPr id="19" name="Picture 18"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en-US" sz="2400" b="1" i="0" dirty="0">
                <a:solidFill>
                  <a:srgbClr val="FFFFFF"/>
                </a:solidFill>
                <a:latin typeface="Segoe UI"/>
              </a:rPr>
              <a:t>CLAUDE.md</a:t>
            </a:r>
            <a:r>
              <a:rPr lang="ja-JP" sz="2400" b="1" i="0" dirty="0">
                <a:solidFill>
                  <a:srgbClr val="FFFFFF"/>
                </a:solidFill>
                <a:ea typeface="Meiryo"/>
              </a:rPr>
              <a:t>は育て続ける対象である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二度言った注意をルール化し、古いルールは削る</a:t>
            </a:r>
          </a:p>
        </p:txBody>
      </p:sp>
      <p:sp>
        <p:nvSpPr>
          <p:cNvPr id="5" name="Step5"/>
          <p:cNvSpPr/>
          <p:nvPr/>
        </p:nvSpPr>
        <p:spPr>
          <a:xfrm>
            <a:off x="164592" y="941832"/>
            <a:ext cx="2889504" cy="959205"/>
          </a:xfrm>
          <a:custGeom>
            <a:avLst/>
            <a:gdLst/>
            <a:ahLst/>
            <a:cxnLst/>
            <a:rect l="0" t="0" r="r" b="b"/>
            <a:pathLst>
              <a:path w="100000" h="100000">
                <a:moveTo>
                  <a:pt x="0" y="0"/>
                </a:moveTo>
                <a:lnTo>
                  <a:pt x="88000" y="0"/>
                </a:lnTo>
                <a:lnTo>
                  <a:pt x="100000" y="50000"/>
                </a:lnTo>
                <a:lnTo>
                  <a:pt x="88000" y="100000"/>
                </a:lnTo>
                <a:lnTo>
                  <a:pt x="0" y="100000"/>
                </a:lnTo>
                <a:close/>
              </a:path>
            </a:pathLst>
          </a:custGeom>
          <a:solidFill>
            <a:srgbClr val="D0D0D0"/>
          </a:solidFill>
          <a:ln w="9525">
            <a:solidFill>
              <a:srgbClr val="CCCCCC"/>
            </a:solidFill>
          </a:ln>
          <a:effectLst/>
        </p:spPr>
        <p:txBody>
          <a:bodyPr/>
          <a:lstStyle/>
          <a:p/>
        </p:txBody>
      </p:sp>
      <p:sp>
        <p:nvSpPr>
          <p:cNvPr id="6" name="TextBox 5"/>
          <p:cNvSpPr txBox="1"/>
          <p:nvPr/>
        </p:nvSpPr>
        <p:spPr>
          <a:xfrm>
            <a:off x="301751" y="941832"/>
            <a:ext cx="2456078" cy="959205"/>
          </a:xfrm>
          <a:prstGeom prst="rect">
            <a:avLst/>
          </a:prstGeom>
          <a:noFill/>
          <a:effectLst/>
        </p:spPr>
        <p:txBody>
          <a:bodyPr wrap="square" lIns="0" rIns="0" tIns="0" bIns="0" anchor="ctr">
            <a:noAutofit/>
          </a:bodyPr>
          <a:lstStyle/>
          <a:p>
            <a:r>
              <a:rPr lang="en-US" sz="1400" b="1" i="0" dirty="0">
                <a:solidFill>
                  <a:srgbClr val="333333"/>
                </a:solidFill>
                <a:latin typeface="Segoe UI"/>
              </a:rPr>
              <a:t>1. </a:t>
            </a:r>
            <a:r>
              <a:rPr lang="ja-JP" sz="1400" b="1" i="0" dirty="0">
                <a:solidFill>
                  <a:srgbClr val="333333"/>
                </a:solidFill>
                <a:ea typeface="Meiryo"/>
              </a:rPr>
              <a:t>昇格</a:t>
            </a:r>
          </a:p>
        </p:txBody>
      </p:sp>
      <p:sp>
        <p:nvSpPr>
          <p:cNvPr id="7" name="Step7"/>
          <p:cNvSpPr/>
          <p:nvPr/>
        </p:nvSpPr>
        <p:spPr>
          <a:xfrm>
            <a:off x="3127248" y="941832"/>
            <a:ext cx="2889504" cy="959205"/>
          </a:xfrm>
          <a:custGeom>
            <a:avLst/>
            <a:gdLst/>
            <a:ahLst/>
            <a:cxnLst/>
            <a:rect l="0" t="0" r="r" b="b"/>
            <a:pathLst>
              <a:path w="100000" h="100000">
                <a:moveTo>
                  <a:pt x="0" y="0"/>
                </a:moveTo>
                <a:lnTo>
                  <a:pt x="88000" y="0"/>
                </a:lnTo>
                <a:lnTo>
                  <a:pt x="100000" y="50000"/>
                </a:lnTo>
                <a:lnTo>
                  <a:pt x="88000" y="100000"/>
                </a:lnTo>
                <a:lnTo>
                  <a:pt x="0" y="100000"/>
                </a:lnTo>
                <a:close/>
              </a:path>
            </a:pathLst>
          </a:custGeom>
          <a:solidFill>
            <a:srgbClr val="D0D0D0"/>
          </a:solidFill>
          <a:ln w="9525">
            <a:solidFill>
              <a:srgbClr val="CCCCCC"/>
            </a:solidFill>
          </a:ln>
          <a:effectLst/>
        </p:spPr>
        <p:txBody>
          <a:bodyPr/>
          <a:lstStyle/>
          <a:p/>
        </p:txBody>
      </p:sp>
      <p:sp>
        <p:nvSpPr>
          <p:cNvPr id="8" name="TextBox 7"/>
          <p:cNvSpPr txBox="1"/>
          <p:nvPr/>
        </p:nvSpPr>
        <p:spPr>
          <a:xfrm>
            <a:off x="3264408" y="941832"/>
            <a:ext cx="2456078" cy="959205"/>
          </a:xfrm>
          <a:prstGeom prst="rect">
            <a:avLst/>
          </a:prstGeom>
          <a:noFill/>
          <a:effectLst/>
        </p:spPr>
        <p:txBody>
          <a:bodyPr wrap="square" lIns="0" rIns="0" tIns="0" bIns="0" anchor="ctr">
            <a:noAutofit/>
          </a:bodyPr>
          <a:lstStyle/>
          <a:p>
            <a:r>
              <a:rPr lang="en-US" sz="1400" b="1" i="0" dirty="0">
                <a:solidFill>
                  <a:srgbClr val="333333"/>
                </a:solidFill>
                <a:latin typeface="Segoe UI"/>
              </a:rPr>
              <a:t>2. </a:t>
            </a:r>
            <a:r>
              <a:rPr lang="ja-JP" sz="1400" b="1" i="0" dirty="0">
                <a:solidFill>
                  <a:srgbClr val="333333"/>
                </a:solidFill>
                <a:ea typeface="Meiryo"/>
              </a:rPr>
              <a:t>整理</a:t>
            </a:r>
          </a:p>
        </p:txBody>
      </p:sp>
      <p:sp>
        <p:nvSpPr>
          <p:cNvPr id="9" name="Step9"/>
          <p:cNvSpPr/>
          <p:nvPr/>
        </p:nvSpPr>
        <p:spPr>
          <a:xfrm>
            <a:off x="6089904" y="941832"/>
            <a:ext cx="2889504" cy="959205"/>
          </a:xfrm>
          <a:custGeom>
            <a:avLst/>
            <a:gdLst/>
            <a:ahLst/>
            <a:cxnLst/>
            <a:rect l="0" t="0" r="r" b="b"/>
            <a:pathLst>
              <a:path w="100000" h="100000">
                <a:moveTo>
                  <a:pt x="0" y="0"/>
                </a:moveTo>
                <a:lnTo>
                  <a:pt x="88000" y="0"/>
                </a:lnTo>
                <a:lnTo>
                  <a:pt x="100000" y="50000"/>
                </a:lnTo>
                <a:lnTo>
                  <a:pt x="88000" y="100000"/>
                </a:lnTo>
                <a:lnTo>
                  <a:pt x="0" y="100000"/>
                </a:lnTo>
                <a:close/>
              </a:path>
            </a:pathLst>
          </a:custGeom>
          <a:solidFill>
            <a:srgbClr val="D0D0D0"/>
          </a:solidFill>
          <a:ln w="9525">
            <a:solidFill>
              <a:srgbClr val="CCCCCC"/>
            </a:solidFill>
          </a:ln>
          <a:effectLst/>
        </p:spPr>
        <p:txBody>
          <a:bodyPr/>
          <a:lstStyle/>
          <a:p/>
        </p:txBody>
      </p:sp>
      <p:sp>
        <p:nvSpPr>
          <p:cNvPr id="10" name="TextBox 9"/>
          <p:cNvSpPr txBox="1"/>
          <p:nvPr/>
        </p:nvSpPr>
        <p:spPr>
          <a:xfrm>
            <a:off x="6227064" y="941832"/>
            <a:ext cx="2456078" cy="959205"/>
          </a:xfrm>
          <a:prstGeom prst="rect">
            <a:avLst/>
          </a:prstGeom>
          <a:noFill/>
          <a:effectLst/>
        </p:spPr>
        <p:txBody>
          <a:bodyPr wrap="square" lIns="0" rIns="0" tIns="0" bIns="0" anchor="ctr">
            <a:noAutofit/>
          </a:bodyPr>
          <a:lstStyle/>
          <a:p>
            <a:r>
              <a:rPr lang="en-US" sz="1400" b="1" i="0" dirty="0">
                <a:solidFill>
                  <a:srgbClr val="333333"/>
                </a:solidFill>
                <a:latin typeface="Segoe UI"/>
              </a:rPr>
              <a:t>3. </a:t>
            </a:r>
            <a:r>
              <a:rPr lang="ja-JP" sz="1400" b="1" i="0" dirty="0">
                <a:solidFill>
                  <a:srgbClr val="333333"/>
                </a:solidFill>
                <a:ea typeface="Meiryo"/>
              </a:rPr>
              <a:t>確認</a:t>
            </a:r>
          </a:p>
        </p:txBody>
      </p:sp>
      <p:sp>
        <p:nvSpPr>
          <p:cNvPr id="11" name="Rectangle 10"/>
          <p:cNvSpPr/>
          <p:nvPr/>
        </p:nvSpPr>
        <p:spPr>
          <a:xfrm>
            <a:off x="164592" y="1974189"/>
            <a:ext cx="2889504" cy="2638958"/>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1751" y="2083917"/>
            <a:ext cx="2615184" cy="2419502"/>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二度繰り返した注意はルール候補である。</a:t>
            </a:r>
          </a:p>
          <a:p>
            <a:pPr marL="228600" indent="-228600">
              <a:spcBef>
                <a:spcPts val="0"/>
              </a:spcBef>
              <a:spcAft>
                <a:spcPts val="400"/>
              </a:spcAft>
              <a:buChar char="•"/>
              <a:lnSpc>
                <a:spcPts val="1980"/>
              </a:lnSpc>
            </a:pPr>
            <a:r>
              <a:rPr lang="ja-JP" sz="1100" b="0" i="0" dirty="0">
                <a:solidFill>
                  <a:srgbClr val="333333"/>
                </a:solidFill>
                <a:ea typeface="Meiryo"/>
              </a:rPr>
              <a:t>会話の摩擦を記録する</a:t>
            </a:r>
          </a:p>
          <a:p>
            <a:pPr marL="228600" indent="-228600">
              <a:spcBef>
                <a:spcPts val="0"/>
              </a:spcBef>
              <a:spcAft>
                <a:spcPts val="400"/>
              </a:spcAft>
              <a:buChar char="•"/>
              <a:lnSpc>
                <a:spcPts val="1980"/>
              </a:lnSpc>
            </a:pPr>
            <a:r>
              <a:rPr lang="ja-JP" sz="1100" b="0" i="0" dirty="0">
                <a:solidFill>
                  <a:srgbClr val="333333"/>
                </a:solidFill>
                <a:ea typeface="Meiryo"/>
              </a:rPr>
              <a:t>再発しやすい失敗を固定する</a:t>
            </a:r>
          </a:p>
        </p:txBody>
      </p:sp>
      <p:sp>
        <p:nvSpPr>
          <p:cNvPr id="13" name="Rectangle 12"/>
          <p:cNvSpPr/>
          <p:nvPr/>
        </p:nvSpPr>
        <p:spPr>
          <a:xfrm>
            <a:off x="3127248" y="1974189"/>
            <a:ext cx="2889504" cy="2638958"/>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4408" y="2083917"/>
            <a:ext cx="2615184" cy="2419502"/>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古くなった規約は精度を下げる。</a:t>
            </a:r>
          </a:p>
          <a:p>
            <a:pPr marL="228600" indent="-228600">
              <a:spcBef>
                <a:spcPts val="0"/>
              </a:spcBef>
              <a:spcAft>
                <a:spcPts val="400"/>
              </a:spcAft>
              <a:buChar char="•"/>
              <a:lnSpc>
                <a:spcPts val="1980"/>
              </a:lnSpc>
            </a:pPr>
            <a:r>
              <a:rPr lang="ja-JP" sz="1100" b="0" i="0" dirty="0">
                <a:solidFill>
                  <a:srgbClr val="333333"/>
                </a:solidFill>
                <a:ea typeface="Meiryo"/>
              </a:rPr>
              <a:t>使わない技術名を削る</a:t>
            </a:r>
          </a:p>
          <a:p>
            <a:pPr marL="228600" indent="-228600">
              <a:spcBef>
                <a:spcPts val="0"/>
              </a:spcBef>
              <a:spcAft>
                <a:spcPts val="400"/>
              </a:spcAft>
              <a:buChar char="•"/>
              <a:lnSpc>
                <a:spcPts val="1980"/>
              </a:lnSpc>
            </a:pPr>
            <a:r>
              <a:rPr lang="ja-JP" sz="1100" b="0" i="0" dirty="0">
                <a:solidFill>
                  <a:srgbClr val="333333"/>
                </a:solidFill>
                <a:ea typeface="Meiryo"/>
              </a:rPr>
              <a:t>重複ルールを統合する</a:t>
            </a:r>
          </a:p>
        </p:txBody>
      </p:sp>
      <p:sp>
        <p:nvSpPr>
          <p:cNvPr id="15" name="Rectangle 14"/>
          <p:cNvSpPr/>
          <p:nvPr/>
        </p:nvSpPr>
        <p:spPr>
          <a:xfrm>
            <a:off x="6089904" y="1974189"/>
            <a:ext cx="2889504" cy="2638958"/>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27064" y="2083917"/>
            <a:ext cx="2615184" cy="2419502"/>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小さなタスクで効き目を見る。</a:t>
            </a:r>
          </a:p>
          <a:p>
            <a:pPr marL="228600" indent="-228600">
              <a:spcBef>
                <a:spcPts val="0"/>
              </a:spcBef>
              <a:spcAft>
                <a:spcPts val="400"/>
              </a:spcAft>
              <a:buChar char="•"/>
              <a:lnSpc>
                <a:spcPts val="1980"/>
              </a:lnSpc>
            </a:pPr>
            <a:r>
              <a:rPr lang="ja-JP" sz="1100" b="0" i="0" dirty="0">
                <a:solidFill>
                  <a:srgbClr val="333333"/>
                </a:solidFill>
                <a:ea typeface="Meiryo"/>
              </a:rPr>
              <a:t>期待通りの行動か確認する</a:t>
            </a:r>
          </a:p>
          <a:p>
            <a:pPr marL="228600" indent="-228600">
              <a:spcBef>
                <a:spcPts val="0"/>
              </a:spcBef>
              <a:spcAft>
                <a:spcPts val="400"/>
              </a:spcAft>
              <a:buChar char="•"/>
              <a:lnSpc>
                <a:spcPts val="1980"/>
              </a:lnSpc>
            </a:pPr>
            <a:r>
              <a:rPr lang="ja-JP" sz="1100" b="0" i="0" dirty="0">
                <a:solidFill>
                  <a:srgbClr val="333333"/>
                </a:solidFill>
                <a:ea typeface="Meiryo"/>
              </a:rPr>
              <a:t>失敗したら表現を具体化する</a:t>
            </a:r>
          </a:p>
        </p:txBody>
      </p:sp>
      <p:sp>
        <p:nvSpPr>
          <p:cNvPr id="17" name="Rectangle 16"/>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8600" y="4823459"/>
            <a:ext cx="1828800" cy="274320"/>
          </a:xfrm>
          <a:prstGeom prst="rect">
            <a:avLst/>
          </a:prstGeom>
          <a:noFill/>
        </p:spPr>
        <p:txBody>
          <a:bodyPr wrap="none" anchor="ctr" lIns="0" rIns="0" tIns="0" bIns="0">
            <a:spAutoFit/>
          </a:bodyPr>
          <a:lstStyle/>
          <a:p>
            <a:fld id="{FD20152C-C8DC-419A-B3B6-BDDA205620A0}" type="slidenum">
              <a:rPr lang="ja-JP" smtClean="0" sz="1000">
                <a:solidFill>
                  <a:srgbClr val="888888"/>
                </a:solidFill>
              </a:rPr>
              <a:t>&lt;#&gt;</a:t>
            </a:fld>
            <a:r>
              <a:rPr lang="ja-JP" smtClean="0" sz="1000">
                <a:solidFill>
                  <a:srgbClr val="888888"/>
                </a:solidFill>
              </a:rPr>
              <a:t>/</a:t>
            </a:r>
            <a:fld id="{9F82FB68-5335-44C1-B022-AEA77869811A}" type="slidecount">
              <a:rPr lang="ja-JP" smtClean="0" sz="1000">
                <a:solidFill>
                  <a:srgbClr val="888888"/>
                </a:solidFill>
              </a:rPr>
              <a:t>11</a:t>
            </a:fld>
          </a:p>
        </p:txBody>
      </p:sp>
      <p:pic>
        <p:nvPicPr>
          <p:cNvPr id="19" name="Picture 18"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en-US" sz="2400" b="1" i="0" dirty="0">
                <a:solidFill>
                  <a:srgbClr val="FFFFFF"/>
                </a:solidFill>
                <a:latin typeface="Segoe UI"/>
              </a:rPr>
              <a:t>Takuya</a:t>
            </a:r>
            <a:r>
              <a:rPr lang="ja-JP" sz="2400" b="1" i="0" dirty="0">
                <a:solidFill>
                  <a:srgbClr val="FFFFFF"/>
                </a:solidFill>
                <a:ea typeface="Meiryo"/>
              </a:rPr>
              <a:t>さんの環境は</a:t>
            </a:r>
            <a:r>
              <a:rPr lang="en-US" sz="2400" b="1" i="0" dirty="0">
                <a:solidFill>
                  <a:srgbClr val="FFFFFF"/>
                </a:solidFill>
                <a:latin typeface="Segoe UI"/>
              </a:rPr>
              <a:t>3</a:t>
            </a:r>
            <a:r>
              <a:rPr lang="ja-JP" sz="2400" b="1" i="0" dirty="0">
                <a:solidFill>
                  <a:srgbClr val="FFFFFF"/>
                </a:solidFill>
                <a:ea typeface="Meiryo"/>
              </a:rPr>
              <a:t>レイヤー設計が有効である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グローバル、プロジェクト、ディレクトリで役割を分ける</a:t>
            </a:r>
          </a:p>
        </p:txBody>
      </p:sp>
      <p:sp>
        <p:nvSpPr>
          <p:cNvPr id="5" name="Rectangle 4"/>
          <p:cNvSpPr/>
          <p:nvPr/>
        </p:nvSpPr>
        <p:spPr>
          <a:xfrm>
            <a:off x="164592" y="941832"/>
            <a:ext cx="2889504" cy="2371725"/>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1751" y="1051560"/>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グローバル</a:t>
            </a:r>
          </a:p>
        </p:txBody>
      </p:sp>
      <p:sp>
        <p:nvSpPr>
          <p:cNvPr id="7" name="Rectangle 6"/>
          <p:cNvSpPr/>
          <p:nvPr/>
        </p:nvSpPr>
        <p:spPr>
          <a:xfrm>
            <a:off x="301751" y="1307592"/>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1" y="1380744"/>
            <a:ext cx="2615184" cy="1823085"/>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全プロジェクト共通の性格と好みを置く。</a:t>
            </a:r>
          </a:p>
          <a:p>
            <a:pPr marL="228600" indent="-228600">
              <a:spcBef>
                <a:spcPts val="0"/>
              </a:spcBef>
              <a:spcAft>
                <a:spcPts val="400"/>
              </a:spcAft>
              <a:buChar char="•"/>
              <a:lnSpc>
                <a:spcPts val="1980"/>
              </a:lnSpc>
            </a:pPr>
            <a:r>
              <a:rPr lang="ja-JP" sz="1100" b="0" i="0" dirty="0">
                <a:solidFill>
                  <a:srgbClr val="333333"/>
                </a:solidFill>
                <a:ea typeface="Meiryo"/>
              </a:rPr>
              <a:t>日本語回答、テスト重視</a:t>
            </a:r>
          </a:p>
          <a:p>
            <a:pPr marL="228600" indent="-228600">
              <a:spcBef>
                <a:spcPts val="0"/>
              </a:spcBef>
              <a:spcAft>
                <a:spcPts val="400"/>
              </a:spcAft>
              <a:buChar char="•"/>
              <a:lnSpc>
                <a:spcPts val="1980"/>
              </a:lnSpc>
            </a:pPr>
            <a:r>
              <a:rPr lang="ja-JP" sz="1100" b="0" i="0" dirty="0">
                <a:solidFill>
                  <a:srgbClr val="333333"/>
                </a:solidFill>
                <a:ea typeface="Meiryo"/>
              </a:rPr>
              <a:t>破壊的操作を避ける姿勢</a:t>
            </a:r>
          </a:p>
        </p:txBody>
      </p:sp>
      <p:sp>
        <p:nvSpPr>
          <p:cNvPr id="9" name="Rectangle 8"/>
          <p:cNvSpPr/>
          <p:nvPr/>
        </p:nvSpPr>
        <p:spPr>
          <a:xfrm>
            <a:off x="3127248" y="941832"/>
            <a:ext cx="2889504" cy="2371725"/>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64408" y="1051560"/>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プロジェクト</a:t>
            </a:r>
          </a:p>
        </p:txBody>
      </p:sp>
      <p:sp>
        <p:nvSpPr>
          <p:cNvPr id="11" name="Rectangle 10"/>
          <p:cNvSpPr/>
          <p:nvPr/>
        </p:nvSpPr>
        <p:spPr>
          <a:xfrm>
            <a:off x="3264408" y="1307592"/>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64408" y="1380744"/>
            <a:ext cx="2615184" cy="1823085"/>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対象リポジトリの前提を置く。</a:t>
            </a:r>
          </a:p>
          <a:p>
            <a:pPr marL="228600" indent="-228600">
              <a:spcBef>
                <a:spcPts val="0"/>
              </a:spcBef>
              <a:spcAft>
                <a:spcPts val="400"/>
              </a:spcAft>
              <a:buChar char="•"/>
              <a:lnSpc>
                <a:spcPts val="1980"/>
              </a:lnSpc>
            </a:pPr>
            <a:r>
              <a:rPr lang="ja-JP" sz="1100" b="0" i="0" dirty="0">
                <a:solidFill>
                  <a:srgbClr val="333333"/>
                </a:solidFill>
                <a:ea typeface="Meiryo"/>
              </a:rPr>
              <a:t>技術スタックと構成</a:t>
            </a:r>
          </a:p>
          <a:p>
            <a:pPr marL="228600" indent="-228600">
              <a:spcBef>
                <a:spcPts val="0"/>
              </a:spcBef>
              <a:spcAft>
                <a:spcPts val="400"/>
              </a:spcAft>
              <a:buChar char="•"/>
              <a:lnSpc>
                <a:spcPts val="1980"/>
              </a:lnSpc>
            </a:pPr>
            <a:r>
              <a:rPr lang="ja-JP" sz="1100" b="0" i="0" dirty="0">
                <a:solidFill>
                  <a:srgbClr val="333333"/>
                </a:solidFill>
                <a:ea typeface="Meiryo"/>
              </a:rPr>
              <a:t>危険な操作の禁止事項</a:t>
            </a:r>
          </a:p>
        </p:txBody>
      </p:sp>
      <p:sp>
        <p:nvSpPr>
          <p:cNvPr id="13" name="Rectangle 12"/>
          <p:cNvSpPr/>
          <p:nvPr/>
        </p:nvSpPr>
        <p:spPr>
          <a:xfrm>
            <a:off x="6089904" y="941832"/>
            <a:ext cx="2889504" cy="2371725"/>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051560"/>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ディレクトリ</a:t>
            </a:r>
          </a:p>
        </p:txBody>
      </p:sp>
      <p:sp>
        <p:nvSpPr>
          <p:cNvPr id="15" name="Rectangle 14"/>
          <p:cNvSpPr/>
          <p:nvPr/>
        </p:nvSpPr>
        <p:spPr>
          <a:xfrm>
            <a:off x="6227064" y="1307592"/>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27064" y="1380744"/>
            <a:ext cx="2615184" cy="1823085"/>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領域固有の判断を置く。</a:t>
            </a:r>
          </a:p>
          <a:p>
            <a:pPr marL="228600" indent="-228600">
              <a:spcBef>
                <a:spcPts val="0"/>
              </a:spcBef>
              <a:spcAft>
                <a:spcPts val="400"/>
              </a:spcAft>
              <a:buChar char="•"/>
              <a:lnSpc>
                <a:spcPts val="1980"/>
              </a:lnSpc>
            </a:pPr>
            <a:r>
              <a:rPr lang="en-US" sz="1100" b="0" i="0" dirty="0">
                <a:solidFill>
                  <a:srgbClr val="333333"/>
                </a:solidFill>
                <a:latin typeface="Segoe UI"/>
              </a:rPr>
              <a:t>UI</a:t>
            </a:r>
            <a:r>
              <a:rPr lang="ja-JP" sz="1100" b="0" i="0" dirty="0">
                <a:solidFill>
                  <a:srgbClr val="333333"/>
                </a:solidFill>
                <a:ea typeface="Meiryo"/>
              </a:rPr>
              <a:t>設計と</a:t>
            </a:r>
            <a:r>
              <a:rPr lang="en-US" sz="1100" b="0" i="0" dirty="0">
                <a:solidFill>
                  <a:srgbClr val="333333"/>
                </a:solidFill>
                <a:latin typeface="Segoe UI"/>
              </a:rPr>
              <a:t>frontend</a:t>
            </a:r>
            <a:r>
              <a:rPr lang="ja-JP" sz="1100" b="0" i="0" dirty="0">
                <a:solidFill>
                  <a:srgbClr val="333333"/>
                </a:solidFill>
                <a:ea typeface="Meiryo"/>
              </a:rPr>
              <a:t>規約</a:t>
            </a:r>
          </a:p>
          <a:p>
            <a:pPr marL="228600" indent="-228600">
              <a:spcBef>
                <a:spcPts val="0"/>
              </a:spcBef>
              <a:spcAft>
                <a:spcPts val="400"/>
              </a:spcAft>
              <a:buChar char="•"/>
              <a:lnSpc>
                <a:spcPts val="1980"/>
              </a:lnSpc>
            </a:pPr>
            <a:r>
              <a:rPr lang="en-US" sz="1100" b="0" i="0" dirty="0">
                <a:solidFill>
                  <a:srgbClr val="333333"/>
                </a:solidFill>
                <a:latin typeface="Segoe UI"/>
              </a:rPr>
              <a:t>PowerShell/Python</a:t>
            </a:r>
            <a:r>
              <a:rPr lang="ja-JP" sz="1100" b="0" i="0" dirty="0">
                <a:solidFill>
                  <a:srgbClr val="333333"/>
                </a:solidFill>
                <a:ea typeface="Meiryo"/>
              </a:rPr>
              <a:t>の実行ルール</a:t>
            </a:r>
          </a:p>
        </p:txBody>
      </p:sp>
      <p:sp>
        <p:nvSpPr>
          <p:cNvPr id="17" name="Arrow17"/>
          <p:cNvSpPr/>
          <p:nvPr/>
        </p:nvSpPr>
        <p:spPr>
          <a:xfrm>
            <a:off x="2147925" y="3415741"/>
            <a:ext cx="4848148" cy="174193"/>
          </a:xfrm>
          <a:custGeom>
            <a:avLst/>
            <a:gdLst/>
            <a:ahLst/>
            <a:cxnLst/>
            <a:rect l="0" t="0" r="r" b="b"/>
            <a:pathLst>
              <a:path w="100000" h="100000">
                <a:moveTo>
                  <a:pt x="0" y="0"/>
                </a:moveTo>
                <a:lnTo>
                  <a:pt x="100000" y="0"/>
                </a:lnTo>
                <a:lnTo>
                  <a:pt x="50000" y="100000"/>
                </a:lnTo>
                <a:close/>
              </a:path>
            </a:pathLst>
          </a:custGeom>
          <a:solidFill>
            <a:srgbClr val="6B7A99"/>
          </a:solidFill>
          <a:ln>
            <a:noFill/>
          </a:ln>
          <a:effectLst/>
        </p:spPr>
        <p:txBody>
          <a:bodyPr/>
          <a:lstStyle/>
          <a:p/>
        </p:txBody>
      </p:sp>
      <p:sp>
        <p:nvSpPr>
          <p:cNvPr id="18" name="Rectangle 17"/>
          <p:cNvSpPr/>
          <p:nvPr/>
        </p:nvSpPr>
        <p:spPr>
          <a:xfrm>
            <a:off x="164592" y="3692118"/>
            <a:ext cx="8814816" cy="921029"/>
          </a:xfrm>
          <a:prstGeom prst="rect">
            <a:avLst/>
          </a:prstGeom>
          <a:solidFill>
            <a:srgbClr val="EEF2FF"/>
          </a:solidFill>
          <a:ln w="19050">
            <a:solidFill>
              <a:srgbClr val="6B7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64592" y="3692118"/>
            <a:ext cx="64008" cy="921029"/>
          </a:xfrm>
          <a:prstGeom prst="rect">
            <a:avLst/>
          </a:prstGeom>
          <a:solidFill>
            <a:srgbClr val="6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3801846"/>
            <a:ext cx="8476488" cy="701573"/>
          </a:xfrm>
          <a:prstGeom prst="rect">
            <a:avLst/>
          </a:prstGeom>
          <a:noFill/>
          <a:effectLst/>
        </p:spPr>
        <p:txBody>
          <a:bodyPr wrap="square" lIns="0" rIns="0" tIns="0" bIns="0">
            <a:noAutofit/>
          </a:bodyPr>
          <a:lstStyle/>
          <a:p>
            <a:pPr>
              <a:spcBef>
                <a:spcPts val="0"/>
              </a:spcBef>
              <a:spcAft>
                <a:spcPts val="400"/>
              </a:spcAft>
              <a:buNone/>
              <a:lnSpc>
                <a:spcPts val="2160"/>
              </a:lnSpc>
            </a:pPr>
            <a:r>
              <a:rPr lang="ja-JP" sz="1200" b="1" i="0" dirty="0">
                <a:solidFill>
                  <a:srgbClr val="1A2A5A"/>
                </a:solidFill>
                <a:ea typeface="Meiryo"/>
              </a:rPr>
              <a:t>結論</a:t>
            </a:r>
            <a:r>
              <a:rPr lang="en-US" sz="1200" b="1" i="0" dirty="0">
                <a:solidFill>
                  <a:srgbClr val="1A2A5A"/>
                </a:solidFill>
                <a:latin typeface="Segoe UI"/>
              </a:rPr>
              <a:t>:</a:t>
            </a:r>
            <a:r>
              <a:rPr lang="en-US" sz="1200" b="0" i="0" dirty="0">
                <a:solidFill>
                  <a:srgbClr val="1A2A5A"/>
                </a:solidFill>
                <a:latin typeface="Segoe UI"/>
              </a:rPr>
              <a:t> </a:t>
            </a:r>
            <a:r>
              <a:rPr lang="ja-JP" sz="1200" b="0" i="0" dirty="0">
                <a:solidFill>
                  <a:srgbClr val="1A2A5A"/>
                </a:solidFill>
                <a:ea typeface="Meiryo"/>
              </a:rPr>
              <a:t>共通原則は上位へ、現場固有の制約は近傍へ置く設計が最も安定する。</a:t>
            </a:r>
          </a:p>
        </p:txBody>
      </p:sp>
      <p:sp>
        <p:nvSpPr>
          <p:cNvPr id="21" name="Rectangle 20"/>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4823459"/>
            <a:ext cx="1828800" cy="274320"/>
          </a:xfrm>
          <a:prstGeom prst="rect">
            <a:avLst/>
          </a:prstGeom>
          <a:noFill/>
        </p:spPr>
        <p:txBody>
          <a:bodyPr wrap="none" anchor="ctr" lIns="0" rIns="0" tIns="0" bIns="0">
            <a:spAutoFit/>
          </a:bodyPr>
          <a:lstStyle/>
          <a:p>
            <a:fld id="{EA85D417-3747-4B38-AD4C-580AAA9FD811}" type="slidenum">
              <a:rPr lang="ja-JP" smtClean="0" sz="1000">
                <a:solidFill>
                  <a:srgbClr val="888888"/>
                </a:solidFill>
              </a:rPr>
              <a:t>&lt;#&gt;</a:t>
            </a:fld>
            <a:r>
              <a:rPr lang="ja-JP" smtClean="0" sz="1000">
                <a:solidFill>
                  <a:srgbClr val="888888"/>
                </a:solidFill>
              </a:rPr>
              <a:t>/</a:t>
            </a:r>
            <a:fld id="{8AF04C1F-7356-442E-8298-20C8BE0C690C}" type="slidecount">
              <a:rPr lang="ja-JP" smtClean="0" sz="1000">
                <a:solidFill>
                  <a:srgbClr val="888888"/>
                </a:solidFill>
              </a:rPr>
              <a:t>11</a:t>
            </a:fld>
          </a:p>
        </p:txBody>
      </p:sp>
      <p:pic>
        <p:nvPicPr>
          <p:cNvPr id="23" name="Picture 22"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長期文脈は設計と運用で安定する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en-US" sz="1200" b="0" i="0" dirty="0">
                <a:solidFill>
                  <a:srgbClr val="FFFFFF"/>
                </a:solidFill>
                <a:latin typeface="Segoe UI"/>
              </a:rPr>
              <a:t>CLAUDE.md</a:t>
            </a:r>
            <a:r>
              <a:rPr lang="ja-JP" sz="1200" b="0" i="0" dirty="0">
                <a:solidFill>
                  <a:srgbClr val="FFFFFF"/>
                </a:solidFill>
                <a:ea typeface="Meiryo"/>
              </a:rPr>
              <a:t>は「</a:t>
            </a:r>
            <a:r>
              <a:rPr lang="en-US" sz="1200" b="0" i="0" dirty="0">
                <a:solidFill>
                  <a:srgbClr val="FFFFFF"/>
                </a:solidFill>
                <a:latin typeface="Segoe UI"/>
              </a:rPr>
              <a:t>AI</a:t>
            </a:r>
            <a:r>
              <a:rPr lang="ja-JP" sz="1200" b="0" i="0" dirty="0">
                <a:solidFill>
                  <a:srgbClr val="FFFFFF"/>
                </a:solidFill>
                <a:ea typeface="Meiryo"/>
              </a:rPr>
              <a:t>に何度も同じことを教えない」ための仕組みである</a:t>
            </a:r>
          </a:p>
        </p:txBody>
      </p:sp>
      <p:graphicFrame>
        <p:nvGraphicFramePr>
          <p:cNvPr id="5" name="Table 4"/>
          <p:cNvGraphicFramePr>
            <a:graphicFrameLocks noGrp="1"/>
          </p:cNvGraphicFramePr>
          <p:nvPr/>
        </p:nvGraphicFramePr>
        <p:xfrm>
          <a:off x="164592" y="941832"/>
          <a:ext cx="8814816" cy="2753485"/>
        </p:xfrm>
        <a:graphic>
          <a:graphicData uri="http://schemas.openxmlformats.org/drawingml/2006/table">
            <a:tbl>
              <a:tblPr>
                <a:tableStyleId>{5C22544A-7EE6-4342-B048-85BDC9FD1C3A}</a:tableStyleId>
              </a:tblPr>
              <a:tblGrid>
                <a:gridCol w="2938272"/>
                <a:gridCol w="2938272"/>
                <a:gridCol w="2938272"/>
              </a:tblGrid>
              <a:tr h="550697">
                <a:tc>
                  <a:txBody>
                    <a:bodyPr lIns="88900" rIns="88900" tIns="38100" bIns="38100" wrap="square" anchor="ctr"/>
                    <a:lstStyle/>
                    <a:p>
                      <a:r>
                        <a:rPr lang="ja-JP" sz="1200" b="1" i="0" dirty="0">
                          <a:solidFill>
                            <a:srgbClr val="FFFFFF"/>
                          </a:solidFill>
                          <a:ea typeface="Meiryo"/>
                        </a:rPr>
                        <a:t>設計観点</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1" i="0" dirty="0">
                          <a:solidFill>
                            <a:srgbClr val="FFFFFF"/>
                          </a:solidFill>
                          <a:ea typeface="Meiryo"/>
                        </a:rPr>
                        <a:t>実務上の判断</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1" i="0" dirty="0">
                          <a:solidFill>
                            <a:srgbClr val="FFFFFF"/>
                          </a:solidFill>
                          <a:ea typeface="Meiryo"/>
                        </a:rPr>
                        <a:t>期待される効果</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550697">
                <a:tc>
                  <a:txBody>
                    <a:bodyPr lIns="88900" rIns="88900" tIns="38100" bIns="38100" wrap="square" anchor="ctr"/>
                    <a:lstStyle/>
                    <a:p>
                      <a:r>
                        <a:rPr lang="ja-JP" sz="1200" b="1" i="0" dirty="0">
                          <a:solidFill>
                            <a:srgbClr val="FFFFFF"/>
                          </a:solidFill>
                          <a:ea typeface="Meiryo"/>
                        </a:rPr>
                        <a:t>内容</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常に守るルールだけを残す</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重要指示が埋もれない</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550697">
                <a:tc>
                  <a:txBody>
                    <a:bodyPr lIns="88900" rIns="88900" tIns="38100" bIns="38100" wrap="square" anchor="ctr"/>
                    <a:lstStyle/>
                    <a:p>
                      <a:r>
                        <a:rPr lang="ja-JP" sz="1200" b="1" i="0" dirty="0">
                          <a:solidFill>
                            <a:srgbClr val="FFFFFF"/>
                          </a:solidFill>
                          <a:ea typeface="Meiryo"/>
                        </a:rPr>
                        <a:t>表現</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en-US" sz="1200" b="0" i="0" dirty="0">
                          <a:solidFill>
                            <a:srgbClr val="333333"/>
                          </a:solidFill>
                          <a:latin typeface="Segoe UI"/>
                        </a:rPr>
                        <a:t>1</a:t>
                      </a:r>
                      <a:r>
                        <a:rPr lang="ja-JP" sz="1200" b="0" i="0" dirty="0">
                          <a:solidFill>
                            <a:srgbClr val="333333"/>
                          </a:solidFill>
                          <a:ea typeface="Meiryo"/>
                        </a:rPr>
                        <a:t>文、宣言調、実行可能に書く</a:t>
                      </a:r>
                    </a:p>
                  </a:txBody>
                  <a:tcPr anchor="ctr">
                    <a:solidFill>
                      <a:srgbClr val="F5F5F5"/>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en-US" sz="1200" b="0" i="0" dirty="0">
                          <a:solidFill>
                            <a:srgbClr val="333333"/>
                          </a:solidFill>
                          <a:latin typeface="Segoe UI"/>
                        </a:rPr>
                        <a:t>AI</a:t>
                      </a:r>
                      <a:r>
                        <a:rPr lang="ja-JP" sz="1200" b="0" i="0" dirty="0">
                          <a:solidFill>
                            <a:srgbClr val="333333"/>
                          </a:solidFill>
                          <a:ea typeface="Meiryo"/>
                        </a:rPr>
                        <a:t>が行動へ変換しやすい</a:t>
                      </a:r>
                    </a:p>
                  </a:txBody>
                  <a:tcPr anchor="ctr">
                    <a:solidFill>
                      <a:srgbClr val="F5F5F5"/>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550697">
                <a:tc>
                  <a:txBody>
                    <a:bodyPr lIns="88900" rIns="88900" tIns="38100" bIns="38100" wrap="square" anchor="ctr"/>
                    <a:lstStyle/>
                    <a:p>
                      <a:r>
                        <a:rPr lang="ja-JP" sz="1200" b="1" i="0" dirty="0">
                          <a:solidFill>
                            <a:srgbClr val="FFFFFF"/>
                          </a:solidFill>
                          <a:ea typeface="Meiryo"/>
                        </a:rPr>
                        <a:t>配置</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グローバル、プロジェクト、ディレクトリで分ける</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文脈ノイズが減る</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550697">
                <a:tc>
                  <a:txBody>
                    <a:bodyPr lIns="88900" rIns="88900" tIns="38100" bIns="38100" wrap="square" anchor="ctr"/>
                    <a:lstStyle/>
                    <a:p>
                      <a:r>
                        <a:rPr lang="ja-JP" sz="1200" b="1" i="0" dirty="0">
                          <a:solidFill>
                            <a:srgbClr val="FFFFFF"/>
                          </a:solidFill>
                          <a:ea typeface="Meiryo"/>
                        </a:rPr>
                        <a:t>運用</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二度言った注意を追加し、古い規約を削る</a:t>
                      </a:r>
                    </a:p>
                  </a:txBody>
                  <a:tcPr anchor="ctr">
                    <a:solidFill>
                      <a:srgbClr val="F5F5F5"/>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現場に合わせて精度が上がる</a:t>
                      </a:r>
                    </a:p>
                  </a:txBody>
                  <a:tcPr anchor="ctr">
                    <a:solidFill>
                      <a:srgbClr val="F5F5F5"/>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bl>
          </a:graphicData>
        </a:graphic>
      </p:graphicFrame>
      <p:sp>
        <p:nvSpPr>
          <p:cNvPr id="6" name="Rectangle 5"/>
          <p:cNvSpPr/>
          <p:nvPr/>
        </p:nvSpPr>
        <p:spPr>
          <a:xfrm>
            <a:off x="164592" y="3768471"/>
            <a:ext cx="8814816" cy="844677"/>
          </a:xfrm>
          <a:prstGeom prst="rect">
            <a:avLst/>
          </a:prstGeom>
          <a:solidFill>
            <a:srgbClr val="EEF2FF"/>
          </a:solidFill>
          <a:ln w="19050">
            <a:solidFill>
              <a:srgbClr val="6B7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4592" y="3768471"/>
            <a:ext cx="64008" cy="844677"/>
          </a:xfrm>
          <a:prstGeom prst="rect">
            <a:avLst/>
          </a:prstGeom>
          <a:solidFill>
            <a:srgbClr val="6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3878199"/>
            <a:ext cx="8476488" cy="625221"/>
          </a:xfrm>
          <a:prstGeom prst="rect">
            <a:avLst/>
          </a:prstGeom>
          <a:noFill/>
          <a:effectLst/>
        </p:spPr>
        <p:txBody>
          <a:bodyPr wrap="square" lIns="0" rIns="0" tIns="0" bIns="0">
            <a:noAutofit/>
          </a:bodyPr>
          <a:lstStyle/>
          <a:p>
            <a:pPr>
              <a:spcBef>
                <a:spcPts val="0"/>
              </a:spcBef>
              <a:spcAft>
                <a:spcPts val="400"/>
              </a:spcAft>
              <a:buNone/>
              <a:lnSpc>
                <a:spcPts val="2160"/>
              </a:lnSpc>
            </a:pPr>
            <a:r>
              <a:rPr lang="en-US" sz="1200" b="1" i="0" dirty="0">
                <a:solidFill>
                  <a:srgbClr val="1A2A5A"/>
                </a:solidFill>
                <a:latin typeface="Segoe UI"/>
              </a:rPr>
              <a:t>CLAUDE.md</a:t>
            </a:r>
            <a:r>
              <a:rPr lang="ja-JP" sz="1200" b="1" i="0" dirty="0">
                <a:solidFill>
                  <a:srgbClr val="1A2A5A"/>
                </a:solidFill>
                <a:ea typeface="Meiryo"/>
              </a:rPr>
              <a:t>は、</a:t>
            </a:r>
            <a:r>
              <a:rPr lang="en-US" sz="1200" b="1" i="0" dirty="0">
                <a:solidFill>
                  <a:srgbClr val="1A2A5A"/>
                </a:solidFill>
                <a:latin typeface="Segoe UI"/>
              </a:rPr>
              <a:t>AI</a:t>
            </a:r>
            <a:r>
              <a:rPr lang="ja-JP" sz="1200" b="1" i="0" dirty="0">
                <a:solidFill>
                  <a:srgbClr val="1A2A5A"/>
                </a:solidFill>
                <a:ea typeface="Meiryo"/>
              </a:rPr>
              <a:t>の長期文脈をプロジェクト資産へ変えるためのルール設計である。</a:t>
            </a:r>
          </a:p>
        </p:txBody>
      </p:sp>
      <p:sp>
        <p:nvSpPr>
          <p:cNvPr id="9" name="Rectangle 8"/>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4823459"/>
            <a:ext cx="1828800" cy="274320"/>
          </a:xfrm>
          <a:prstGeom prst="rect">
            <a:avLst/>
          </a:prstGeom>
          <a:noFill/>
        </p:spPr>
        <p:txBody>
          <a:bodyPr wrap="none" anchor="ctr" lIns="0" rIns="0" tIns="0" bIns="0">
            <a:spAutoFit/>
          </a:bodyPr>
          <a:lstStyle/>
          <a:p>
            <a:fld id="{CA87B0EA-4F8E-4081-92CC-85CEC0F12508}" type="slidenum">
              <a:rPr lang="ja-JP" smtClean="0" sz="1000">
                <a:solidFill>
                  <a:srgbClr val="888888"/>
                </a:solidFill>
              </a:rPr>
              <a:t>&lt;#&gt;</a:t>
            </a:fld>
            <a:r>
              <a:rPr lang="ja-JP" smtClean="0" sz="1000">
                <a:solidFill>
                  <a:srgbClr val="888888"/>
                </a:solidFill>
              </a:rPr>
              <a:t>/</a:t>
            </a:r>
            <a:fld id="{5E9BB703-10E4-48DC-8EE2-1B5493155B46}" type="slidecount">
              <a:rPr lang="ja-JP" smtClean="0" sz="1000">
                <a:solidFill>
                  <a:srgbClr val="888888"/>
                </a:solidFill>
              </a:rPr>
              <a:t>11</a:t>
            </a:fld>
          </a:p>
        </p:txBody>
      </p:sp>
      <p:pic>
        <p:nvPicPr>
          <p:cNvPr id="11" name="Picture 10"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